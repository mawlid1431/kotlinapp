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FB3E3"/>
                </a:solidFill>
                <a:latin typeface="Calibri"/>
              </a:rPr>
              <a:t>CDE2313 · MOBILE APPLICATION DEVELOPMENT · ASSESSMENT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9164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TDM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803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A native Android vancomycin therapeutic drug monitoring calculator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886200"/>
            <a:ext cx="1280160" cy="45720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24528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Mowlid Haibe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Abdinaazir Mustafe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Elham Ahmedngus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224528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E3F0FF"/>
                </a:solidFill>
                <a:latin typeface="Calibri"/>
              </a:rPr>
              <a:t>Albukhary International University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E3F0FF"/>
                </a:solidFill>
                <a:latin typeface="Calibri"/>
              </a:rPr>
              <a:t>Lecturer: Ts. Mohd Zulkifli Mohd Zaki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E3F0FF"/>
                </a:solidFill>
                <a:latin typeface="Calibri"/>
              </a:rPr>
              <a:t>Semester 3, 2025/2026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8978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E3F0FF"/>
                </a:solidFill>
                <a:latin typeface="Calibri"/>
              </a:rPr>
              <a:t>Academic prototype — not a clinically validated system. All demonstration cases are fictional.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What we will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938528"/>
            <a:ext cx="352745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096" y="2157984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1 ·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96052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Why vancomycin dosing is calculated by hand today, and what goes wrong.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2122" y="1938528"/>
            <a:ext cx="352745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3290" y="2157984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7882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2 · 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7882" y="2487168"/>
            <a:ext cx="296052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What TDM Insight does, for whom, and what it deliberately leaves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938528"/>
            <a:ext cx="352745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8484" y="2157984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3076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3 ·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3076" y="2487168"/>
            <a:ext cx="296052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Layered MVVM, the component map and the technology stack.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352745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22452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18795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4 ·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553712"/>
            <a:ext cx="296052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Use cases, activity, sequence and data-flow models.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2122" y="4005072"/>
            <a:ext cx="352745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33290" y="422452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7882" y="418795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5 · The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7882" y="4553712"/>
            <a:ext cx="296052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Three pharmacokinetic pathways, validation, and worked examples.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4005072"/>
            <a:ext cx="352745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98484" y="422452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3076" y="418795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6 ·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3076" y="4553712"/>
            <a:ext cx="296052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Interface, testing, a known defect, limitations and conclusion.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4E8FD0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71800"/>
            <a:ext cx="101800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77639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B9D2EC"/>
                </a:solidFill>
                <a:latin typeface="Calibri"/>
              </a:rPr>
              <a:t>Vancomycin has a narrow therapeutic index and is still dosed with a paper worksheet.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6AACC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86AACC"/>
                </a:solidFill>
                <a:latin typeface="Calibri"/>
              </a:rPr>
              <a:t>3 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A calculation that has to be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A6B7F"/>
                </a:solidFill>
                <a:latin typeface="Calibri"/>
              </a:rPr>
              <a:t>Vancomycin is first-line therapy for MRSA, and its effective dose sits close to its toxic dose.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82495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938527"/>
            <a:ext cx="352745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157983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Too little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296052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Treatment failure. The MRSA infection is not cleared and resistance is encouraged.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938527"/>
            <a:ext cx="352745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33290" y="2157983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7882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Too much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7882" y="2487168"/>
            <a:ext cx="296052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Nephrotoxicity. Exposure above the target band is associated with acute kidney injury.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1938527"/>
            <a:ext cx="352745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98484" y="2157983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Highly individual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487168"/>
            <a:ext cx="296052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Clearance depends on renal function, which varies enormously between patients. A fixed mg/kg dose is not adequate.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33087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133087"/>
            <a:ext cx="54864" cy="56692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24527"/>
            <a:ext cx="10600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73A6B"/>
                </a:solidFill>
                <a:latin typeface="Calibri"/>
              </a:rPr>
              <a:t>Rybak et al. (2020)</a:t>
            </a:r>
            <a:r>
              <a:rPr sz="1300" b="0" i="0">
                <a:solidFill>
                  <a:srgbClr val="073A6B"/>
                </a:solidFill>
                <a:latin typeface="Calibri"/>
              </a:rPr>
              <a:t> moved monitoring from trough alone to </a:t>
            </a:r>
            <a:r>
              <a:rPr sz="1300" b="1" i="0">
                <a:solidFill>
                  <a:srgbClr val="073A6B"/>
                </a:solidFill>
                <a:latin typeface="Calibri"/>
              </a:rPr>
              <a:t>AUC₂₄, target 400–600 mg·h/L</a:t>
            </a:r>
            <a:r>
              <a:rPr sz="1300" b="0" i="0">
                <a:solidFill>
                  <a:srgbClr val="073A6B"/>
                </a:solidFill>
                <a:latin typeface="Calibri"/>
              </a:rPr>
              <a:t> — clinically better founded, but it cannot be read off a single laboratory value.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Four weaknesses in current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A6B7F"/>
                </a:solidFill>
                <a:latin typeface="Calibri"/>
              </a:rPr>
              <a:t>Hospital pharmacy performs these calculations on paper worksheets or a general-purpose calculator.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82495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938527"/>
            <a:ext cx="11057839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700"/>
              </a:spcAft>
            </a:pPr>
            <a:r>
              <a:rPr sz="170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73A6B"/>
                </a:solidFill>
                <a:latin typeface="Calibri"/>
              </a:rPr>
              <a:t>Method selection is left to memory.</a:t>
            </a:r>
            <a:r>
              <a:rPr sz="1700" b="0" i="0">
                <a:solidFill>
                  <a:srgbClr val="0F1A2A"/>
                </a:solidFill>
                <a:latin typeface="Calibri"/>
              </a:rPr>
              <a:t> Which equations apply depends on which samples the laboratory returned. Nothing on a worksheet enforces the right choice.</a:t>
            </a:r>
          </a:p>
          <a:p>
            <a:pPr>
              <a:lnSpc>
                <a:spcPct val="118000"/>
              </a:lnSpc>
              <a:spcAft>
                <a:spcPts val="1700"/>
              </a:spcAft>
            </a:pPr>
            <a:r>
              <a:rPr sz="170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73A6B"/>
                </a:solidFill>
                <a:latin typeface="Calibri"/>
              </a:rPr>
              <a:t>There is no input validation.</a:t>
            </a:r>
            <a:r>
              <a:rPr sz="1700" b="0" i="0">
                <a:solidFill>
                  <a:srgbClr val="0F1A2A"/>
                </a:solidFill>
                <a:latin typeface="Calibri"/>
              </a:rPr>
              <a:t> A worksheet accepts a serum creatinine of 9.8 µmol/L as readily as 98. A transposed decimal reaches the dose recommendation silently.</a:t>
            </a:r>
          </a:p>
          <a:p>
            <a:pPr>
              <a:lnSpc>
                <a:spcPct val="118000"/>
              </a:lnSpc>
              <a:spcAft>
                <a:spcPts val="1700"/>
              </a:spcAft>
            </a:pPr>
            <a:r>
              <a:rPr sz="170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73A6B"/>
                </a:solidFill>
                <a:latin typeface="Calibri"/>
              </a:rPr>
              <a:t>Cross-field inconsistencies go undetected.</a:t>
            </a:r>
            <a:r>
              <a:rPr sz="1700" b="0" i="0">
                <a:solidFill>
                  <a:srgbClr val="0F1A2A"/>
                </a:solidFill>
                <a:latin typeface="Calibri"/>
              </a:rPr>
              <a:t> A trough recorded as drawn before the peak yields a negative elimination rate constant — meaningless, but still displayed.</a:t>
            </a:r>
          </a:p>
          <a:p>
            <a:pPr>
              <a:lnSpc>
                <a:spcPct val="118000"/>
              </a:lnSpc>
              <a:spcAft>
                <a:spcPts val="1700"/>
              </a:spcAft>
            </a:pPr>
            <a:r>
              <a:rPr sz="170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73A6B"/>
                </a:solidFill>
                <a:latin typeface="Calibri"/>
              </a:rPr>
              <a:t>There is no audit trail.</a:t>
            </a:r>
            <a:r>
              <a:rPr sz="1700" b="0" i="0">
                <a:solidFill>
                  <a:srgbClr val="0F1A2A"/>
                </a:solidFill>
                <a:latin typeface="Calibri"/>
              </a:rPr>
              <a:t> Worksheets are discarded, so no one can review how a past recommendation was reached.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TARGET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Who this is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527450" cy="19202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096" y="1773936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Clinical pharmacist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2960522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Needs to turn a laboratory report into an AUC₂₄ estimate and a dose recommendation at the bedside — and to justify it afterwards.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2122" y="1554480"/>
            <a:ext cx="3527450" cy="19202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3290" y="1773936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7882" y="1737360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Pharmacy 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7882" y="2103120"/>
            <a:ext cx="2960522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Needs to see which equation produced which intermediate value, not just the final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554480"/>
            <a:ext cx="3527450" cy="19202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8484" y="1773936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3076" y="1737360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Prospective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3076" y="2103120"/>
            <a:ext cx="2960522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Reaches the project through the public landing page and wants to understand it before installing.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86200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FF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886200"/>
            <a:ext cx="54864" cy="566928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977639"/>
            <a:ext cx="10600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26A00"/>
                </a:solidFill>
                <a:latin typeface="Calibri"/>
              </a:rPr>
              <a:t>No user of any kind may enter real patient data. The restriction is surfaced on first launch, on every input screen, and in the About screen.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TDM Insight in one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1705813" cy="141732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39112"/>
            <a:ext cx="14132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64A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50008"/>
            <a:ext cx="141320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73A6B"/>
                </a:solidFill>
                <a:latin typeface="Calibri"/>
              </a:rPr>
              <a:t>Sign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34056"/>
            <a:ext cx="141320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A6B7F"/>
                </a:solidFill>
                <a:latin typeface="Calibri"/>
              </a:rPr>
              <a:t>Clerk email + password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1885" y="2441448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464A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7333" y="1874519"/>
            <a:ext cx="1705813" cy="141732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3637" y="2039112"/>
            <a:ext cx="14132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64A8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3637" y="2350008"/>
            <a:ext cx="141320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73A6B"/>
                </a:solidFill>
                <a:latin typeface="Calibri"/>
              </a:rPr>
              <a:t>Create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3637" y="2734056"/>
            <a:ext cx="141320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A6B7F"/>
                </a:solidFill>
                <a:latin typeface="Calibri"/>
              </a:rPr>
              <a:t>Fictional patient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290" y="2441448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464A8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7738" y="1874519"/>
            <a:ext cx="1705813" cy="141732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4042" y="2039112"/>
            <a:ext cx="14132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64A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4042" y="2350008"/>
            <a:ext cx="141320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73A6B"/>
                </a:solidFill>
                <a:latin typeface="Calibri"/>
              </a:rPr>
              <a:t>Choose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4042" y="2734056"/>
            <a:ext cx="141320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A6B7F"/>
                </a:solidFill>
                <a:latin typeface="Calibri"/>
              </a:rPr>
              <a:t>Pre / Post / Pre +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2695" y="2441448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464A8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8143" y="1874519"/>
            <a:ext cx="1705813" cy="141732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2039112"/>
            <a:ext cx="14132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64A8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2350008"/>
            <a:ext cx="141320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73A6B"/>
                </a:solidFill>
                <a:latin typeface="Calibri"/>
              </a:rPr>
              <a:t>Enter &amp;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2734056"/>
            <a:ext cx="141320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A6B7F"/>
                </a:solidFill>
                <a:latin typeface="Calibri"/>
              </a:rPr>
              <a:t>Only the required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3100" y="2441448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464A8"/>
                </a:solidFill>
                <a:latin typeface="Calib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8548" y="1874519"/>
            <a:ext cx="1705813" cy="141732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4852" y="2039112"/>
            <a:ext cx="14132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64A8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4852" y="2350008"/>
            <a:ext cx="141320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73A6B"/>
                </a:solidFill>
                <a:latin typeface="Calibri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4852" y="2734056"/>
            <a:ext cx="141320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A6B7F"/>
                </a:solidFill>
                <a:latin typeface="Calibri"/>
              </a:rPr>
              <a:t>Read-only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3506" y="2441448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464A8"/>
                </a:solidFill>
                <a:latin typeface="Calib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18954" y="1874519"/>
            <a:ext cx="1705813" cy="141732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65258" y="2039112"/>
            <a:ext cx="14132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64A8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65258" y="2350008"/>
            <a:ext cx="141320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73A6B"/>
                </a:solidFill>
                <a:latin typeface="Calibri"/>
              </a:rPr>
              <a:t>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5258" y="2734056"/>
            <a:ext cx="141320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A6B7F"/>
                </a:solidFill>
                <a:latin typeface="Calibri"/>
              </a:rPr>
              <a:t>AUC₂₄ + verdict + explanation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566160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566160"/>
            <a:ext cx="54864" cy="56692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3657600"/>
            <a:ext cx="10600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73A6B"/>
                </a:solidFill>
                <a:latin typeface="Calibri"/>
              </a:rPr>
              <a:t>The whole calculation path is </a:t>
            </a:r>
            <a:r>
              <a:rPr sz="1300" b="1" i="0">
                <a:solidFill>
                  <a:srgbClr val="073A6B"/>
                </a:solidFill>
                <a:latin typeface="Calibri"/>
              </a:rPr>
              <a:t>on-device and synchronous</a:t>
            </a:r>
            <a:r>
              <a:rPr sz="1300" b="0" i="0">
                <a:solidFill>
                  <a:srgbClr val="073A6B"/>
                </a:solidFill>
                <a:latin typeface="Calibri"/>
              </a:rPr>
              <a:t>. Persistence and identity are optional layers on top — remove the credentials and the calculator still works.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A6B7F"/>
                </a:solidFill>
                <a:latin typeface="Calibri"/>
              </a:rPr>
              <a:t>Each objective maps to a mandatory requirement of the lecturer's case study.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82495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29967"/>
          <a:ext cx="11057838" cy="3785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8803"/>
                <a:gridCol w="4036988"/>
                <a:gridCol w="6582047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Delivered as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Native Android application in Kotlin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Jetpack Compose + Material 3, 18 screens, minSdk 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All three vancomycin sampling workflows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073A6B"/>
                          </a:solidFill>
                          <a:latin typeface="Consolas"/>
                        </a:rPr>
                        <a:t>calculatePre</a:t>
                      </a: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 · </a:t>
                      </a:r>
                      <a:r>
                        <a:rPr sz="1200" b="0" i="0">
                          <a:solidFill>
                            <a:srgbClr val="073A6B"/>
                          </a:solidFill>
                          <a:latin typeface="Consolas"/>
                        </a:rPr>
                        <a:t>calculatePost</a:t>
                      </a: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 · </a:t>
                      </a:r>
                      <a:r>
                        <a:rPr sz="1200" b="0" i="0">
                          <a:solidFill>
                            <a:srgbClr val="073A6B"/>
                          </a:solidFill>
                          <a:latin typeface="Consolas"/>
                        </a:rPr>
                        <a:t>calculatePrePost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Dynamic input forms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Field groups rendered conditionally on the selected workflow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Validation beyond emptiness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Range, cross-field and math-safety checks; errors vs. warnings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Engine separated from the UI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073A6B"/>
                          </a:solidFill>
                          <a:latin typeface="Consolas"/>
                        </a:rPr>
                        <a:t>domain/engine/VancoEngine.kt</a:t>
                      </a: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 — no Android imports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Intermediate and final 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ke · t½ · Vd · Vd/kg · CL · AUC₂₄ · dose · Cmin · Cmax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Explainable 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Four-phase Explanation screen with substituted formulas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Material 3 light and dark themes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Two hand-authored colour schemes, selectable in Settings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8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Main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527450" cy="148132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096" y="1773936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Three PK pathways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296052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Cockcroft–Gault, Newton–Raphson fit, and Sawchuk–Zaske two-point regression.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2122" y="1554480"/>
            <a:ext cx="3527450" cy="148132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3290" y="1773936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7882" y="1737360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Dynamic 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7882" y="2103120"/>
            <a:ext cx="296052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Only the fields the chosen workflow needs are ever rendered.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554480"/>
            <a:ext cx="3527450" cy="148132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8484" y="1773936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3076" y="1737360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Two-tier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3076" y="2103120"/>
            <a:ext cx="296052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Red blocks the calculation; amber advises and does not.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73552"/>
            <a:ext cx="3527450" cy="148132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49300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45643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Live CrCl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822191"/>
            <a:ext cx="296052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Cockcroft–Gault recomputed on every keystroke on the patient screen.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2122" y="3273552"/>
            <a:ext cx="3527450" cy="148132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33290" y="349300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7882" y="345643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Explainable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7882" y="3822191"/>
            <a:ext cx="296052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Four phases: inputs → ke derivation → parameters → final result.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3273552"/>
            <a:ext cx="3527450" cy="148132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98484" y="349300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3076" y="345643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Per-user case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3076" y="3822191"/>
            <a:ext cx="296052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Twenty most recent saved cases, from PostgreSQL.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230368"/>
            <a:ext cx="2021372" cy="96012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376672"/>
            <a:ext cx="20213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73A6B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5907024"/>
            <a:ext cx="17653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1464A8"/>
                </a:solidFill>
                <a:latin typeface="Calibri"/>
              </a:rPr>
              <a:t>sampling workflows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26044" y="5230368"/>
            <a:ext cx="2021372" cy="96012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26044" y="5376672"/>
            <a:ext cx="20213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73A6B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54060" y="5907024"/>
            <a:ext cx="17653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1464A8"/>
                </a:solidFill>
                <a:latin typeface="Calibri"/>
              </a:rPr>
              <a:t>PK values per result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85161" y="5230368"/>
            <a:ext cx="2021372" cy="96012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5161" y="5376672"/>
            <a:ext cx="20213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73A6B"/>
                </a:solidFill>
                <a:latin typeface="Calibri"/>
              </a:rP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3177" y="5907024"/>
            <a:ext cx="17653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1464A8"/>
                </a:solidFill>
                <a:latin typeface="Calibri"/>
              </a:rPr>
              <a:t>application screens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44277" y="5230368"/>
            <a:ext cx="2021372" cy="96012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44277" y="5376672"/>
            <a:ext cx="20213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73A6B"/>
                </a:solidFill>
                <a:latin typeface="Calibri"/>
              </a:rPr>
              <a:t>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2293" y="5907024"/>
            <a:ext cx="17653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1464A8"/>
                </a:solidFill>
                <a:latin typeface="Calibri"/>
              </a:rPr>
              <a:t>unit tests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3394" y="5230368"/>
            <a:ext cx="2021372" cy="96012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3394" y="5376672"/>
            <a:ext cx="20213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73A6B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1410" y="5907024"/>
            <a:ext cx="17653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1464A8"/>
                </a:solidFill>
                <a:latin typeface="Calibri"/>
              </a:rPr>
              <a:t>database tables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The landing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A6B7F"/>
                </a:solidFill>
                <a:latin typeface="Calibri"/>
              </a:rPr>
              <a:t>A static React site that introduces the product before installation.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82495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lp-0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83" y="1938527"/>
            <a:ext cx="6181729" cy="4078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10819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Hero section — proposition, headline capabilities and download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A6B7F"/>
                </a:solidFill>
                <a:latin typeface="Calibri"/>
              </a:rPr>
              <a:t>Every version below is read from the project's own build 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82495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938527"/>
            <a:ext cx="3527450" cy="16916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157983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2960522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5A6B7F"/>
                </a:solidFill>
                <a:latin typeface="Calibri"/>
              </a:rPr>
              <a:t>Kotlin 2.0 · Jetpack Compose (BOM 2024.08) · Material 3 · Navigation Compose 2.7.7 · Lifecycle ViewModel 2.8.4 · Coroutines 1.8.1 · compileSdk 35, minSdk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938527"/>
            <a:ext cx="3527450" cy="16916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33290" y="2157983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7882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Networking &amp;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7882" y="2487168"/>
            <a:ext cx="2960522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5A6B7F"/>
                </a:solidFill>
                <a:latin typeface="Calibri"/>
              </a:rPr>
              <a:t>Ktor 2.3.12 with the OkHttp engine · kotlinx-serialization 1.7.1 · supabase-kt </a:t>
            </a:r>
            <a:r>
              <a:rPr sz="1050" b="0" i="0">
                <a:solidFill>
                  <a:srgbClr val="073A6B"/>
                </a:solidFill>
                <a:latin typeface="Consolas"/>
              </a:rPr>
              <a:t>postgrest-kt</a:t>
            </a:r>
            <a:r>
              <a:rPr sz="1200" b="0" i="0">
                <a:solidFill>
                  <a:srgbClr val="5A6B7F"/>
                </a:solidFill>
                <a:latin typeface="Calibri"/>
              </a:rPr>
              <a:t> 2.6.1 · hosted PostgreSQL with PostgREST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1938527"/>
            <a:ext cx="3527450" cy="16916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98484" y="2157983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487168"/>
            <a:ext cx="2960522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5A6B7F"/>
                </a:solidFill>
                <a:latin typeface="Calibri"/>
              </a:rPr>
              <a:t>Clerk Frontend API called directly over REST · session JWT persisted in private SharedPreferences · publishable key injected through </a:t>
            </a:r>
            <a:r>
              <a:rPr sz="1050" b="0" i="0">
                <a:solidFill>
                  <a:srgbClr val="073A6B"/>
                </a:solidFill>
                <a:latin typeface="Consolas"/>
              </a:rPr>
              <a:t>BuildConfig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67912"/>
            <a:ext cx="3527450" cy="16916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408736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5079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Landing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416552"/>
            <a:ext cx="2960522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5A6B7F"/>
                </a:solidFill>
                <a:latin typeface="Calibri"/>
              </a:rPr>
              <a:t>React 19.1 · Vite 6.3 · TypeScript 5.9 · Tailwind CSS 4.1 · React Router 7.6 · lucide-react · built with Bun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2122" y="3867912"/>
            <a:ext cx="3527450" cy="16916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33290" y="408736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7882" y="405079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7882" y="4416552"/>
            <a:ext cx="2960522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5A6B7F"/>
                </a:solidFill>
                <a:latin typeface="Calibri"/>
              </a:rPr>
              <a:t>JUnit 4.13.2 — 31 unit tests over the engine and the validators, run with </a:t>
            </a:r>
            <a:r>
              <a:rPr sz="1050" b="0" i="0">
                <a:solidFill>
                  <a:srgbClr val="073A6B"/>
                </a:solidFill>
                <a:latin typeface="Consolas"/>
              </a:rPr>
              <a:t>./gradlew :app:test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7316" y="3867912"/>
            <a:ext cx="3527450" cy="16916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98484" y="408736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3076" y="405079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Tooling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3076" y="4416552"/>
            <a:ext cx="2960522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5A6B7F"/>
                </a:solidFill>
                <a:latin typeface="Calibri"/>
              </a:rPr>
              <a:t>Android Studio · Gradle Kotlin DSL · Git and GitHub · Supabase SQL editor · Claude Code as a declared AI assistant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641848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641848"/>
            <a:ext cx="54864" cy="56692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733288"/>
            <a:ext cx="10600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73A6B"/>
                </a:solidFill>
                <a:latin typeface="Calibri"/>
              </a:rPr>
              <a:t>The landing page makes </a:t>
            </a:r>
            <a:r>
              <a:rPr sz="1300" b="1" i="0">
                <a:solidFill>
                  <a:srgbClr val="073A6B"/>
                </a:solidFill>
                <a:latin typeface="Calibri"/>
              </a:rPr>
              <a:t>no</a:t>
            </a:r>
            <a:r>
              <a:rPr sz="1300" b="0" i="0">
                <a:solidFill>
                  <a:srgbClr val="073A6B"/>
                </a:solidFill>
                <a:latin typeface="Calibri"/>
              </a:rPr>
              <a:t> network call to any backend. </a:t>
            </a:r>
            <a:r>
              <a:rPr sz="1150" b="0" i="0">
                <a:solidFill>
                  <a:srgbClr val="073A6B"/>
                </a:solidFill>
                <a:latin typeface="Consolas"/>
              </a:rPr>
              <a:t>apiClient.ts</a:t>
            </a:r>
            <a:r>
              <a:rPr sz="1300" b="0" i="0">
                <a:solidFill>
                  <a:srgbClr val="073A6B"/>
                </a:solidFill>
                <a:latin typeface="Calibri"/>
              </a:rPr>
              <a:t> is unused template scaffolding and is not reachable from </a:t>
            </a:r>
            <a:r>
              <a:rPr sz="1150" b="0" i="0">
                <a:solidFill>
                  <a:srgbClr val="073A6B"/>
                </a:solidFill>
                <a:latin typeface="Consolas"/>
              </a:rPr>
              <a:t>App.tsx</a:t>
            </a:r>
            <a:r>
              <a:rPr sz="1300" b="0" i="0">
                <a:solidFill>
                  <a:srgbClr val="073A6B"/>
                </a:solidFill>
                <a:latin typeface="Calibri"/>
              </a:rPr>
              <a:t> — the architecture diagram records this.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4E8FD0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71800"/>
            <a:ext cx="101800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77639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B9D2EC"/>
                </a:solidFill>
                <a:latin typeface="Calibri"/>
              </a:rPr>
              <a:t>Layered MVVM, with the calculation engine isolated from everything Android.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6AACC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86AACC"/>
                </a:solidFill>
                <a:latin typeface="Calibri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64A8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73A6B"/>
                </a:solidFill>
                <a:latin typeface="Calibri"/>
              </a:rPr>
              <a:t>Layered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097280" cy="36576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592" y="1097280"/>
            <a:ext cx="7742510" cy="4919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Solid arrows are synchronous calls; open arrows are reactive state emissions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Why MVVM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410047" cy="16002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096" y="1773936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48431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Testability of the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4843119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A layer with no Android dependency can be exercised by plain JVM unit tests in under a second — no emulator.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4719" y="1554480"/>
            <a:ext cx="5410047" cy="16002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15887" y="1773936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0479" y="1737360"/>
            <a:ext cx="48431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Natural fit with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0479" y="2103120"/>
            <a:ext cx="4843119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073A6B"/>
                </a:solidFill>
                <a:latin typeface="Consolas"/>
              </a:rPr>
              <a:t>StateFlow</a:t>
            </a:r>
            <a:r>
              <a:rPr sz="1250" b="0" i="0">
                <a:solidFill>
                  <a:srgbClr val="5A6B7F"/>
                </a:solidFill>
                <a:latin typeface="Calibri"/>
              </a:rPr>
              <a:t> consumed through </a:t>
            </a:r>
            <a:r>
              <a:rPr sz="1100" b="0" i="0">
                <a:solidFill>
                  <a:srgbClr val="073A6B"/>
                </a:solidFill>
                <a:latin typeface="Consolas"/>
              </a:rPr>
              <a:t>collectAsState()</a:t>
            </a:r>
            <a:r>
              <a:rPr sz="1250" b="0" i="0">
                <a:solidFill>
                  <a:srgbClr val="5A6B7F"/>
                </a:solidFill>
                <a:latin typeface="Calibri"/>
              </a:rPr>
              <a:t>; recomposition is driven by state, not by imperative view updates.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92424"/>
            <a:ext cx="5410047" cy="16002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3611880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575304"/>
            <a:ext cx="48431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Survives rotation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941063"/>
            <a:ext cx="4843119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ViewModels outlive activity recreation, so the five-step wizard never loses the user's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9" y="3392424"/>
            <a:ext cx="5410047" cy="16002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15887" y="3611880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0479" y="3575304"/>
            <a:ext cx="48431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No massive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0479" y="3941063"/>
            <a:ext cx="4843119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A single activity of roughly 260 lines whose only jobs are theming and the authentication gate.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57800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257800"/>
            <a:ext cx="54864" cy="56692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349240"/>
            <a:ext cx="10600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73A6B"/>
                </a:solidFill>
                <a:latin typeface="Calibri"/>
              </a:rPr>
              <a:t>Dependency injection is manual: </a:t>
            </a:r>
            <a:r>
              <a:rPr sz="1150" b="0" i="0">
                <a:solidFill>
                  <a:srgbClr val="073A6B"/>
                </a:solidFill>
                <a:latin typeface="Consolas"/>
              </a:rPr>
              <a:t>TdmApplication</a:t>
            </a:r>
            <a:r>
              <a:rPr sz="1300" b="0" i="0">
                <a:solidFill>
                  <a:srgbClr val="073A6B"/>
                </a:solidFill>
                <a:latin typeface="Calibri"/>
              </a:rPr>
              <a:t> holds four lazy singletons. For four objects that is simpler and more defensible in a viva than adding Hilt or Koin.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64A8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73A6B"/>
                </a:solidFill>
                <a:latin typeface="Calibri"/>
              </a:rPr>
              <a:t>Component and package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097280" cy="36576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03-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448" y="1097280"/>
            <a:ext cx="7780797" cy="4919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No arrow enters the domain layer from the data or presentation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4E8FD0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71800"/>
            <a:ext cx="101800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How the system behaves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77639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B9D2EC"/>
                </a:solidFill>
                <a:latin typeface="Calibri"/>
              </a:rPr>
              <a:t>Use cases, activity, sequence and data-flow models — all traced from the 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6AACC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86AACC"/>
                </a:solidFill>
                <a:latin typeface="Calibri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64A8"/>
                </a:solidFill>
                <a:latin typeface="Calibri"/>
              </a:rPr>
              <a:t>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73A6B"/>
                </a:solidFill>
                <a:latin typeface="Calibri"/>
              </a:rPr>
              <a:t>Use case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097280" cy="36576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02-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492" y="1097280"/>
            <a:ext cx="7666709" cy="4919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Two human actors, two external system actors, thirteen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64A8"/>
                </a:solidFill>
                <a:latin typeface="Calibri"/>
              </a:rPr>
              <a:t>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73A6B"/>
                </a:solidFill>
                <a:latin typeface="Calibri"/>
              </a:rPr>
              <a:t>Activity — entry and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097280" cy="36576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04-activity-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55" y="1097280"/>
            <a:ext cx="7401983" cy="4919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The eight-branch gate in MainActivity, from splash to navigation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64A8"/>
                </a:solidFill>
                <a:latin typeface="Calibri"/>
              </a:rPr>
              <a:t>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73A6B"/>
                </a:solidFill>
                <a:latin typeface="Calibri"/>
              </a:rPr>
              <a:t>Activity — the five-step calculation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097280" cy="36576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05-activity-calc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670" y="1097280"/>
            <a:ext cx="7060353" cy="4919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The selected workflow decides which fields are rendered and which engine function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64A8"/>
                </a:solidFill>
                <a:latin typeface="Calibri"/>
              </a:rPr>
              <a:t>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73A6B"/>
                </a:solidFill>
                <a:latin typeface="Calibri"/>
              </a:rPr>
              <a:t>Sequence — running and persisting a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097280" cy="36576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06-sequence-calc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08" y="1097280"/>
            <a:ext cx="9395278" cy="4919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Validation precedes the engine call; persistence is dispatched after the result is displayed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64A8"/>
                </a:solidFill>
                <a:latin typeface="Calibri"/>
              </a:rPr>
              <a:t>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73A6B"/>
                </a:solidFill>
                <a:latin typeface="Calibri"/>
              </a:rPr>
              <a:t>Navigation and screen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097280" cy="36576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09-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974" y="1097280"/>
            <a:ext cx="7453745" cy="4919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Five gate screens outside the graph; thirteen routes inside it, one parameterised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64A8"/>
                </a:solidFill>
                <a:latin typeface="Calibri"/>
              </a:rPr>
              <a:t>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73A6B"/>
                </a:solidFill>
                <a:latin typeface="Calibri"/>
              </a:rPr>
              <a:t>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097280" cy="36576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07-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358" y="1097280"/>
            <a:ext cx="8664979" cy="4919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Two tables, one index, one trigger and five Row Level Security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64A8"/>
                </a:solidFill>
                <a:latin typeface="Calibri"/>
              </a:rPr>
              <a:t>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73A6B"/>
                </a:solidFill>
                <a:latin typeface="Calibri"/>
              </a:rPr>
              <a:t>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097280" cy="36576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08-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1097280"/>
            <a:ext cx="11057839" cy="48511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39901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Three paths with different reliability characteristics — only the top one must never fail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64A8"/>
                </a:solidFill>
                <a:latin typeface="Calibri"/>
              </a:rPr>
              <a:t>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73A6B"/>
                </a:solidFill>
                <a:latin typeface="Calibri"/>
              </a:rPr>
              <a:t>Domain class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097280" cy="36576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10-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448" y="1097280"/>
            <a:ext cx="7780797" cy="4919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Immutable data classes and sealed result types; the compiler forces failure to be handled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CALCULATION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Three pharmacokinetic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A6B7F"/>
                </a:solidFill>
                <a:latin typeface="Calibri"/>
              </a:rPr>
              <a:t>One function per pathway, all returning the same sealed result 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82495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938527"/>
            <a:ext cx="3527450" cy="16916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157983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Pre-dose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2960522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0F1A2A"/>
                </a:solidFill>
                <a:latin typeface="Calibri"/>
              </a:rPr>
              <a:t>Cockcroft–Gault + population Vd.</a:t>
            </a:r>
            <a:r>
              <a:rPr sz="1250" b="0" i="0">
                <a:solidFill>
                  <a:srgbClr val="5A6B7F"/>
                </a:solidFill>
                <a:latin typeface="Calibri"/>
              </a:rPr>
              <a:t> CrCl estimates clearance; Vd is the 0.7 L/kg prior. Least individualised of the three.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938527"/>
            <a:ext cx="3527450" cy="16916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33290" y="2157983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7882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Post-dose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7882" y="2487168"/>
            <a:ext cx="2960522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0F1A2A"/>
                </a:solidFill>
                <a:latin typeface="Calibri"/>
              </a:rPr>
              <a:t>Newton–Raphson fit.</a:t>
            </a:r>
            <a:r>
              <a:rPr sz="1250" b="0" i="0">
                <a:solidFill>
                  <a:srgbClr val="5A6B7F"/>
                </a:solidFill>
                <a:latin typeface="Calibri"/>
              </a:rPr>
              <a:t> Solves the one-compartment infusion model for ke from a single measured concentration, k₀ = 0.3, at most 50 iterations.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1938527"/>
            <a:ext cx="3527450" cy="169164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98484" y="2157983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212140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Pre + 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487168"/>
            <a:ext cx="2960522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0F1A2A"/>
                </a:solidFill>
                <a:latin typeface="Calibri"/>
              </a:rPr>
              <a:t>Sawchuk–Zaske two-point.</a:t>
            </a:r>
            <a:r>
              <a:rPr sz="1250" b="0" i="0">
                <a:solidFill>
                  <a:srgbClr val="5A6B7F"/>
                </a:solidFill>
                <a:latin typeface="Calibri"/>
              </a:rPr>
              <a:t> Derives both ke </a:t>
            </a:r>
            <a:r>
              <a:rPr sz="1250" b="0" i="1">
                <a:solidFill>
                  <a:srgbClr val="5A6B7F"/>
                </a:solidFill>
                <a:latin typeface="Calibri"/>
              </a:rPr>
              <a:t>and</a:t>
            </a:r>
            <a:r>
              <a:rPr sz="1250" b="0" i="0">
                <a:solidFill>
                  <a:srgbClr val="5A6B7F"/>
                </a:solidFill>
                <a:latin typeface="Calibri"/>
              </a:rPr>
              <a:t> an individualised Vd from the patient's own two samples. Preferred when both are available.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58768"/>
            <a:ext cx="11057839" cy="1499616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014215"/>
            <a:ext cx="1061892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073A6B"/>
                </a:solidFill>
                <a:latin typeface="Consolas"/>
              </a:rPr>
              <a:t>ke   = ln(C_peak / C_trough) / (t_pre - t_post)          # Pre + Post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073A6B"/>
                </a:solidFill>
                <a:latin typeface="Consolas"/>
              </a:rPr>
              <a:t>Vd   = D x (1 - e^(-ke*T)) / (ke x T x C_peak)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073A6B"/>
                </a:solidFill>
                <a:latin typeface="Consolas"/>
              </a:rPr>
              <a:t>CL   = ke x Vd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073A6B"/>
                </a:solidFill>
                <a:latin typeface="Consolas"/>
              </a:rPr>
              <a:t>AUC24 = (Dose / tau) x 24 / CL             target: 400-600 mg*h/L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073A6B"/>
                </a:solidFill>
                <a:latin typeface="Consolas"/>
              </a:rPr>
              <a:t>Dose_recommended = (500 x CL x tau) /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64A8"/>
                </a:solidFill>
                <a:latin typeface="Calibri"/>
              </a:rPr>
              <a:t>CALCULATION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73A6B"/>
                </a:solidFill>
                <a:latin typeface="Calibri"/>
              </a:rPr>
              <a:t>Validation is part of the type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097280" cy="36576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11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010" y="1097280"/>
            <a:ext cx="8445673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66359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ValidationReport carries errors and warnings in separate lists; isValid = errors.isEmpty()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42432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742432"/>
            <a:ext cx="54864" cy="56692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833872"/>
            <a:ext cx="10600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73A6B"/>
                </a:solidFill>
                <a:latin typeface="Calibri"/>
              </a:rPr>
              <a:t>The case study requires that an error be distinguishable from information that merely needs review. Making that a </a:t>
            </a:r>
            <a:r>
              <a:rPr sz="1300" b="1" i="0">
                <a:solidFill>
                  <a:srgbClr val="073A6B"/>
                </a:solidFill>
                <a:latin typeface="Calibri"/>
              </a:rPr>
              <a:t>type</a:t>
            </a:r>
            <a:r>
              <a:rPr sz="1300" b="0" i="0">
                <a:solidFill>
                  <a:srgbClr val="073A6B"/>
                </a:solidFill>
                <a:latin typeface="Calibri"/>
              </a:rPr>
              <a:t> distinction, not a rendering choice, means warnings can never accidentally block a calculation.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CALCULATION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Worked examples — one per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A6B7F"/>
                </a:solidFill>
                <a:latin typeface="Calibri"/>
              </a:rPr>
              <a:t>Computed with the engine's exact arithmetic. All three patients are fictional.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82495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38527"/>
          <a:ext cx="11057837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4170"/>
                <a:gridCol w="3071621"/>
                <a:gridCol w="3071621"/>
                <a:gridCol w="3510425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Pre-dose only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Post-dose only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Pre + Post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73A6B"/>
                          </a:solidFill>
                          <a:latin typeface="Calibri"/>
                        </a:rPr>
                        <a:t>Patient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72 kg, 50 y, male, SCr 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70 kg, 60 y, male, SCr 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68 kg, 62 y, male, SCr 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73A6B"/>
                          </a:solidFill>
                          <a:latin typeface="Calibri"/>
                        </a:rPr>
                        <a:t>Regimen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1000 mg q12h over 1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1000 mg q12h over 1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1000 mg q12h over 1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73A6B"/>
                          </a:solidFill>
                          <a:latin typeface="Calibri"/>
                        </a:rPr>
                        <a:t>Samples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Trough 10.2 mg/L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Peak 15.0 mg/L at 4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Peak 26.0 at 2 h; trough 12.5 at 10.5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73A6B"/>
                          </a:solidFill>
                          <a:latin typeface="Calibri"/>
                        </a:rPr>
                        <a:t>ke (h⁻¹)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0.1076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0.0881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0.0862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73A6B"/>
                          </a:solidFill>
                          <a:latin typeface="Calibri"/>
                        </a:rPr>
                        <a:t>t½ (h)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7.87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8.04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73A6B"/>
                          </a:solidFill>
                          <a:latin typeface="Calibri"/>
                        </a:rPr>
                        <a:t>Vd (L)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50.4  (0.70 L/kg, population)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49.0  (0.70 L/kg, population)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36.9  (0.54 L/kg, </a:t>
                      </a:r>
                      <a:r>
                        <a:rPr sz="1250" b="1" i="0">
                          <a:solidFill>
                            <a:srgbClr val="0F1A2A"/>
                          </a:solidFill>
                          <a:latin typeface="Calibri"/>
                        </a:rPr>
                        <a:t>derived</a:t>
                      </a: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73A6B"/>
                          </a:solidFill>
                          <a:latin typeface="Calibri"/>
                        </a:rPr>
                        <a:t>CL (L/h)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5.425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4.315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3.175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73A6B"/>
                          </a:solidFill>
                          <a:latin typeface="Calibri"/>
                        </a:rPr>
                        <a:t>AUC₂₄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F1A2A"/>
                          </a:solidFill>
                          <a:latin typeface="Calibri"/>
                        </a:rPr>
                        <a:t>368.7 — below target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F1A2A"/>
                          </a:solidFill>
                          <a:latin typeface="Calibri"/>
                        </a:rPr>
                        <a:t>463.5 — in target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F1A2A"/>
                          </a:solidFill>
                          <a:latin typeface="Calibri"/>
                        </a:rPr>
                        <a:t>629.9 — above target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073A6B"/>
                          </a:solidFill>
                          <a:latin typeface="Calibri"/>
                        </a:rPr>
                        <a:t>Recommended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1356 mg q12h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1079 mg q12h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0F1A2A"/>
                          </a:solidFill>
                          <a:latin typeface="Calibri"/>
                        </a:rPr>
                        <a:t>794 mg q12h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806440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806440"/>
            <a:ext cx="54864" cy="56692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897879"/>
            <a:ext cx="10600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73A6B"/>
                </a:solidFill>
                <a:latin typeface="Calibri"/>
              </a:rPr>
              <a:t>The Pre + Post column shows why two samples are better: the derived Vd of 0.54 L/kg is well below the 0.7 L/kg prior, so the single-point pathways would have understated this patient's exposure.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APPLICATION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Authentication, home and patient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app-01-sign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554480"/>
            <a:ext cx="1920240" cy="38051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553212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73A6B"/>
                </a:solidFill>
                <a:latin typeface="Calibri"/>
              </a:rPr>
              <a:t>Sign in — Clerk</a:t>
            </a:r>
          </a:p>
        </p:txBody>
      </p:sp>
      <p:pic>
        <p:nvPicPr>
          <p:cNvPr id="7" name="Picture 6" descr="app-02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554480"/>
            <a:ext cx="1920240" cy="38051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79" y="553212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73A6B"/>
                </a:solidFill>
                <a:latin typeface="Calibri"/>
              </a:rPr>
              <a:t>Home — new case + recent</a:t>
            </a:r>
          </a:p>
        </p:txBody>
      </p:sp>
      <p:pic>
        <p:nvPicPr>
          <p:cNvPr id="9" name="Picture 8" descr="app-03-patient-inpu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554480"/>
            <a:ext cx="1920240" cy="38051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3800" y="553212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73A6B"/>
                </a:solidFill>
                <a:latin typeface="Calibri"/>
              </a:rPr>
              <a:t>Step 1/5 — live CrCl chip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APPLICATION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Calculating, results and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app-04-calcul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554480"/>
            <a:ext cx="1920240" cy="38051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553212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73A6B"/>
                </a:solidFill>
                <a:latin typeface="Calibri"/>
              </a:rPr>
              <a:t>Fitting the model</a:t>
            </a:r>
          </a:p>
        </p:txBody>
      </p:sp>
      <p:pic>
        <p:nvPicPr>
          <p:cNvPr id="7" name="Picture 6" descr="app-05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554480"/>
            <a:ext cx="1920240" cy="38051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79" y="553212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73A6B"/>
                </a:solidFill>
                <a:latin typeface="Calibri"/>
              </a:rPr>
              <a:t>AUC₂₄ ring + verdict</a:t>
            </a:r>
          </a:p>
        </p:txBody>
      </p:sp>
      <p:pic>
        <p:nvPicPr>
          <p:cNvPr id="9" name="Picture 8" descr="app-06-explan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554480"/>
            <a:ext cx="1920240" cy="38051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3800" y="553212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73A6B"/>
                </a:solidFill>
                <a:latin typeface="Calibri"/>
              </a:rPr>
              <a:t>Four-phase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Authentication and credential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12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779" y="1554480"/>
            <a:ext cx="7766136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03520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A6B7F"/>
                </a:solidFill>
                <a:latin typeface="Calibri"/>
              </a:rPr>
              <a:t>Credentials reach the app through BuildConfig; nothing sensitive is committed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54864" cy="56692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806440"/>
            <a:ext cx="10600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73A6B"/>
                </a:solidFill>
                <a:latin typeface="Calibri"/>
              </a:rPr>
              <a:t>Only public keys ship in the APK. The Supabase </a:t>
            </a:r>
            <a:r>
              <a:rPr sz="1150" b="0" i="0">
                <a:solidFill>
                  <a:srgbClr val="073A6B"/>
                </a:solidFill>
                <a:latin typeface="Consolas"/>
              </a:rPr>
              <a:t>service_role</a:t>
            </a:r>
            <a:r>
              <a:rPr sz="1300" b="0" i="0">
                <a:solidFill>
                  <a:srgbClr val="073A6B"/>
                </a:solidFill>
                <a:latin typeface="Calibri"/>
              </a:rPr>
              <a:t> key and the Clerk secret key are never referenced anywhere in the project. The app declares one permission: </a:t>
            </a:r>
            <a:r>
              <a:rPr sz="1150" b="0" i="0">
                <a:solidFill>
                  <a:srgbClr val="073A6B"/>
                </a:solidFill>
                <a:latin typeface="Consolas"/>
              </a:rPr>
              <a:t>INTERNET</a:t>
            </a:r>
            <a:r>
              <a:rPr sz="1300" b="0" i="0">
                <a:solidFill>
                  <a:srgbClr val="073A6B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4E8FD0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71800"/>
            <a:ext cx="101800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Testing, honesty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77639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B9D2EC"/>
                </a:solidFill>
                <a:latin typeface="Calibri"/>
              </a:rPr>
              <a:t>What we verified, what we found, and what remains.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6AACC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86AACC"/>
                </a:solidFill>
                <a:latin typeface="Calibri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A6B7F"/>
                </a:solidFill>
                <a:latin typeface="Calibri"/>
              </a:rPr>
              <a:t>Effort was concentrated where defects would be most costly and least 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82495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938527"/>
            <a:ext cx="2586151" cy="114300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258615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73A6B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615183"/>
            <a:ext cx="23301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1464A8"/>
                </a:solidFill>
                <a:latin typeface="Calibri"/>
              </a:rPr>
              <a:t>JUnit unit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823" y="1938527"/>
            <a:ext cx="2586151" cy="114300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084831"/>
            <a:ext cx="258615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73A6B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8839" y="2615183"/>
            <a:ext cx="23301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1464A8"/>
                </a:solidFill>
                <a:latin typeface="Calibri"/>
              </a:rPr>
              <a:t>engine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1938527"/>
            <a:ext cx="2586151" cy="114300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4719" y="2084831"/>
            <a:ext cx="258615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73A6B"/>
                </a:solidFill>
                <a:latin typeface="Calibr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2735" y="2615183"/>
            <a:ext cx="23301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1464A8"/>
                </a:solidFill>
                <a:latin typeface="Calibri"/>
              </a:rPr>
              <a:t>validator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8615" y="1938527"/>
            <a:ext cx="2586151" cy="114300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8615" y="2084831"/>
            <a:ext cx="258615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73A6B"/>
                </a:solidFill>
                <a:latin typeface="Calibri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6631" y="2615183"/>
            <a:ext cx="23301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1464A8"/>
                </a:solidFill>
                <a:latin typeface="Calibri"/>
              </a:rPr>
              <a:t>manual end-to-end 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401568"/>
            <a:ext cx="11057839" cy="2907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55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Every </a:t>
            </a:r>
            <a:r>
              <a:rPr sz="1550" b="1" i="0">
                <a:solidFill>
                  <a:srgbClr val="073A6B"/>
                </a:solidFill>
                <a:latin typeface="Calibri"/>
              </a:rPr>
              <a:t>blocking rule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 has a test asserting the calculation is refused — a validator that silently passes bad input is worse than none.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5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Several tests assert a value produces a </a:t>
            </a:r>
            <a:r>
              <a:rPr sz="1550" b="1" i="0">
                <a:solidFill>
                  <a:srgbClr val="073A6B"/>
                </a:solidFill>
                <a:latin typeface="Calibri"/>
              </a:rPr>
              <a:t>warning and not an error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, because collapsing the two tiers would break an explicit case-study requirement.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5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073A6B"/>
                </a:solidFill>
                <a:latin typeface="Consolas"/>
              </a:rPr>
              <a:t>engine never produces NaN on edge inputs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 exists because a NaN would render as a plausible-looking dash rather than an obvious failure.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5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Manual scenarios cover all three workflows, rotation, back-navigation, theme switching, sign-out and offline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A defect we found — and are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A6B7F"/>
                </a:solidFill>
                <a:latin typeface="Calibri"/>
              </a:rPr>
              <a:t>Discovered while verifying the worked examples for the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82495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938527"/>
            <a:ext cx="11057839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55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The one-compartment model has a ceiling: as ke → 0, the modelled concentration tends to </a:t>
            </a:r>
            <a:r>
              <a:rPr sz="1550" b="1" i="0">
                <a:solidFill>
                  <a:srgbClr val="073A6B"/>
                </a:solidFill>
                <a:latin typeface="Calibri"/>
              </a:rPr>
              <a:t>Dose ÷ Vd_population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5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When the </a:t>
            </a:r>
            <a:r>
              <a:rPr sz="1550" b="1" i="0">
                <a:solidFill>
                  <a:srgbClr val="073A6B"/>
                </a:solidFill>
                <a:latin typeface="Calibri"/>
              </a:rPr>
              <a:t>measured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 peak exceeds that ceiling, no positive root exists. Newton–Raphson drives ke down, </a:t>
            </a:r>
            <a:r>
              <a:rPr sz="1400" b="0" i="0">
                <a:solidFill>
                  <a:srgbClr val="073A6B"/>
                </a:solidFill>
                <a:latin typeface="Consolas"/>
              </a:rPr>
              <a:t>coerceAtLeast(1e-6)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 clamps it, two iterations compare equal — and the loop declares convergence.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5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073A6B"/>
                </a:solidFill>
                <a:latin typeface="Consolas"/>
              </a:rPr>
              <a:t>guardPositive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 passes because 1e-6 &gt; 0, so the engine returns </a:t>
            </a:r>
            <a:r>
              <a:rPr sz="1550" b="1" i="0">
                <a:solidFill>
                  <a:srgbClr val="073A6B"/>
                </a:solidFill>
                <a:latin typeface="Calibri"/>
              </a:rPr>
              <a:t>Success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 with CL ≈ 4.6 × 10⁻⁵ L/h and </a:t>
            </a:r>
            <a:r>
              <a:rPr sz="1550" b="1" i="0">
                <a:solidFill>
                  <a:srgbClr val="073A6B"/>
                </a:solidFill>
                <a:latin typeface="Calibri"/>
              </a:rPr>
              <a:t>AUC₂₄ ≈ 4 × 10⁷ mg·h/L</a:t>
            </a:r>
            <a:r>
              <a:rPr sz="1550" b="0" i="0">
                <a:solidFill>
                  <a:srgbClr val="0F1A2A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813048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968496"/>
            <a:ext cx="1061892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073A6B"/>
                </a:solidFill>
                <a:latin typeface="Consolas"/>
              </a:rPr>
              <a:t>68 kg patient, 1000 mg over 1 h, measured 22.5 mg/L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073A6B"/>
                </a:solidFill>
                <a:latin typeface="Consolas"/>
              </a:rPr>
              <a:t>Vd = 0.7 x 68 = 47.6 L      ceiling = 1000 / 47.6 = 21.0 mg/L  &lt;  22.5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18888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818888"/>
            <a:ext cx="54864" cy="56692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910327"/>
            <a:ext cx="10600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261E"/>
                </a:solidFill>
                <a:latin typeface="Calibri"/>
              </a:rPr>
              <a:t>The existing test </a:t>
            </a:r>
            <a:r>
              <a:rPr sz="1150" b="0" i="0">
                <a:solidFill>
                  <a:srgbClr val="073A6B"/>
                </a:solidFill>
                <a:latin typeface="Consolas"/>
              </a:rPr>
              <a:t>post workflow handles plausible two-point-like data</a:t>
            </a:r>
            <a:r>
              <a:rPr sz="1300" b="0" i="0">
                <a:solidFill>
                  <a:srgbClr val="B3261E"/>
                </a:solidFill>
                <a:latin typeface="Calibri"/>
              </a:rPr>
              <a:t> uses exactly these values and </a:t>
            </a:r>
            <a:r>
              <a:rPr sz="1300" b="1" i="0">
                <a:solidFill>
                  <a:srgbClr val="B3261E"/>
                </a:solidFill>
                <a:latin typeface="Calibri"/>
              </a:rPr>
              <a:t>passes</a:t>
            </a:r>
            <a:r>
              <a:rPr sz="1300" b="0" i="0">
                <a:solidFill>
                  <a:srgbClr val="B3261E"/>
                </a:solidFill>
                <a:latin typeface="Calibri"/>
              </a:rPr>
              <a:t> — it asserts only that the result is a Success. A weak assertion concealed the defect. Fix: reject the input before iterating, and treat a clamped ke as non-convergence.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Limitations we are not hiding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984248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096" y="2203704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Not clinically 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32888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An academic prototype. The equations have not been validated for patient care and must never drive a real prescription.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2122" y="1984248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3290" y="2203704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7882" y="216712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Post-dose defect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7882" y="2532888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Degenerate fit above the model ceiling. The Pre and Pre + Post pathways are unaffected.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984248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8484" y="2203704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3076" y="216712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Database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3076" y="2532888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Per-user RLS policies are written but commented out; isolation is currently enforced by the client query.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22452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18795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Model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553712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One compartment, fixed 0.7 L/kg prior for the single-sample pathways.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2122" y="4005072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33290" y="422452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7882" y="418795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Three inert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7882" y="4553712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Concentration-curve tile, lab-report scan row and share icon are placeholders for optional enhancements.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4005072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98484" y="422452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3076" y="418795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No Compose UI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3076" y="4553712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B7F"/>
                </a:solidFill>
                <a:latin typeface="Calibri"/>
              </a:rPr>
              <a:t>Dependencies are declared but the instrumented source set is empty.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45920"/>
          <a:ext cx="11057837" cy="3364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9845"/>
                <a:gridCol w="4739073"/>
                <a:gridCol w="5528919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Why it is tractable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Correct the Post-dose fit and add a regression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A ceiling check before the loop; a few lines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Enable per-user Row Level Security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Policies are already written; </a:t>
                      </a:r>
                      <a:r>
                        <a:rPr sz="1200" b="0" i="0">
                          <a:solidFill>
                            <a:srgbClr val="073A6B"/>
                          </a:solidFill>
                          <a:latin typeface="Consolas"/>
                        </a:rPr>
                        <a:t>getSupabaseToken()</a:t>
                      </a: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 already exists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Wire the concentration–time graph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073A6B"/>
                          </a:solidFill>
                          <a:latin typeface="Consolas"/>
                        </a:rPr>
                        <a:t>PkCurveGraph</a:t>
                      </a: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 is already implemented as a Canvas Composable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Camera capture with confirm-before-use OCR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Two interface entry points already exist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Export or share a calculation 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Replaces the inert share icon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Compose UI tests for the wizard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Dependencies already declared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Extend to a second medication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0F1A2A"/>
                          </a:solidFill>
                          <a:latin typeface="Calibri"/>
                        </a:rPr>
                        <a:t>One function per pathway; no architectural change needed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Every mandatory requirement, traced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54480"/>
          <a:ext cx="11057838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37158"/>
                <a:gridCol w="5172215"/>
                <a:gridCol w="1248465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Case study requirement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Implemented in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73A6B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E3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Native Android · Kotlin · Compose · Material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073A6B"/>
                          </a:solidFill>
                          <a:latin typeface="Consolas"/>
                        </a:rPr>
                        <a:t>Kotlin_app/</a:t>
                      </a: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 · compileSdk 35 · minSdk 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Pre, Post and Pre + Post workflows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073A6B"/>
                          </a:solidFill>
                          <a:latin typeface="Consolas"/>
                        </a:rPr>
                        <a:t>VancoEngine</a:t>
                      </a: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 — three public functions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Dynamic input forms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073A6B"/>
                          </a:solidFill>
                          <a:latin typeface="Consolas"/>
                        </a:rPr>
                        <a:t>InputFormScreen</a:t>
                      </a: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 conditional field groups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Input and cross-field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073A6B"/>
                          </a:solidFill>
                          <a:latin typeface="Consolas"/>
                        </a:rPr>
                        <a:t>InputValidator</a:t>
                      </a: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 — 7 public functions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Engine separated from the UI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073A6B"/>
                          </a:solidFill>
                          <a:latin typeface="Consolas"/>
                        </a:rPr>
                        <a:t>domain/engine/</a:t>
                      </a: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 — no Android imports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Intermediate and final PK 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073A6B"/>
                          </a:solidFill>
                          <a:latin typeface="Consolas"/>
                        </a:rPr>
                        <a:t>PkResults</a:t>
                      </a: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 — nine values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Explainable 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073A6B"/>
                          </a:solidFill>
                          <a:latin typeface="Consolas"/>
                        </a:rPr>
                        <a:t>ExplanationScreen</a:t>
                      </a: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 — four phases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Material 3 light and dark mode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073A6B"/>
                          </a:solidFill>
                          <a:latin typeface="Consolas"/>
                        </a:rPr>
                        <a:t>Color.kt</a:t>
                      </a: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 + </a:t>
                      </a:r>
                      <a:r>
                        <a:rPr sz="1150" b="0" i="0">
                          <a:solidFill>
                            <a:srgbClr val="073A6B"/>
                          </a:solidFill>
                          <a:latin typeface="Consolas"/>
                        </a:rPr>
                        <a:t>Theme.kt</a:t>
                      </a: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 + Settings selector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Mandatory academic disclaimer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First-launch gate · banners · About screen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0F1A2A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PROFESSIONAL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Repository and responsible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984248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096" y="2203704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Repository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32888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5A6B7F"/>
                </a:solidFill>
                <a:latin typeface="Calibri"/>
              </a:rPr>
              <a:t>Follows the prescribed layout: </a:t>
            </a:r>
            <a:r>
              <a:rPr sz="1050" b="0" i="0">
                <a:solidFill>
                  <a:srgbClr val="073A6B"/>
                </a:solidFill>
                <a:latin typeface="Consolas"/>
              </a:rPr>
              <a:t>Kotlin_app/</a:t>
            </a:r>
            <a:r>
              <a:rPr sz="1200" b="0" i="0">
                <a:solidFill>
                  <a:srgbClr val="5A6B7F"/>
                </a:solidFill>
                <a:latin typeface="Calibri"/>
              </a:rPr>
              <a:t>, </a:t>
            </a:r>
            <a:r>
              <a:rPr sz="1050" b="0" i="0">
                <a:solidFill>
                  <a:srgbClr val="073A6B"/>
                </a:solidFill>
                <a:latin typeface="Consolas"/>
              </a:rPr>
              <a:t>docs/</a:t>
            </a:r>
            <a:r>
              <a:rPr sz="1200" b="0" i="0">
                <a:solidFill>
                  <a:srgbClr val="5A6B7F"/>
                </a:solidFill>
                <a:latin typeface="Calibri"/>
              </a:rPr>
              <a:t>, </a:t>
            </a:r>
            <a:r>
              <a:rPr sz="1050" b="0" i="0">
                <a:solidFill>
                  <a:srgbClr val="073A6B"/>
                </a:solidFill>
                <a:latin typeface="Consolas"/>
              </a:rPr>
              <a:t>apk/</a:t>
            </a:r>
            <a:r>
              <a:rPr sz="1200" b="0" i="0">
                <a:solidFill>
                  <a:srgbClr val="5A6B7F"/>
                </a:solidFill>
                <a:latin typeface="Calibri"/>
              </a:rPr>
              <a:t>, </a:t>
            </a:r>
            <a:r>
              <a:rPr sz="1050" b="0" i="0">
                <a:solidFill>
                  <a:srgbClr val="073A6B"/>
                </a:solidFill>
                <a:latin typeface="Consolas"/>
              </a:rPr>
              <a:t>landingPage/</a:t>
            </a:r>
            <a:r>
              <a:rPr sz="1200" b="0" i="0">
                <a:solidFill>
                  <a:srgbClr val="5A6B7F"/>
                </a:solidFill>
                <a:latin typeface="Calibri"/>
              </a:rPr>
              <a:t>, with a README carrying all thirteen required sections.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2122" y="1984248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3290" y="2203704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7882" y="216712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7882" y="2532888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073A6B"/>
                </a:solidFill>
                <a:latin typeface="Consolas"/>
              </a:rPr>
              <a:t>local.properties</a:t>
            </a:r>
            <a:r>
              <a:rPr sz="1200" b="0" i="0">
                <a:solidFill>
                  <a:srgbClr val="5A6B7F"/>
                </a:solidFill>
                <a:latin typeface="Calibri"/>
              </a:rPr>
              <a:t> is git-ignored; </a:t>
            </a:r>
            <a:r>
              <a:rPr sz="1050" b="0" i="0">
                <a:solidFill>
                  <a:srgbClr val="073A6B"/>
                </a:solidFill>
                <a:latin typeface="Consolas"/>
              </a:rPr>
              <a:t>secrets.defaults.properties</a:t>
            </a:r>
            <a:r>
              <a:rPr sz="1200" b="0" i="0">
                <a:solidFill>
                  <a:srgbClr val="5A6B7F"/>
                </a:solidFill>
                <a:latin typeface="Calibri"/>
              </a:rPr>
              <a:t> is the committed template. No key has ever entered version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984248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8484" y="2203704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3076" y="2167128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Commits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3076" y="2532888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5A6B7F"/>
                </a:solidFill>
                <a:latin typeface="Calibri"/>
              </a:rPr>
              <a:t>Scoped to one logical change, with conventional prefixes. </a:t>
            </a:r>
            <a:r>
              <a:rPr sz="1200" b="1" i="0">
                <a:solidFill>
                  <a:srgbClr val="0F1A2A"/>
                </a:solidFill>
                <a:latin typeface="Calibri"/>
              </a:rPr>
              <a:t>Authorship still needs distributing across all three members before submission.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22452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18795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AI — where it helped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553712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5A6B7F"/>
                </a:solidFill>
                <a:latin typeface="Calibri"/>
              </a:rPr>
              <a:t>Learning Compose APIs, drafting layouts, a refactor, and one debugging session. Output was reviewed and frequently modified.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2122" y="4005072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33290" y="422452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7882" y="418795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AI — where it did not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7882" y="4553712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0F1A2A"/>
                </a:solidFill>
                <a:latin typeface="Calibri"/>
              </a:rPr>
              <a:t>No clinical formula, constant or target came from a language model.</a:t>
            </a:r>
            <a:r>
              <a:rPr sz="1200" b="0" i="0">
                <a:solidFill>
                  <a:srgbClr val="5A6B7F"/>
                </a:solidFill>
                <a:latin typeface="Calibri"/>
              </a:rPr>
              <a:t> Every equation is cited and commented with its source.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4005072"/>
            <a:ext cx="3527450" cy="17830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>
            <a:solidFill>
              <a:srgbClr val="C7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98484" y="4224528"/>
            <a:ext cx="50292" cy="237744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3076" y="4187952"/>
            <a:ext cx="29605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3A6B"/>
                </a:solidFill>
                <a:latin typeface="Calibri"/>
              </a:rPr>
              <a:t>AI — full disclosure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3076" y="4553712"/>
            <a:ext cx="296052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5A6B7F"/>
                </a:solidFill>
                <a:latin typeface="Calibri"/>
              </a:rPr>
              <a:t>The drafting of the project report surfaced the Post-dose defect. We reported it rather than removing the example.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WRAPPING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57839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0F1A2A"/>
                </a:solidFill>
                <a:latin typeface="Calibri"/>
              </a:rPr>
              <a:t>TDM Insight turns a paper worksheet into a </a:t>
            </a:r>
            <a:r>
              <a:rPr sz="1700" b="1" i="0">
                <a:solidFill>
                  <a:srgbClr val="073A6B"/>
                </a:solidFill>
                <a:latin typeface="Calibri"/>
              </a:rPr>
              <a:t>guided, validated and explainable</a:t>
            </a:r>
            <a:r>
              <a:rPr sz="1700" b="0" i="0">
                <a:solidFill>
                  <a:srgbClr val="0F1A2A"/>
                </a:solidFill>
                <a:latin typeface="Calibri"/>
              </a:rPr>
              <a:t> mobile workflow — all nine mandatory requirements are implemented.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0F1A2A"/>
                </a:solidFill>
                <a:latin typeface="Calibri"/>
              </a:rPr>
              <a:t>The </a:t>
            </a:r>
            <a:r>
              <a:rPr sz="1700" b="1" i="0">
                <a:solidFill>
                  <a:srgbClr val="073A6B"/>
                </a:solidFill>
                <a:latin typeface="Calibri"/>
              </a:rPr>
              <a:t>calculation engine is framework-free</a:t>
            </a:r>
            <a:r>
              <a:rPr sz="1700" b="0" i="0">
                <a:solidFill>
                  <a:srgbClr val="0F1A2A"/>
                </a:solidFill>
                <a:latin typeface="Calibri"/>
              </a:rPr>
              <a:t> and covered by 31 unit tests. Remove the network layer entirely and it still compiles and passes.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0F1A2A"/>
                </a:solidFill>
                <a:latin typeface="Calibri"/>
              </a:rPr>
              <a:t>Two optional enhancements — identity and persistent history — were added </a:t>
            </a:r>
            <a:r>
              <a:rPr sz="1700" b="1" i="0">
                <a:solidFill>
                  <a:srgbClr val="073A6B"/>
                </a:solidFill>
                <a:latin typeface="Calibri"/>
              </a:rPr>
              <a:t>without compromising the core</a:t>
            </a:r>
            <a:r>
              <a:rPr sz="1700" b="0" i="0">
                <a:solidFill>
                  <a:srgbClr val="0F1A2A"/>
                </a:solidFill>
                <a:latin typeface="Calibri"/>
              </a:rPr>
              <a:t>. No credentials? The calculator still works.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1464A8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0F1A2A"/>
                </a:solidFill>
                <a:latin typeface="Calibri"/>
              </a:rPr>
              <a:t>We document our own defects. A weak assertion hid a bug in the Post-dose fit; it is reported in full, with a reproduction and a fix.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166360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F3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166360"/>
            <a:ext cx="54864" cy="566928"/>
          </a:xfrm>
          <a:prstGeom prst="rect">
            <a:avLst/>
          </a:prstGeom>
          <a:solidFill>
            <a:srgbClr val="1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257800"/>
            <a:ext cx="10600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B6B3A"/>
                </a:solidFill>
                <a:latin typeface="Calibri"/>
              </a:rPr>
              <a:t>For a system that models a clinical calculation, that honesty is not incidental — it is the difference between a teaching aid and a 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/>
            </a:pPr>
            <a:r>
              <a:rPr sz="1100" b="1" i="0">
                <a:solidFill>
                  <a:srgbClr val="1464A8"/>
                </a:solidFill>
                <a:latin typeface="Calibri"/>
              </a:rPr>
              <a:t>APA 7TH 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73A6B"/>
                </a:solidFill>
                <a:latin typeface="Calibri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1148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57839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F1A2A"/>
                </a:solidFill>
                <a:latin typeface="Calibri"/>
              </a:rPr>
              <a:t>Burden, R. L., &amp; Faires, J. D. (2010). Numerical analysis (9th ed.). Brooks/Cole.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F1A2A"/>
                </a:solidFill>
                <a:latin typeface="Calibri"/>
              </a:rPr>
              <a:t>Cockcroft, D. W., &amp; Gault, M. H. (1976). Prediction of creatinine clearance from serum creatinine. Nephron, 16(1), 31–41.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F1A2A"/>
                </a:solidFill>
                <a:latin typeface="Calibri"/>
              </a:rPr>
              <a:t>Google. (2024). Guide to app architecture. Android Developers. https://developer.android.com/topic/architecture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F1A2A"/>
                </a:solidFill>
                <a:latin typeface="Calibri"/>
              </a:rPr>
              <a:t>Mohd Zaki, M. Z. (2026). CDE2313 project case study description: TDM Insight [Course case study]. Albukhary International University.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F1A2A"/>
                </a:solidFill>
                <a:latin typeface="Calibri"/>
              </a:rPr>
              <a:t>Rybak, M. J., Le, J., Lodise, T. P., et al. (2020). Therapeutic monitoring of vancomycin for serious methicillin-resistant Staphylococcus aureus infections: A revised consensus guideline. American Journal of Health-System Pharmacy, 77(11), 835–864.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F1A2A"/>
                </a:solidFill>
                <a:latin typeface="Calibri"/>
              </a:rPr>
              <a:t>Sawchuk, R. J., &amp; Zaske, D. E. (1976). Pharmacokinetics of dosing regimens which utilize multiple intravenous infusions. Journal of Pharmacokinetics and Biopharmaceutics, 4(2), 183–195.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F1A2A"/>
                </a:solidFill>
                <a:latin typeface="Calibri"/>
              </a:rPr>
              <a:t>Sommerville, I. (2016). Software engineering (10th ed.). Pearson.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F1A2A"/>
                </a:solidFill>
                <a:latin typeface="Calibri"/>
              </a:rPr>
              <a:t>Supabase. (2024). Row Level Security. https://supabase.com/docs/guides/database/postgres/row-level-security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B7F"/>
                </a:solidFill>
                <a:latin typeface="Calibri"/>
              </a:rPr>
              <a:t>TDM Insight · CDE2313 · Albukhary International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A6B7F"/>
                </a:solidFill>
                <a:latin typeface="Calibri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1460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611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E3F0FF"/>
                </a:solidFill>
                <a:latin typeface="Calibri"/>
              </a:rPr>
              <a:t>Questions, and a live demonstration of all three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43400"/>
            <a:ext cx="1280160" cy="45720"/>
          </a:xfrm>
          <a:prstGeom prst="rect">
            <a:avLst/>
          </a:prstGeom>
          <a:solidFill>
            <a:srgbClr val="14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3F0FF"/>
                </a:solidFill>
                <a:latin typeface="Calibri"/>
              </a:rPr>
              <a:t>TDM Insight · CDE2313 Mobile Application Development · Albukhary International University
</a:t>
            </a:r>
            <a:r>
              <a:rPr sz="1350" b="0" i="1">
                <a:solidFill>
                  <a:srgbClr val="E3F0FF"/>
                </a:solidFill>
                <a:latin typeface="Calibri"/>
              </a:rPr>
              <a:t>Academic prototype — all demonstration cases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