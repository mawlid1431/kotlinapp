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Concentration (mg/L)</c:v>
                </c:pt>
              </c:strCache>
            </c:strRef>
          </c:tx>
          <c:spPr>
            <a:solidFill>
              <a:srgbClr val="1464A8"/>
            </a:solidFill>
            <a:ln w="38100" cap="flat">
              <a:solidFill>
                <a:srgbClr val="1464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464A8"/>
              </a:solidFill>
              <a:ln w="9525" cap="flat">
                <a:solidFill>
                  <a:srgbClr val="1464A8"/>
                </a:solidFill>
                <a:prstDash val="solid"/>
                <a:round/>
              </a:ln>
              <a:effectLst/>
            </c:spPr>
          </c:marker>
          <c:cat>
            <c:multiLvlStrRef>
              <c:f>Sheet1!$A$2:$A$26</c:f>
              <c:multiLvlStrCache>
                <c:ptCount val="25"/>
                <c:lvl>
                  <c:pt idx="0">
                    <c:v>0</c:v>
                  </c:pt>
                  <c:pt idx="1">
                    <c:v/>
                  </c:pt>
                  <c:pt idx="2">
                    <c:v/>
                  </c:pt>
                  <c:pt idx="3">
                    <c:v/>
                  </c:pt>
                  <c:pt idx="4">
                    <c:v>2</c:v>
                  </c:pt>
                  <c:pt idx="5">
                    <c:v/>
                  </c:pt>
                  <c:pt idx="6">
                    <c:v/>
                  </c:pt>
                  <c:pt idx="7">
                    <c:v/>
                  </c:pt>
                  <c:pt idx="8">
                    <c:v>4</c:v>
                  </c:pt>
                  <c:pt idx="9">
                    <c:v/>
                  </c:pt>
                  <c:pt idx="10">
                    <c:v/>
                  </c:pt>
                  <c:pt idx="11">
                    <c:v/>
                  </c:pt>
                  <c:pt idx="12">
                    <c:v>6</c:v>
                  </c:pt>
                  <c:pt idx="13">
                    <c:v/>
                  </c:pt>
                  <c:pt idx="14">
                    <c:v/>
                  </c:pt>
                  <c:pt idx="15">
                    <c:v/>
                  </c:pt>
                  <c:pt idx="16">
                    <c:v>8</c:v>
                  </c:pt>
                  <c:pt idx="17">
                    <c:v/>
                  </c:pt>
                  <c:pt idx="18">
                    <c:v/>
                  </c:pt>
                  <c:pt idx="19">
                    <c:v/>
                  </c:pt>
                  <c:pt idx="20">
                    <c:v>10</c:v>
                  </c:pt>
                  <c:pt idx="21">
                    <c:v/>
                  </c:pt>
                  <c:pt idx="22">
                    <c:v/>
                  </c:pt>
                  <c:pt idx="23">
                    <c:v/>
                  </c:pt>
                  <c:pt idx="24">
                    <c:v>12</c:v>
                  </c:pt>
                </c:lvl>
              </c:multiLvlStrCache>
            </c:multiLvlStrRef>
          </c:cat>
          <c:val>
            <c:numRef>
              <c:f>Sheet1!$B$2:$B$26</c:f>
              <c:numCache>
                <c:formatCode>General</c:formatCode>
                <c:ptCount val="25"/>
                <c:pt idx="0">
                  <c:v>0</c:v>
                </c:pt>
                <c:pt idx="1">
                  <c:v>9.98</c:v>
                </c:pt>
                <c:pt idx="2">
                  <c:v>19.54</c:v>
                </c:pt>
                <c:pt idx="3">
                  <c:v>18.7</c:v>
                </c:pt>
                <c:pt idx="4">
                  <c:v>17.9</c:v>
                </c:pt>
                <c:pt idx="5">
                  <c:v>17.13</c:v>
                </c:pt>
                <c:pt idx="6">
                  <c:v>16.4</c:v>
                </c:pt>
                <c:pt idx="7">
                  <c:v>15.69</c:v>
                </c:pt>
                <c:pt idx="8">
                  <c:v>15.02</c:v>
                </c:pt>
                <c:pt idx="9">
                  <c:v>14.37</c:v>
                </c:pt>
                <c:pt idx="10">
                  <c:v>13.76</c:v>
                </c:pt>
                <c:pt idx="11">
                  <c:v>13.17</c:v>
                </c:pt>
                <c:pt idx="12">
                  <c:v>12.6</c:v>
                </c:pt>
                <c:pt idx="13">
                  <c:v>12.06</c:v>
                </c:pt>
                <c:pt idx="14">
                  <c:v>11.54</c:v>
                </c:pt>
                <c:pt idx="15">
                  <c:v>11.05</c:v>
                </c:pt>
                <c:pt idx="16">
                  <c:v>10.58</c:v>
                </c:pt>
                <c:pt idx="17">
                  <c:v>10.12</c:v>
                </c:pt>
                <c:pt idx="18">
                  <c:v>9.69</c:v>
                </c:pt>
                <c:pt idx="19">
                  <c:v>9.27</c:v>
                </c:pt>
                <c:pt idx="20">
                  <c:v>8.87</c:v>
                </c:pt>
                <c:pt idx="21">
                  <c:v>8.49</c:v>
                </c:pt>
                <c:pt idx="22">
                  <c:v>8.13</c:v>
                </c:pt>
                <c:pt idx="23">
                  <c:v>7.78</c:v>
                </c:pt>
                <c:pt idx="24">
                  <c:v>7.45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A6672"/>
                    </a:solidFill>
                    <a:latin typeface="Calibri"/>
                  </a:defRPr>
                </a:pPr>
                <a:r>
                  <a:rPr sz="900" b="0" i="0" u="none" strike="noStrike">
                    <a:solidFill>
                      <a:srgbClr val="5A6672"/>
                    </a:solidFill>
                    <a:latin typeface="Calibri"/>
                  </a:rPr>
                  <a:t>hours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67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F1F5"/>
              </a:solidFill>
              <a:prstDash val="solid"/>
              <a:round/>
            </a:ln>
          </c:spPr>
        </c:majorGridlines>
        <c:title>
          <c:tx>
            <c:rich>
              <a:bodyPr/>
              <a:lstStyle/>
              <a:p>
                <a:pPr>
                  <a:defRPr sz="900" b="0" i="0" u="none" strike="noStrike">
                    <a:solidFill>
                      <a:srgbClr val="5A6672"/>
                    </a:solidFill>
                    <a:latin typeface="Calibri"/>
                  </a:defRPr>
                </a:pPr>
                <a:r>
                  <a:rPr sz="900" b="0" i="0" u="none" strike="noStrike">
                    <a:solidFill>
                      <a:srgbClr val="5A6672"/>
                    </a:solidFill>
                    <a:latin typeface="Calibri"/>
                  </a:rPr>
                  <a:t>mg/L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67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TDM Insight, a native Android app for vancomycin therapeutic drug monitoring. Today I will walk through four things: the architecture, the Jetpack Compose UI, the Kotlin concepts I applied, and the backend and authentication I integrated. Everything you will see runs in the app on my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route. I start with the clinical problem so the design decisions make sense, then the stack, then the five architecture layers. From there I go layer by layer: the UI, the state management, the calculation engine, and finally the database and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Vancomycin has a narrow therapeutic index. Under-dose and the infection is not cleared; over-dose and you damage the kidneys. The 2020 Rybak guidelines say the target is total 24-hour exposure, AUC24, between 400 and 600 mg.h/L. Because every patient clears the drug differently, that number has to be computed per patient. That is exactly what the app automates.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describe the scope: three sampling workflows, eight pharmacokinetic parameters, fourteen Compose screens, and a four-phase explanation for every result. The four verbs below are the design goals: calculate, explain, remember, protect. The explanation part is deliberate. This is a teaching tool, so it shows the formulas, not just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stack. On the left, the Android side: Kotlin, Compose, Material 3, Navigation, ViewModel with StateFlow, and coroutines. On the right, the services and the web: Supabase for the database, Clerk for identity, Ktor for HTTP, and React with Vite and TypeScript for the landing page. Gradle ties the credentials in at build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of the presentation. Five layers, and dependencies only point downwards. The UI depends on the ViewModels, the ViewModels depend on the domain and data layers, and the domain layer at layer three depends on nothing from Android. That is what makes the clinical maths reviewable and unit-testable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as a whole. On the left is everything that runs on the phone: a single Activity hosting the navigation graph, the fourteen Compose screens, the three ViewModels, and beneath them the engine and the repositories. On the right is everything that runs in the cloud: Clerk for identity, and Supabase, which is the REST layer in front of PostgreSQL. Only two arrows cross the boundary, and both are HTTPS. Everything else, including the whole pharmacokinetic calculation, happens on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rule the project follows. Each layer may call the layer below it and nothing above it. Follow the arrow down: screens call ViewModels, ViewModels call the engine and the repositories, the repositories call the services. Nothing ever points back up. The practical test is on the right: if I deleted the entire UI package, VancoEngine would still compile and its unit tests would still pass. That is what tells you the layering is real and not just folder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one is the UI, and it is one hundred per cent Jetpack Compose. There is no XML layout file in the project at all. In this snippet: the function is annotated Composable, collectAsState subscribes the screen to the ViewModel, and when the state changes Compose redraws only the parts that read it. On the right is the full screen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Compose concepts I actually used. Composable functions describe UI instead of mutating views. Recomposition redraws only what changed. State plus remember makes values observable. State hoisting means child composables hold no state, they receive a value and a callback. The Modifier chain replaces XML attributes. And LazyColumn replaces RecyclerView with no adapter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flow pattern. One immutable state object, CaseUiState, describes the whole wizard. The UI reads it and renders. The action calls a ViewModel function. The ViewModel produces a brand new state object with copy, and never edits the old one. That single direction is why the screen can never get out of sync with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3 gives one design system. The colour scheme, the type scale and the corner shapes are defined once in the theme package, and every screen inherits them. Because light and dark schemes are built from the same tokens, switching theme changes no screen code at all. The primary colour, this clinical blue, is the identity of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Navigation is single-activity. One Activity hosts a NavHost, and every screen is a destination with a String route. Notice the workflow is passed as a navigation argument, so one input-form destination serves all three workflows. There is also an auth gate: if the user is not authenticated, the graph routes them to sign-in first. On the right is the actual path through a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user's path through the app, with the two gates that protect it. First the disclaimer, which must be accepted. Then the authentication gate, which sends the user to Clerk if there is no session. Only after both does the app itself open. From Home the case wizard runs left to right, and notice the two loops back: an invalid input returns the user to the form with field errors, and an engine failure goes to the error screen instead of showing a wrong number. Success flows to Results, the explanation, and into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two is MVVM. Three ViewModels own all state. Look at runCalculation: it validates, takes one snapshot of state, launches a coroutine in viewModelScope, and runs the engine on Dispatchers.Default so the maths never blocks the UI thread. Then it updates the state, and separately fires the database write. If Supabase fails, the result is still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tap on Calculate, but as a sequence, so you can see the order and who calls whom. The screen calls the ViewModel; the ViewModel asks the validator first and stops if the report is invalid; then it calls the engine on a background dispatcher and gets a sealed result back. It emits a new state object, which is what makes Compose recompose. Only after the user already has their answer does the second coroutine write the case to Supabase. That ordering is deliberate: the network is never on the path between the user and their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Kotlin language features, with the exact place each one is used. Data classes give me copy for immutable state updates. Sealed classes give a closed set of outcomes the compiler forces me to handle. Enums replace magic strings. Object gives a stateless singleton. Nullable types encode that not every workflow produces every parameter. And coroutines give structured, cancellable concurrency.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variables: every clinical quantity is a typed val with the unit in the property name, such as weightKg, scrUmolL and kePerHour. Double is used for all measurements because precision matters, Int only for age, Boolean for sex and busy flags. The nullable Doubles are meaningful: null means this workflow does not produce that parameter. And var appears in only one place, inside the Newton-Raphson iteration loop, where a value genuinely must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three is the engine. It is an object, not a class, so it is stateless and thread-safe. It imports kotlin.math and nothing else, no Android at all, which means a pharmacist can review the maths without reading UI code, and I can unit-test it on the JVM with no emulator. Every entry point returns a result type, so it never throws at the caller.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actual calculation, in five steps. One: creatinine clearance by Cockcroft-Gault, after converting creatinine from micromoles to milligrams per decilitre. Two: clearance and volume of distribution. Three: the elimination constant and the half-life. Four: AUC24, the target. Five: rearrange step four and solve for the dose that centres AUC24 on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run one real case. A 65-year-old male, 70 kg, creatinine 90. CrCl comes out at 71.6, clearance 4.30 litres an hour, volume 49 litres, ke 0.0877, half-life 7.9 hours. On 1000 mg every 12 hours the AUC24 is 465, inside the 400 to 600 band, so this regimen is therapeutic. To centre it exactly on 500 the app recommends 1074 mg. The curve on the right is that same patient predicted over one dosing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workflows differ in one thing only: how ke is obtained. PRE uses population estimates from creatinine clearance. POST fits ke to a single measured level with Newton-Raphson iteration. PRE_POST uses two measured levels and Sawchuk-Zaske regression, which is the most patient-specific, so it is the default. Everything after ke is identical in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why there are three workflows. They differ in exactly one place: how the elimination constant ke is obtained. PRE estimates it from creatinine clearance and a population volume. POST fits it to a single measured level by Newton-Raphson iteration. PRE_POST derives it from two measured levels using Sawchuk-Zaske. After that point all three converge: the same clearance, the same AUC24, the same verdict against the 400 to 600 band, and the same recommended dose. So there is one engine, not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clinical calculator must fail loudly. There are five independent layers of checking: each field as it is typed, then relationships between fields, then mathematical guards against a log of zero or a negative clearance, then a caught arithmetic exception, and finally the error screen. Because the result is a sealed class, the compiler will not let me forget to handle the failure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backend. I did not write a server. Supabase hosts PostgreSQL and generates the REST API, and the app calls it through the Supabase Kotlin SDK. Every call is a suspend function on the IO dispatcher, so the network never blocks the UI. Rows are stamped with the signed-in user ID, and a failed write is logged rather than surfaced, so the result on screen is never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Cases holds one row per completed calculation: identity, the case label and workflow, the patient data, the regimen, the measured samples, and every derived parameter. That makes each calculation fully auditable and reproducible. User_profiles is keyed by the Clerk user ID. Row-level security is enabled on both; for this academic build the policies are open and the app filters by user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data model. The identity comes from Clerk, not from my database — that Clerk user ID is the key that appears in both tables. One user profile relates to many cases, which is the one-to-many relationship in the middle. The cases table stores the inputs and the outputs together in one row, which is what makes each calculation reproducible: you can read a row and re-derive every number in it. The index on user ID and creation time is what makes the History query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is Clerk. I never store or hash a password. Sign-up, the six-digit email verification, and Google OAuth are all handled by the Clerk Frontend API, which I call over Ktor. AuthState is a sealed class with five cases, and the navigation graph only opens the app when it is Authenticated. One detail worth mentioning: an Android app has no cookie jar, so the client sends a native flag and Clerk returns a device token in a header, which is what makes the Google OAuth round-trip work through the deep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authentication flow in sequence. The app never sees a password store. The manager posts the credentials to Clerk's Frontend API, Clerk returns a device token and puts the account in a pending state, and the UI moves to AwaitingEmailCode. The user enters the six-digit code, Clerk verifies it and returns a session token and the user ID, and both are persisted in SharedPreferences. From that moment the AuthState is Authenticated, the navigation gate opens, and that same user ID is what stamps every row written to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credentials: no real key is in the source tree or in git history. Gradle reads them at build time from local.properties, which is gitignored, and injects them into BuildConfig. Only keys that are safe when public go in, namely the Clerk publishable key and the Supabase anon key, which is restricted by row-level security. The secret key and the service-role key never touch the app, because anything shipped in an APK can be extracted.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page is a separate React project. It uses the same ideas as Compose, just on the web: components, declarative rendering, and static typing with TypeScript. Vite builds it to a static bundle. The page presents the app with an animated phone mock-up and serves the release APK directly from the Download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ties everything together. One tap on Calculate: the composable calls the ViewModel, the validator re-checks everything, the ViewModel takes an immutable snapshot, a coroutine runs the engine off the main thread, a new state object triggers recomposition of the results screen, a second coroutine persists the case to Supabase with the Clerk user ID, and the History screen reads it back. Every layer in the architecture appears exactly once in that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a five-layer architecture where the clinical logic is independent of Android; a modern, fully declarative Compose app with Material 3 and MVVM; Kotlin language features used for concrete reasons rather than decoration; and real integration with a live PostgreSQL backend and a production identity provider, wired up safely. Thank you. I am happy to take questions, and I can demonstrate the app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073A6B">
              <a:alpha val="55000"/>
            </a:srgbClr>
          </a:solidFill>
          <a:ln w="12700">
            <a:solidFill>
              <a:srgbClr val="073A6B"/>
            </a:solidFill>
            <a:prstDash val="solid"/>
          </a:ln>
        </p:spPr>
      </p:sp>
      <p:sp>
        <p:nvSpPr>
          <p:cNvPr id="3" name="Shape 1"/>
          <p:cNvSpPr/>
          <p:nvPr/>
        </p:nvSpPr>
        <p:spPr>
          <a:xfrm>
            <a:off x="10058400" y="3291840"/>
            <a:ext cx="4023360" cy="4023360"/>
          </a:xfrm>
          <a:prstGeom prst="ellipse">
            <a:avLst/>
          </a:prstGeom>
          <a:solidFill>
            <a:srgbClr val="1464A8">
              <a:alpha val="30000"/>
            </a:srgbClr>
          </a:solidFill>
          <a:ln w="12700">
            <a:solidFill>
              <a:srgbClr val="1464A8"/>
            </a:solidFill>
            <a:prstDash val="solid"/>
          </a:ln>
        </p:spPr>
      </p:sp>
      <p:sp>
        <p:nvSpPr>
          <p:cNvPr id="4" name="Text 2"/>
          <p:cNvSpPr txBox="1"/>
          <p:nvPr/>
        </p:nvSpPr>
        <p:spPr>
          <a:xfrm>
            <a:off x="640080" y="1371600"/>
            <a:ext cx="8229600" cy="274320"/>
          </a:xfrm>
          <a:prstGeom prst="rect">
            <a:avLst/>
          </a:prstGeom>
          <a:noFill/>
          <a:ln/>
        </p:spPr>
        <p:txBody>
          <a:bodyPr wrap="square" lIns="0" tIns="0" rIns="0" bIns="0" rtlCol="0" anchor="ctr"/>
          <a:lstStyle/>
          <a:p>
            <a:pPr indent="0" marL="0">
              <a:buNone/>
            </a:pPr>
            <a:r>
              <a:rPr lang="en-US" sz="1200" b="1" spc="300" kern="0" dirty="0">
                <a:solidFill>
                  <a:srgbClr val="6FB3E8"/>
                </a:solidFill>
                <a:latin typeface="Calibri" pitchFamily="34" charset="0"/>
                <a:ea typeface="Calibri" pitchFamily="34" charset="-122"/>
                <a:cs typeface="Calibri" pitchFamily="34" charset="-120"/>
              </a:rPr>
              <a:t>ACADEMIC PROJECT  ·  CDE2313</a:t>
            </a:r>
            <a:endParaRPr lang="en-US" sz="1200" dirty="0"/>
          </a:p>
        </p:txBody>
      </p:sp>
      <p:sp>
        <p:nvSpPr>
          <p:cNvPr id="5" name="Text 3"/>
          <p:cNvSpPr txBox="1"/>
          <p:nvPr/>
        </p:nvSpPr>
        <p:spPr>
          <a:xfrm>
            <a:off x="640080" y="1737360"/>
            <a:ext cx="8686800" cy="9601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TDM Insight</a:t>
            </a:r>
            <a:endParaRPr lang="en-US" sz="6000" dirty="0"/>
          </a:p>
        </p:txBody>
      </p:sp>
      <p:sp>
        <p:nvSpPr>
          <p:cNvPr id="6" name="Text 4"/>
          <p:cNvSpPr txBox="1"/>
          <p:nvPr/>
        </p:nvSpPr>
        <p:spPr>
          <a:xfrm>
            <a:off x="640080" y="2697480"/>
            <a:ext cx="8686800" cy="411480"/>
          </a:xfrm>
          <a:prstGeom prst="rect">
            <a:avLst/>
          </a:prstGeom>
          <a:noFill/>
          <a:ln/>
        </p:spPr>
        <p:txBody>
          <a:bodyPr wrap="square" lIns="0" tIns="0" rIns="0" bIns="0" rtlCol="0" anchor="ctr"/>
          <a:lstStyle/>
          <a:p>
            <a:pPr indent="0" marL="0">
              <a:buNone/>
            </a:pPr>
            <a:r>
              <a:rPr lang="en-US" sz="2100" i="1" dirty="0">
                <a:solidFill>
                  <a:srgbClr val="A9C2DA"/>
                </a:solidFill>
                <a:latin typeface="Cambria" pitchFamily="34" charset="0"/>
                <a:ea typeface="Cambria" pitchFamily="34" charset="-122"/>
                <a:cs typeface="Cambria" pitchFamily="34" charset="-120"/>
              </a:rPr>
              <a:t>A Vancomycin Therapeutic Drug Monitoring app for Android</a:t>
            </a:r>
            <a:endParaRPr lang="en-US" sz="2100" dirty="0"/>
          </a:p>
        </p:txBody>
      </p:sp>
      <p:sp>
        <p:nvSpPr>
          <p:cNvPr id="7" name="Text 5"/>
          <p:cNvSpPr txBox="1"/>
          <p:nvPr/>
        </p:nvSpPr>
        <p:spPr>
          <a:xfrm>
            <a:off x="640080" y="3200400"/>
            <a:ext cx="8412480" cy="365760"/>
          </a:xfrm>
          <a:prstGeom prst="rect">
            <a:avLst/>
          </a:prstGeom>
          <a:noFill/>
          <a:ln/>
        </p:spPr>
        <p:txBody>
          <a:bodyPr wrap="square" lIns="0" tIns="0" rIns="0" bIns="0" rtlCol="0" anchor="ctr"/>
          <a:lstStyle/>
          <a:p>
            <a:pPr indent="0" marL="0">
              <a:buNone/>
            </a:pPr>
            <a:r>
              <a:rPr lang="en-US" sz="1400" dirty="0">
                <a:solidFill>
                  <a:srgbClr val="8FA9C2"/>
                </a:solidFill>
                <a:latin typeface="Calibri" pitchFamily="34" charset="0"/>
                <a:ea typeface="Calibri" pitchFamily="34" charset="-122"/>
                <a:cs typeface="Calibri" pitchFamily="34" charset="-120"/>
              </a:rPr>
              <a:t>Architecture · Jetpack Compose UI · Kotlin concepts · Supabase backend · Clerk authentication</a:t>
            </a:r>
            <a:endParaRPr lang="en-US" sz="1400" dirty="0"/>
          </a:p>
        </p:txBody>
      </p:sp>
      <p:sp>
        <p:nvSpPr>
          <p:cNvPr id="8" name="Shape 6"/>
          <p:cNvSpPr/>
          <p:nvPr/>
        </p:nvSpPr>
        <p:spPr>
          <a:xfrm>
            <a:off x="640080" y="3886200"/>
            <a:ext cx="795528" cy="384048"/>
          </a:xfrm>
          <a:prstGeom prst="roundRect">
            <a:avLst>
              <a:gd name="adj" fmla="val 47619"/>
            </a:avLst>
          </a:prstGeom>
          <a:solidFill>
            <a:srgbClr val="073A6B"/>
          </a:solidFill>
          <a:ln w="12700">
            <a:solidFill>
              <a:srgbClr val="1E4C7C"/>
            </a:solidFill>
            <a:prstDash val="solid"/>
          </a:ln>
        </p:spPr>
      </p:sp>
      <p:sp>
        <p:nvSpPr>
          <p:cNvPr id="9" name="Text 7"/>
          <p:cNvSpPr txBox="1"/>
          <p:nvPr/>
        </p:nvSpPr>
        <p:spPr>
          <a:xfrm>
            <a:off x="640080" y="3886200"/>
            <a:ext cx="795528" cy="384048"/>
          </a:xfrm>
          <a:prstGeom prst="rect">
            <a:avLst/>
          </a:prstGeom>
          <a:noFill/>
          <a:ln/>
        </p:spPr>
        <p:txBody>
          <a:bodyPr wrap="square" lIns="0" tIns="0" rIns="0" bIns="0" rtlCol="0" anchor="ctr"/>
          <a:lstStyle/>
          <a:p>
            <a:pPr algn="ctr" indent="0" marL="0">
              <a:buNone/>
            </a:pPr>
            <a:r>
              <a:rPr lang="en-US" sz="1150" b="1" dirty="0">
                <a:solidFill>
                  <a:srgbClr val="BFD8F0"/>
                </a:solidFill>
                <a:latin typeface="Calibri" pitchFamily="34" charset="0"/>
                <a:ea typeface="Calibri" pitchFamily="34" charset="-122"/>
                <a:cs typeface="Calibri" pitchFamily="34" charset="-120"/>
              </a:rPr>
              <a:t>Kotlin</a:t>
            </a:r>
            <a:endParaRPr lang="en-US" sz="1150" dirty="0"/>
          </a:p>
        </p:txBody>
      </p:sp>
      <p:sp>
        <p:nvSpPr>
          <p:cNvPr id="10" name="Shape 8"/>
          <p:cNvSpPr/>
          <p:nvPr/>
        </p:nvSpPr>
        <p:spPr>
          <a:xfrm>
            <a:off x="1581912" y="3886200"/>
            <a:ext cx="1659636" cy="384048"/>
          </a:xfrm>
          <a:prstGeom prst="roundRect">
            <a:avLst>
              <a:gd name="adj" fmla="val 47619"/>
            </a:avLst>
          </a:prstGeom>
          <a:solidFill>
            <a:srgbClr val="073A6B"/>
          </a:solidFill>
          <a:ln w="12700">
            <a:solidFill>
              <a:srgbClr val="1E4C7C"/>
            </a:solidFill>
            <a:prstDash val="solid"/>
          </a:ln>
        </p:spPr>
      </p:sp>
      <p:sp>
        <p:nvSpPr>
          <p:cNvPr id="11" name="Text 9"/>
          <p:cNvSpPr txBox="1"/>
          <p:nvPr/>
        </p:nvSpPr>
        <p:spPr>
          <a:xfrm>
            <a:off x="1581912" y="3886200"/>
            <a:ext cx="1659636" cy="384048"/>
          </a:xfrm>
          <a:prstGeom prst="rect">
            <a:avLst/>
          </a:prstGeom>
          <a:noFill/>
          <a:ln/>
        </p:spPr>
        <p:txBody>
          <a:bodyPr wrap="square" lIns="0" tIns="0" rIns="0" bIns="0" rtlCol="0" anchor="ctr"/>
          <a:lstStyle/>
          <a:p>
            <a:pPr algn="ctr" indent="0" marL="0">
              <a:buNone/>
            </a:pPr>
            <a:r>
              <a:rPr lang="en-US" sz="1150" b="1" dirty="0">
                <a:solidFill>
                  <a:srgbClr val="BFD8F0"/>
                </a:solidFill>
                <a:latin typeface="Calibri" pitchFamily="34" charset="0"/>
                <a:ea typeface="Calibri" pitchFamily="34" charset="-122"/>
                <a:cs typeface="Calibri" pitchFamily="34" charset="-120"/>
              </a:rPr>
              <a:t>Jetpack Compose</a:t>
            </a:r>
            <a:endParaRPr lang="en-US" sz="1150" dirty="0"/>
          </a:p>
        </p:txBody>
      </p:sp>
      <p:sp>
        <p:nvSpPr>
          <p:cNvPr id="12" name="Shape 10"/>
          <p:cNvSpPr/>
          <p:nvPr/>
        </p:nvSpPr>
        <p:spPr>
          <a:xfrm>
            <a:off x="3387852" y="3886200"/>
            <a:ext cx="1179576" cy="384048"/>
          </a:xfrm>
          <a:prstGeom prst="roundRect">
            <a:avLst>
              <a:gd name="adj" fmla="val 47619"/>
            </a:avLst>
          </a:prstGeom>
          <a:solidFill>
            <a:srgbClr val="073A6B"/>
          </a:solidFill>
          <a:ln w="12700">
            <a:solidFill>
              <a:srgbClr val="1E4C7C"/>
            </a:solidFill>
            <a:prstDash val="solid"/>
          </a:ln>
        </p:spPr>
      </p:sp>
      <p:sp>
        <p:nvSpPr>
          <p:cNvPr id="13" name="Text 11"/>
          <p:cNvSpPr txBox="1"/>
          <p:nvPr/>
        </p:nvSpPr>
        <p:spPr>
          <a:xfrm>
            <a:off x="3387852" y="3886200"/>
            <a:ext cx="1179576" cy="384048"/>
          </a:xfrm>
          <a:prstGeom prst="rect">
            <a:avLst/>
          </a:prstGeom>
          <a:noFill/>
          <a:ln/>
        </p:spPr>
        <p:txBody>
          <a:bodyPr wrap="square" lIns="0" tIns="0" rIns="0" bIns="0" rtlCol="0" anchor="ctr"/>
          <a:lstStyle/>
          <a:p>
            <a:pPr algn="ctr" indent="0" marL="0">
              <a:buNone/>
            </a:pPr>
            <a:r>
              <a:rPr lang="en-US" sz="1150" b="1" dirty="0">
                <a:solidFill>
                  <a:srgbClr val="BFD8F0"/>
                </a:solidFill>
                <a:latin typeface="Calibri" pitchFamily="34" charset="0"/>
                <a:ea typeface="Calibri" pitchFamily="34" charset="-122"/>
                <a:cs typeface="Calibri" pitchFamily="34" charset="-120"/>
              </a:rPr>
              <a:t>Material 3</a:t>
            </a:r>
            <a:endParaRPr lang="en-US" sz="1150" dirty="0"/>
          </a:p>
        </p:txBody>
      </p:sp>
      <p:sp>
        <p:nvSpPr>
          <p:cNvPr id="14" name="Shape 12"/>
          <p:cNvSpPr/>
          <p:nvPr/>
        </p:nvSpPr>
        <p:spPr>
          <a:xfrm>
            <a:off x="4713732" y="3886200"/>
            <a:ext cx="603504" cy="384048"/>
          </a:xfrm>
          <a:prstGeom prst="roundRect">
            <a:avLst>
              <a:gd name="adj" fmla="val 47619"/>
            </a:avLst>
          </a:prstGeom>
          <a:solidFill>
            <a:srgbClr val="073A6B"/>
          </a:solidFill>
          <a:ln w="12700">
            <a:solidFill>
              <a:srgbClr val="1E4C7C"/>
            </a:solidFill>
            <a:prstDash val="solid"/>
          </a:ln>
        </p:spPr>
      </p:sp>
      <p:sp>
        <p:nvSpPr>
          <p:cNvPr id="15" name="Text 13"/>
          <p:cNvSpPr txBox="1"/>
          <p:nvPr/>
        </p:nvSpPr>
        <p:spPr>
          <a:xfrm>
            <a:off x="4713732" y="3886200"/>
            <a:ext cx="603504" cy="384048"/>
          </a:xfrm>
          <a:prstGeom prst="rect">
            <a:avLst/>
          </a:prstGeom>
          <a:noFill/>
          <a:ln/>
        </p:spPr>
        <p:txBody>
          <a:bodyPr wrap="square" lIns="0" tIns="0" rIns="0" bIns="0" rtlCol="0" anchor="ctr"/>
          <a:lstStyle/>
          <a:p>
            <a:pPr algn="ctr" indent="0" marL="0">
              <a:buNone/>
            </a:pPr>
            <a:r>
              <a:rPr lang="en-US" sz="1150" b="1" dirty="0">
                <a:solidFill>
                  <a:srgbClr val="BFD8F0"/>
                </a:solidFill>
                <a:latin typeface="Calibri" pitchFamily="34" charset="0"/>
                <a:ea typeface="Calibri" pitchFamily="34" charset="-122"/>
                <a:cs typeface="Calibri" pitchFamily="34" charset="-120"/>
              </a:rPr>
              <a:t>MVVM</a:t>
            </a:r>
            <a:endParaRPr lang="en-US" sz="1150" dirty="0"/>
          </a:p>
        </p:txBody>
      </p:sp>
      <p:sp>
        <p:nvSpPr>
          <p:cNvPr id="16" name="Shape 14"/>
          <p:cNvSpPr/>
          <p:nvPr/>
        </p:nvSpPr>
        <p:spPr>
          <a:xfrm>
            <a:off x="5463540" y="3886200"/>
            <a:ext cx="987552" cy="384048"/>
          </a:xfrm>
          <a:prstGeom prst="roundRect">
            <a:avLst>
              <a:gd name="adj" fmla="val 47619"/>
            </a:avLst>
          </a:prstGeom>
          <a:solidFill>
            <a:srgbClr val="073A6B"/>
          </a:solidFill>
          <a:ln w="12700">
            <a:solidFill>
              <a:srgbClr val="1E4C7C"/>
            </a:solidFill>
            <a:prstDash val="solid"/>
          </a:ln>
        </p:spPr>
      </p:sp>
      <p:sp>
        <p:nvSpPr>
          <p:cNvPr id="17" name="Text 15"/>
          <p:cNvSpPr txBox="1"/>
          <p:nvPr/>
        </p:nvSpPr>
        <p:spPr>
          <a:xfrm>
            <a:off x="5463540" y="3886200"/>
            <a:ext cx="987552" cy="384048"/>
          </a:xfrm>
          <a:prstGeom prst="rect">
            <a:avLst/>
          </a:prstGeom>
          <a:noFill/>
          <a:ln/>
        </p:spPr>
        <p:txBody>
          <a:bodyPr wrap="square" lIns="0" tIns="0" rIns="0" bIns="0" rtlCol="0" anchor="ctr"/>
          <a:lstStyle/>
          <a:p>
            <a:pPr algn="ctr" indent="0" marL="0">
              <a:buNone/>
            </a:pPr>
            <a:r>
              <a:rPr lang="en-US" sz="1150" b="1" dirty="0">
                <a:solidFill>
                  <a:srgbClr val="BFD8F0"/>
                </a:solidFill>
                <a:latin typeface="Calibri" pitchFamily="34" charset="0"/>
                <a:ea typeface="Calibri" pitchFamily="34" charset="-122"/>
                <a:cs typeface="Calibri" pitchFamily="34" charset="-120"/>
              </a:rPr>
              <a:t>Supabase</a:t>
            </a:r>
            <a:endParaRPr lang="en-US" sz="1150" dirty="0"/>
          </a:p>
        </p:txBody>
      </p:sp>
      <p:sp>
        <p:nvSpPr>
          <p:cNvPr id="18" name="Shape 16"/>
          <p:cNvSpPr/>
          <p:nvPr/>
        </p:nvSpPr>
        <p:spPr>
          <a:xfrm>
            <a:off x="6597396" y="3886200"/>
            <a:ext cx="699516" cy="384048"/>
          </a:xfrm>
          <a:prstGeom prst="roundRect">
            <a:avLst>
              <a:gd name="adj" fmla="val 47619"/>
            </a:avLst>
          </a:prstGeom>
          <a:solidFill>
            <a:srgbClr val="073A6B"/>
          </a:solidFill>
          <a:ln w="12700">
            <a:solidFill>
              <a:srgbClr val="1E4C7C"/>
            </a:solidFill>
            <a:prstDash val="solid"/>
          </a:ln>
        </p:spPr>
      </p:sp>
      <p:sp>
        <p:nvSpPr>
          <p:cNvPr id="19" name="Text 17"/>
          <p:cNvSpPr txBox="1"/>
          <p:nvPr/>
        </p:nvSpPr>
        <p:spPr>
          <a:xfrm>
            <a:off x="6597396" y="3886200"/>
            <a:ext cx="699516" cy="384048"/>
          </a:xfrm>
          <a:prstGeom prst="rect">
            <a:avLst/>
          </a:prstGeom>
          <a:noFill/>
          <a:ln/>
        </p:spPr>
        <p:txBody>
          <a:bodyPr wrap="square" lIns="0" tIns="0" rIns="0" bIns="0" rtlCol="0" anchor="ctr"/>
          <a:lstStyle/>
          <a:p>
            <a:pPr algn="ctr" indent="0" marL="0">
              <a:buNone/>
            </a:pPr>
            <a:r>
              <a:rPr lang="en-US" sz="1150" b="1" dirty="0">
                <a:solidFill>
                  <a:srgbClr val="BFD8F0"/>
                </a:solidFill>
                <a:latin typeface="Calibri" pitchFamily="34" charset="0"/>
                <a:ea typeface="Calibri" pitchFamily="34" charset="-122"/>
                <a:cs typeface="Calibri" pitchFamily="34" charset="-120"/>
              </a:rPr>
              <a:t>Clerk</a:t>
            </a:r>
            <a:endParaRPr lang="en-US" sz="1150" dirty="0"/>
          </a:p>
        </p:txBody>
      </p:sp>
      <p:sp>
        <p:nvSpPr>
          <p:cNvPr id="20" name="Text 18"/>
          <p:cNvSpPr txBox="1"/>
          <p:nvPr/>
        </p:nvSpPr>
        <p:spPr>
          <a:xfrm>
            <a:off x="640080" y="4800600"/>
            <a:ext cx="8686800" cy="1280160"/>
          </a:xfrm>
          <a:prstGeom prst="rect">
            <a:avLst/>
          </a:prstGeom>
          <a:noFill/>
          <a:ln/>
        </p:spPr>
        <p:txBody>
          <a:bodyPr wrap="square" lIns="0" tIns="0" rIns="0" bIns="0" rtlCol="0" anchor="ctr"/>
          <a:lstStyle/>
          <a:p>
            <a:pPr indent="0" marL="0">
              <a:lnSpc>
                <a:spcPts val="2000"/>
              </a:lnSpc>
              <a:buNone/>
            </a:pPr>
            <a:r>
              <a:rPr lang="en-US" sz="1100" dirty="0">
                <a:solidFill>
                  <a:srgbClr val="7E97AE"/>
                </a:solidFill>
                <a:latin typeface="Calibri" pitchFamily="34" charset="0"/>
                <a:ea typeface="Calibri" pitchFamily="34" charset="-122"/>
                <a:cs typeface="Calibri" pitchFamily="34" charset="-120"/>
              </a:rPr>
              <a:t>Presented by</a:t>
            </a:r>
            <a:endParaRPr lang="en-US" sz="1100" dirty="0"/>
          </a:p>
          <a:p>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Mowlid Haibe  ·  Abdinaazir Mustafe  ·  Elham Ahmedngus</a:t>
            </a:r>
            <a:endParaRPr lang="en-US" sz="1100" dirty="0"/>
          </a:p>
          <a:p>
            <a:pPr indent="0" marL="0">
              <a:lnSpc>
                <a:spcPts val="2000"/>
              </a:lnSpc>
              <a:buNone/>
            </a:pPr>
            <a:r>
              <a:rPr lang="en-US" sz="1200" dirty="0">
                <a:solidFill>
                  <a:srgbClr val="A9C2DA"/>
                </a:solidFill>
                <a:latin typeface="Calibri" pitchFamily="34" charset="0"/>
                <a:ea typeface="Calibri" pitchFamily="34" charset="-122"/>
                <a:cs typeface="Calibri" pitchFamily="34" charset="-120"/>
              </a:rPr>
              <a:t>Supervisor: Ts. Mohd Zulkifli Mohd Zaki — Faculty of CS &amp; IT</a:t>
            </a:r>
            <a:endParaRPr lang="en-US" sz="1100" dirty="0"/>
          </a:p>
          <a:p>
            <a:pPr indent="0" marL="0">
              <a:lnSpc>
                <a:spcPts val="2000"/>
              </a:lnSpc>
              <a:buNone/>
            </a:pPr>
            <a:r>
              <a:rPr lang="en-US" sz="1200" dirty="0">
                <a:solidFill>
                  <a:srgbClr val="6FB3E8"/>
                </a:solidFill>
                <a:latin typeface="Calibri" pitchFamily="34" charset="0"/>
                <a:ea typeface="Calibri" pitchFamily="34" charset="-122"/>
                <a:cs typeface="Calibri" pitchFamily="34" charset="-120"/>
              </a:rPr>
              <a:t>Albukhary International University (AIU)</a:t>
            </a:r>
            <a:endParaRPr lang="en-US" sz="1100" dirty="0"/>
          </a:p>
        </p:txBody>
      </p:sp>
      <p:sp>
        <p:nvSpPr>
          <p:cNvPr id="22" name="Text 19"/>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6E8BA8"/>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23" name="Text 20"/>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6E8BA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CONTENTS</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What this presentation covers</a:t>
            </a:r>
            <a:endParaRPr lang="en-US" sz="3400" dirty="0"/>
          </a:p>
        </p:txBody>
      </p:sp>
      <p:sp>
        <p:nvSpPr>
          <p:cNvPr id="4" name="Text 2"/>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5" name="Text 3"/>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600200"/>
            <a:ext cx="5272888" cy="896112"/>
          </a:xfrm>
          <a:prstGeom prst="roundRect">
            <a:avLst>
              <a:gd name="adj" fmla="val 9184"/>
            </a:avLst>
          </a:prstGeom>
          <a:solidFill>
            <a:srgbClr val="EAF2FA"/>
          </a:solidFill>
          <a:ln w="12700">
            <a:solidFill>
              <a:srgbClr val="D8E1EA"/>
            </a:solidFill>
            <a:prstDash val="solid"/>
          </a:ln>
        </p:spPr>
      </p:sp>
      <p:sp>
        <p:nvSpPr>
          <p:cNvPr id="8" name="Shape 5"/>
          <p:cNvSpPr/>
          <p:nvPr/>
        </p:nvSpPr>
        <p:spPr>
          <a:xfrm>
            <a:off x="877824" y="1856232"/>
            <a:ext cx="402336" cy="402336"/>
          </a:xfrm>
          <a:prstGeom prst="ellipse">
            <a:avLst/>
          </a:prstGeom>
          <a:solidFill>
            <a:srgbClr val="1464A8"/>
          </a:solidFill>
          <a:ln w="12700">
            <a:solidFill>
              <a:srgbClr val="1464A8"/>
            </a:solidFill>
            <a:prstDash val="solid"/>
          </a:ln>
        </p:spPr>
      </p:sp>
      <p:sp>
        <p:nvSpPr>
          <p:cNvPr id="9" name="Text 6"/>
          <p:cNvSpPr txBox="1"/>
          <p:nvPr/>
        </p:nvSpPr>
        <p:spPr>
          <a:xfrm>
            <a:off x="877824" y="18562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0" name="Text 7"/>
          <p:cNvSpPr txBox="1"/>
          <p:nvPr/>
        </p:nvSpPr>
        <p:spPr>
          <a:xfrm>
            <a:off x="1444752" y="1773936"/>
            <a:ext cx="4267048" cy="27432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The clinical problem</a:t>
            </a:r>
            <a:endParaRPr lang="en-US" sz="1500" dirty="0"/>
          </a:p>
        </p:txBody>
      </p:sp>
      <p:sp>
        <p:nvSpPr>
          <p:cNvPr id="11" name="Text 8"/>
          <p:cNvSpPr txBox="1"/>
          <p:nvPr/>
        </p:nvSpPr>
        <p:spPr>
          <a:xfrm>
            <a:off x="1444752" y="2057400"/>
            <a:ext cx="4267048" cy="292608"/>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Why vancomycin needs individualised dosing</a:t>
            </a:r>
            <a:endParaRPr lang="en-US" sz="1150" dirty="0"/>
          </a:p>
        </p:txBody>
      </p:sp>
      <p:sp>
        <p:nvSpPr>
          <p:cNvPr id="12" name="Shape 9"/>
          <p:cNvSpPr/>
          <p:nvPr/>
        </p:nvSpPr>
        <p:spPr>
          <a:xfrm>
            <a:off x="6278728" y="1600200"/>
            <a:ext cx="5272888" cy="896112"/>
          </a:xfrm>
          <a:prstGeom prst="roundRect">
            <a:avLst>
              <a:gd name="adj" fmla="val 9184"/>
            </a:avLst>
          </a:prstGeom>
          <a:solidFill>
            <a:srgbClr val="F4F6F8"/>
          </a:solidFill>
          <a:ln w="12700">
            <a:solidFill>
              <a:srgbClr val="D8E1EA"/>
            </a:solidFill>
            <a:prstDash val="solid"/>
          </a:ln>
        </p:spPr>
      </p:sp>
      <p:sp>
        <p:nvSpPr>
          <p:cNvPr id="13" name="Shape 10"/>
          <p:cNvSpPr/>
          <p:nvPr/>
        </p:nvSpPr>
        <p:spPr>
          <a:xfrm>
            <a:off x="6516472" y="1856232"/>
            <a:ext cx="402336" cy="402336"/>
          </a:xfrm>
          <a:prstGeom prst="ellipse">
            <a:avLst/>
          </a:prstGeom>
          <a:solidFill>
            <a:srgbClr val="1464A8"/>
          </a:solidFill>
          <a:ln w="12700">
            <a:solidFill>
              <a:srgbClr val="1464A8"/>
            </a:solidFill>
            <a:prstDash val="solid"/>
          </a:ln>
        </p:spPr>
      </p:sp>
      <p:sp>
        <p:nvSpPr>
          <p:cNvPr id="14" name="Text 11"/>
          <p:cNvSpPr txBox="1"/>
          <p:nvPr/>
        </p:nvSpPr>
        <p:spPr>
          <a:xfrm>
            <a:off x="6516472" y="18562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5" name="Text 12"/>
          <p:cNvSpPr txBox="1"/>
          <p:nvPr/>
        </p:nvSpPr>
        <p:spPr>
          <a:xfrm>
            <a:off x="7083400" y="1773936"/>
            <a:ext cx="4267048" cy="27432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The complete tech stack</a:t>
            </a:r>
            <a:endParaRPr lang="en-US" sz="1500" dirty="0"/>
          </a:p>
        </p:txBody>
      </p:sp>
      <p:sp>
        <p:nvSpPr>
          <p:cNvPr id="16" name="Text 13"/>
          <p:cNvSpPr txBox="1"/>
          <p:nvPr/>
        </p:nvSpPr>
        <p:spPr>
          <a:xfrm>
            <a:off x="7083400" y="2057400"/>
            <a:ext cx="4267048" cy="292608"/>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Android, backend, auth and the landing page</a:t>
            </a:r>
            <a:endParaRPr lang="en-US" sz="1150" dirty="0"/>
          </a:p>
        </p:txBody>
      </p:sp>
      <p:sp>
        <p:nvSpPr>
          <p:cNvPr id="17" name="Shape 14"/>
          <p:cNvSpPr/>
          <p:nvPr/>
        </p:nvSpPr>
        <p:spPr>
          <a:xfrm>
            <a:off x="640080" y="2697480"/>
            <a:ext cx="5272888" cy="896112"/>
          </a:xfrm>
          <a:prstGeom prst="roundRect">
            <a:avLst>
              <a:gd name="adj" fmla="val 9184"/>
            </a:avLst>
          </a:prstGeom>
          <a:solidFill>
            <a:srgbClr val="EAF2FA"/>
          </a:solidFill>
          <a:ln w="12700">
            <a:solidFill>
              <a:srgbClr val="D8E1EA"/>
            </a:solidFill>
            <a:prstDash val="solid"/>
          </a:ln>
        </p:spPr>
      </p:sp>
      <p:sp>
        <p:nvSpPr>
          <p:cNvPr id="18" name="Shape 15"/>
          <p:cNvSpPr/>
          <p:nvPr/>
        </p:nvSpPr>
        <p:spPr>
          <a:xfrm>
            <a:off x="877824" y="2953512"/>
            <a:ext cx="402336" cy="402336"/>
          </a:xfrm>
          <a:prstGeom prst="ellipse">
            <a:avLst/>
          </a:prstGeom>
          <a:solidFill>
            <a:srgbClr val="1464A8"/>
          </a:solidFill>
          <a:ln w="12700">
            <a:solidFill>
              <a:srgbClr val="1464A8"/>
            </a:solidFill>
            <a:prstDash val="solid"/>
          </a:ln>
        </p:spPr>
      </p:sp>
      <p:sp>
        <p:nvSpPr>
          <p:cNvPr id="19" name="Text 16"/>
          <p:cNvSpPr txBox="1"/>
          <p:nvPr/>
        </p:nvSpPr>
        <p:spPr>
          <a:xfrm>
            <a:off x="877824" y="2953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0" name="Text 17"/>
          <p:cNvSpPr txBox="1"/>
          <p:nvPr/>
        </p:nvSpPr>
        <p:spPr>
          <a:xfrm>
            <a:off x="1444752" y="2871216"/>
            <a:ext cx="4267048" cy="27432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System architecture</a:t>
            </a:r>
            <a:endParaRPr lang="en-US" sz="1500" dirty="0"/>
          </a:p>
        </p:txBody>
      </p:sp>
      <p:sp>
        <p:nvSpPr>
          <p:cNvPr id="21" name="Text 18"/>
          <p:cNvSpPr txBox="1"/>
          <p:nvPr/>
        </p:nvSpPr>
        <p:spPr>
          <a:xfrm>
            <a:off x="1444752" y="3154680"/>
            <a:ext cx="4267048" cy="292608"/>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The system diagram, the five layers, the dependency rule</a:t>
            </a:r>
            <a:endParaRPr lang="en-US" sz="1150" dirty="0"/>
          </a:p>
        </p:txBody>
      </p:sp>
      <p:sp>
        <p:nvSpPr>
          <p:cNvPr id="22" name="Shape 19"/>
          <p:cNvSpPr/>
          <p:nvPr/>
        </p:nvSpPr>
        <p:spPr>
          <a:xfrm>
            <a:off x="6278728" y="2697480"/>
            <a:ext cx="5272888" cy="896112"/>
          </a:xfrm>
          <a:prstGeom prst="roundRect">
            <a:avLst>
              <a:gd name="adj" fmla="val 9184"/>
            </a:avLst>
          </a:prstGeom>
          <a:solidFill>
            <a:srgbClr val="F4F6F8"/>
          </a:solidFill>
          <a:ln w="12700">
            <a:solidFill>
              <a:srgbClr val="D8E1EA"/>
            </a:solidFill>
            <a:prstDash val="solid"/>
          </a:ln>
        </p:spPr>
      </p:sp>
      <p:sp>
        <p:nvSpPr>
          <p:cNvPr id="23" name="Shape 20"/>
          <p:cNvSpPr/>
          <p:nvPr/>
        </p:nvSpPr>
        <p:spPr>
          <a:xfrm>
            <a:off x="6516472" y="2953512"/>
            <a:ext cx="402336" cy="402336"/>
          </a:xfrm>
          <a:prstGeom prst="ellipse">
            <a:avLst/>
          </a:prstGeom>
          <a:solidFill>
            <a:srgbClr val="1464A8"/>
          </a:solidFill>
          <a:ln w="12700">
            <a:solidFill>
              <a:srgbClr val="1464A8"/>
            </a:solidFill>
            <a:prstDash val="solid"/>
          </a:ln>
        </p:spPr>
      </p:sp>
      <p:sp>
        <p:nvSpPr>
          <p:cNvPr id="24" name="Text 21"/>
          <p:cNvSpPr txBox="1"/>
          <p:nvPr/>
        </p:nvSpPr>
        <p:spPr>
          <a:xfrm>
            <a:off x="6516472" y="2953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5" name="Text 22"/>
          <p:cNvSpPr txBox="1"/>
          <p:nvPr/>
        </p:nvSpPr>
        <p:spPr>
          <a:xfrm>
            <a:off x="7083400" y="2871216"/>
            <a:ext cx="4267048" cy="27432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The UI layer</a:t>
            </a:r>
            <a:endParaRPr lang="en-US" sz="1500" dirty="0"/>
          </a:p>
        </p:txBody>
      </p:sp>
      <p:sp>
        <p:nvSpPr>
          <p:cNvPr id="26" name="Text 23"/>
          <p:cNvSpPr txBox="1"/>
          <p:nvPr/>
        </p:nvSpPr>
        <p:spPr>
          <a:xfrm>
            <a:off x="7083400" y="3154680"/>
            <a:ext cx="4267048" cy="292608"/>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Jetpack Compose, state, Material 3, navigation</a:t>
            </a:r>
            <a:endParaRPr lang="en-US" sz="1150" dirty="0"/>
          </a:p>
        </p:txBody>
      </p:sp>
      <p:sp>
        <p:nvSpPr>
          <p:cNvPr id="27" name="Shape 24"/>
          <p:cNvSpPr/>
          <p:nvPr/>
        </p:nvSpPr>
        <p:spPr>
          <a:xfrm>
            <a:off x="640080" y="3794760"/>
            <a:ext cx="5272888" cy="896112"/>
          </a:xfrm>
          <a:prstGeom prst="roundRect">
            <a:avLst>
              <a:gd name="adj" fmla="val 9184"/>
            </a:avLst>
          </a:prstGeom>
          <a:solidFill>
            <a:srgbClr val="EAF2FA"/>
          </a:solidFill>
          <a:ln w="12700">
            <a:solidFill>
              <a:srgbClr val="D8E1EA"/>
            </a:solidFill>
            <a:prstDash val="solid"/>
          </a:ln>
        </p:spPr>
      </p:sp>
      <p:sp>
        <p:nvSpPr>
          <p:cNvPr id="28" name="Shape 25"/>
          <p:cNvSpPr/>
          <p:nvPr/>
        </p:nvSpPr>
        <p:spPr>
          <a:xfrm>
            <a:off x="877824" y="4050792"/>
            <a:ext cx="402336" cy="402336"/>
          </a:xfrm>
          <a:prstGeom prst="ellipse">
            <a:avLst/>
          </a:prstGeom>
          <a:solidFill>
            <a:srgbClr val="1464A8"/>
          </a:solidFill>
          <a:ln w="12700">
            <a:solidFill>
              <a:srgbClr val="1464A8"/>
            </a:solidFill>
            <a:prstDash val="solid"/>
          </a:ln>
        </p:spPr>
      </p:sp>
      <p:sp>
        <p:nvSpPr>
          <p:cNvPr id="29" name="Text 26"/>
          <p:cNvSpPr txBox="1"/>
          <p:nvPr/>
        </p:nvSpPr>
        <p:spPr>
          <a:xfrm>
            <a:off x="877824" y="40507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30" name="Text 27"/>
          <p:cNvSpPr txBox="1"/>
          <p:nvPr/>
        </p:nvSpPr>
        <p:spPr>
          <a:xfrm>
            <a:off x="1444752" y="3968496"/>
            <a:ext cx="4267048" cy="27432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Kotlin concepts &amp; variables</a:t>
            </a:r>
            <a:endParaRPr lang="en-US" sz="1500" dirty="0"/>
          </a:p>
        </p:txBody>
      </p:sp>
      <p:sp>
        <p:nvSpPr>
          <p:cNvPr id="31" name="Text 28"/>
          <p:cNvSpPr txBox="1"/>
          <p:nvPr/>
        </p:nvSpPr>
        <p:spPr>
          <a:xfrm>
            <a:off x="1444752" y="4251960"/>
            <a:ext cx="4267048" cy="292608"/>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The language features the app is built from</a:t>
            </a:r>
            <a:endParaRPr lang="en-US" sz="1150" dirty="0"/>
          </a:p>
        </p:txBody>
      </p:sp>
      <p:sp>
        <p:nvSpPr>
          <p:cNvPr id="32" name="Shape 29"/>
          <p:cNvSpPr/>
          <p:nvPr/>
        </p:nvSpPr>
        <p:spPr>
          <a:xfrm>
            <a:off x="6278728" y="3794760"/>
            <a:ext cx="5272888" cy="896112"/>
          </a:xfrm>
          <a:prstGeom prst="roundRect">
            <a:avLst>
              <a:gd name="adj" fmla="val 9184"/>
            </a:avLst>
          </a:prstGeom>
          <a:solidFill>
            <a:srgbClr val="F4F6F8"/>
          </a:solidFill>
          <a:ln w="12700">
            <a:solidFill>
              <a:srgbClr val="D8E1EA"/>
            </a:solidFill>
            <a:prstDash val="solid"/>
          </a:ln>
        </p:spPr>
      </p:sp>
      <p:sp>
        <p:nvSpPr>
          <p:cNvPr id="33" name="Shape 30"/>
          <p:cNvSpPr/>
          <p:nvPr/>
        </p:nvSpPr>
        <p:spPr>
          <a:xfrm>
            <a:off x="6516472" y="4050792"/>
            <a:ext cx="402336" cy="402336"/>
          </a:xfrm>
          <a:prstGeom prst="ellipse">
            <a:avLst/>
          </a:prstGeom>
          <a:solidFill>
            <a:srgbClr val="1464A8"/>
          </a:solidFill>
          <a:ln w="12700">
            <a:solidFill>
              <a:srgbClr val="1464A8"/>
            </a:solidFill>
            <a:prstDash val="solid"/>
          </a:ln>
        </p:spPr>
      </p:sp>
      <p:sp>
        <p:nvSpPr>
          <p:cNvPr id="34" name="Text 31"/>
          <p:cNvSpPr txBox="1"/>
          <p:nvPr/>
        </p:nvSpPr>
        <p:spPr>
          <a:xfrm>
            <a:off x="6516472" y="40507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5" name="Text 32"/>
          <p:cNvSpPr txBox="1"/>
          <p:nvPr/>
        </p:nvSpPr>
        <p:spPr>
          <a:xfrm>
            <a:off x="7083400" y="3968496"/>
            <a:ext cx="4267048" cy="27432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The calculation engine</a:t>
            </a:r>
            <a:endParaRPr lang="en-US" sz="1500" dirty="0"/>
          </a:p>
        </p:txBody>
      </p:sp>
      <p:sp>
        <p:nvSpPr>
          <p:cNvPr id="36" name="Text 33"/>
          <p:cNvSpPr txBox="1"/>
          <p:nvPr/>
        </p:nvSpPr>
        <p:spPr>
          <a:xfrm>
            <a:off x="7083400" y="4251960"/>
            <a:ext cx="4267048" cy="292608"/>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Formulas, workflow diagram, a worked example</a:t>
            </a:r>
            <a:endParaRPr lang="en-US" sz="1150" dirty="0"/>
          </a:p>
        </p:txBody>
      </p:sp>
      <p:sp>
        <p:nvSpPr>
          <p:cNvPr id="37" name="Shape 34"/>
          <p:cNvSpPr/>
          <p:nvPr/>
        </p:nvSpPr>
        <p:spPr>
          <a:xfrm>
            <a:off x="640080" y="4892040"/>
            <a:ext cx="5272888" cy="896112"/>
          </a:xfrm>
          <a:prstGeom prst="roundRect">
            <a:avLst>
              <a:gd name="adj" fmla="val 9184"/>
            </a:avLst>
          </a:prstGeom>
          <a:solidFill>
            <a:srgbClr val="EAF2FA"/>
          </a:solidFill>
          <a:ln w="12700">
            <a:solidFill>
              <a:srgbClr val="D8E1EA"/>
            </a:solidFill>
            <a:prstDash val="solid"/>
          </a:ln>
        </p:spPr>
      </p:sp>
      <p:sp>
        <p:nvSpPr>
          <p:cNvPr id="38" name="Shape 35"/>
          <p:cNvSpPr/>
          <p:nvPr/>
        </p:nvSpPr>
        <p:spPr>
          <a:xfrm>
            <a:off x="877824" y="5148072"/>
            <a:ext cx="402336" cy="402336"/>
          </a:xfrm>
          <a:prstGeom prst="ellipse">
            <a:avLst/>
          </a:prstGeom>
          <a:solidFill>
            <a:srgbClr val="1464A8"/>
          </a:solidFill>
          <a:ln w="12700">
            <a:solidFill>
              <a:srgbClr val="1464A8"/>
            </a:solidFill>
            <a:prstDash val="solid"/>
          </a:ln>
        </p:spPr>
      </p:sp>
      <p:sp>
        <p:nvSpPr>
          <p:cNvPr id="39" name="Text 36"/>
          <p:cNvSpPr txBox="1"/>
          <p:nvPr/>
        </p:nvSpPr>
        <p:spPr>
          <a:xfrm>
            <a:off x="877824" y="51480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0" name="Text 37"/>
          <p:cNvSpPr txBox="1"/>
          <p:nvPr/>
        </p:nvSpPr>
        <p:spPr>
          <a:xfrm>
            <a:off x="1444752" y="5065776"/>
            <a:ext cx="4267048" cy="27432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Backend &amp; database</a:t>
            </a:r>
            <a:endParaRPr lang="en-US" sz="1500" dirty="0"/>
          </a:p>
        </p:txBody>
      </p:sp>
      <p:sp>
        <p:nvSpPr>
          <p:cNvPr id="41" name="Text 38"/>
          <p:cNvSpPr txBox="1"/>
          <p:nvPr/>
        </p:nvSpPr>
        <p:spPr>
          <a:xfrm>
            <a:off x="1444752" y="5349240"/>
            <a:ext cx="4267048" cy="292608"/>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Supabase PostgreSQL, schema, persistence flow</a:t>
            </a:r>
            <a:endParaRPr lang="en-US" sz="1150" dirty="0"/>
          </a:p>
        </p:txBody>
      </p:sp>
      <p:sp>
        <p:nvSpPr>
          <p:cNvPr id="42" name="Shape 39"/>
          <p:cNvSpPr/>
          <p:nvPr/>
        </p:nvSpPr>
        <p:spPr>
          <a:xfrm>
            <a:off x="6278728" y="4892040"/>
            <a:ext cx="5272888" cy="896112"/>
          </a:xfrm>
          <a:prstGeom prst="roundRect">
            <a:avLst>
              <a:gd name="adj" fmla="val 9184"/>
            </a:avLst>
          </a:prstGeom>
          <a:solidFill>
            <a:srgbClr val="F4F6F8"/>
          </a:solidFill>
          <a:ln w="12700">
            <a:solidFill>
              <a:srgbClr val="D8E1EA"/>
            </a:solidFill>
            <a:prstDash val="solid"/>
          </a:ln>
        </p:spPr>
      </p:sp>
      <p:sp>
        <p:nvSpPr>
          <p:cNvPr id="43" name="Shape 40"/>
          <p:cNvSpPr/>
          <p:nvPr/>
        </p:nvSpPr>
        <p:spPr>
          <a:xfrm>
            <a:off x="6516472" y="5148072"/>
            <a:ext cx="402336" cy="402336"/>
          </a:xfrm>
          <a:prstGeom prst="ellipse">
            <a:avLst/>
          </a:prstGeom>
          <a:solidFill>
            <a:srgbClr val="1464A8"/>
          </a:solidFill>
          <a:ln w="12700">
            <a:solidFill>
              <a:srgbClr val="1464A8"/>
            </a:solidFill>
            <a:prstDash val="solid"/>
          </a:ln>
        </p:spPr>
      </p:sp>
      <p:sp>
        <p:nvSpPr>
          <p:cNvPr id="44" name="Text 41"/>
          <p:cNvSpPr txBox="1"/>
          <p:nvPr/>
        </p:nvSpPr>
        <p:spPr>
          <a:xfrm>
            <a:off x="6516472" y="51480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5" name="Text 42"/>
          <p:cNvSpPr txBox="1"/>
          <p:nvPr/>
        </p:nvSpPr>
        <p:spPr>
          <a:xfrm>
            <a:off x="7083400" y="5065776"/>
            <a:ext cx="4267048" cy="27432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Authentication &amp; security</a:t>
            </a:r>
            <a:endParaRPr lang="en-US" sz="1500" dirty="0"/>
          </a:p>
        </p:txBody>
      </p:sp>
      <p:sp>
        <p:nvSpPr>
          <p:cNvPr id="46" name="Text 43"/>
          <p:cNvSpPr txBox="1"/>
          <p:nvPr/>
        </p:nvSpPr>
        <p:spPr>
          <a:xfrm>
            <a:off x="7083400" y="5349240"/>
            <a:ext cx="4267048" cy="292608"/>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Clerk, OAuth, and credential management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01 · THE PROBLEM</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Why vancomycin dosing cannot be one-size-fits-all</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Vancomycin is a narrow-therapeutic-index antibiotic: too little fails the infection, too much damages the kidneys.</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3</a:t>
            </a:r>
            <a:endParaRPr lang="en-US" sz="900" dirty="0"/>
          </a:p>
        </p:txBody>
      </p:sp>
      <p:sp>
        <p:nvSpPr>
          <p:cNvPr id="8" name="Text 5"/>
          <p:cNvSpPr txBox="1"/>
          <p:nvPr/>
        </p:nvSpPr>
        <p:spPr>
          <a:xfrm>
            <a:off x="640080" y="1691640"/>
            <a:ext cx="5943600" cy="2011680"/>
          </a:xfrm>
          <a:prstGeom prst="rect">
            <a:avLst/>
          </a:prstGeom>
          <a:noFill/>
          <a:ln/>
        </p:spPr>
        <p:txBody>
          <a:bodyPr wrap="square" lIns="0" tIns="0" rIns="0" bIns="0" rtlCol="0" anchor="ctr"/>
          <a:lstStyle/>
          <a:p>
            <a:pPr marL="342900" indent="-342900">
              <a:spcAft>
                <a:spcPts val="700"/>
              </a:spcAft>
              <a:buSzPct val="100000"/>
              <a:buChar char="•"/>
            </a:pPr>
            <a:r>
              <a:rPr lang="en-US" sz="1450" dirty="0">
                <a:solidFill>
                  <a:srgbClr val="26323F"/>
                </a:solidFill>
                <a:latin typeface="Calibri" pitchFamily="34" charset="0"/>
                <a:ea typeface="Calibri" pitchFamily="34" charset="-122"/>
                <a:cs typeface="Calibri" pitchFamily="34" charset="-120"/>
              </a:rPr>
              <a:t>Efficacy and toxicity both track the AUC₂₄/MIC ratio, not a single trough number.</a:t>
            </a:r>
            <a:endParaRPr lang="en-US" sz="1450" dirty="0"/>
          </a:p>
          <a:p>
            <a:pPr marL="342900" indent="-342900">
              <a:spcAft>
                <a:spcPts val="700"/>
              </a:spcAft>
              <a:buSzPct val="100000"/>
              <a:buChar char="•"/>
            </a:pPr>
            <a:r>
              <a:rPr lang="en-US" sz="1450" dirty="0">
                <a:solidFill>
                  <a:srgbClr val="26323F"/>
                </a:solidFill>
                <a:latin typeface="Calibri" pitchFamily="34" charset="0"/>
                <a:ea typeface="Calibri" pitchFamily="34" charset="-122"/>
                <a:cs typeface="Calibri" pitchFamily="34" charset="-120"/>
              </a:rPr>
              <a:t>The 2020 Rybak guidelines set an AUC₂₄ target of 400–600 mg·h/L.</a:t>
            </a:r>
            <a:endParaRPr lang="en-US" sz="1450" dirty="0"/>
          </a:p>
          <a:p>
            <a:pPr marL="342900" indent="-342900">
              <a:spcAft>
                <a:spcPts val="700"/>
              </a:spcAft>
              <a:buSzPct val="100000"/>
              <a:buChar char="•"/>
            </a:pPr>
            <a:r>
              <a:rPr lang="en-US" sz="1450" dirty="0">
                <a:solidFill>
                  <a:srgbClr val="26323F"/>
                </a:solidFill>
                <a:latin typeface="Calibri" pitchFamily="34" charset="0"/>
                <a:ea typeface="Calibri" pitchFamily="34" charset="-122"/>
                <a:cs typeface="Calibri" pitchFamily="34" charset="-120"/>
              </a:rPr>
              <a:t>Every patient clears the drug differently — weight, age, sex and renal function all change the answer.</a:t>
            </a:r>
            <a:endParaRPr lang="en-US" sz="1450" dirty="0"/>
          </a:p>
          <a:p>
            <a:pPr marL="342900" indent="-342900">
              <a:spcAft>
                <a:spcPts val="700"/>
              </a:spcAft>
              <a:buSzPct val="100000"/>
              <a:buChar char="•"/>
            </a:pPr>
            <a:r>
              <a:rPr lang="en-US" sz="1450" dirty="0">
                <a:solidFill>
                  <a:srgbClr val="26323F"/>
                </a:solidFill>
                <a:latin typeface="Calibri" pitchFamily="34" charset="0"/>
                <a:ea typeface="Calibri" pitchFamily="34" charset="-122"/>
                <a:cs typeface="Calibri" pitchFamily="34" charset="-120"/>
              </a:rPr>
              <a:t>Ward calculations are done by hand: slow, error-prone, and hard for students to learn from.</a:t>
            </a:r>
            <a:endParaRPr lang="en-US" sz="1450" dirty="0"/>
          </a:p>
        </p:txBody>
      </p:sp>
      <p:sp>
        <p:nvSpPr>
          <p:cNvPr id="9" name="Shape 6"/>
          <p:cNvSpPr/>
          <p:nvPr/>
        </p:nvSpPr>
        <p:spPr>
          <a:xfrm>
            <a:off x="640080" y="3977640"/>
            <a:ext cx="5943600" cy="2148840"/>
          </a:xfrm>
          <a:prstGeom prst="roundRect">
            <a:avLst>
              <a:gd name="adj" fmla="val 3830"/>
            </a:avLst>
          </a:prstGeom>
          <a:solidFill>
            <a:srgbClr val="EAF2FA"/>
          </a:solidFill>
          <a:ln w="12700">
            <a:solidFill>
              <a:srgbClr val="EAF2FA"/>
            </a:solidFill>
            <a:prstDash val="solid"/>
          </a:ln>
        </p:spPr>
      </p:sp>
      <p:sp>
        <p:nvSpPr>
          <p:cNvPr id="10" name="Text 7"/>
          <p:cNvSpPr txBox="1"/>
          <p:nvPr/>
        </p:nvSpPr>
        <p:spPr>
          <a:xfrm>
            <a:off x="914400" y="4160520"/>
            <a:ext cx="5394960" cy="274320"/>
          </a:xfrm>
          <a:prstGeom prst="rect">
            <a:avLst/>
          </a:prstGeom>
          <a:noFill/>
          <a:ln/>
        </p:spPr>
        <p:txBody>
          <a:bodyPr wrap="square" lIns="0" tIns="0" rIns="0" bIns="0" rtlCol="0" anchor="ctr"/>
          <a:lstStyle/>
          <a:p>
            <a:pPr indent="0" marL="0">
              <a:buNone/>
            </a:pPr>
            <a:r>
              <a:rPr lang="en-US" sz="1300" b="1" dirty="0">
                <a:solidFill>
                  <a:srgbClr val="073A6B"/>
                </a:solidFill>
                <a:latin typeface="Calibri" pitchFamily="34" charset="0"/>
                <a:ea typeface="Calibri" pitchFamily="34" charset="-122"/>
                <a:cs typeface="Calibri" pitchFamily="34" charset="-120"/>
              </a:rPr>
              <a:t>So the app must…</a:t>
            </a:r>
            <a:endParaRPr lang="en-US" sz="1300" dirty="0"/>
          </a:p>
        </p:txBody>
      </p:sp>
      <p:sp>
        <p:nvSpPr>
          <p:cNvPr id="11" name="Text 8"/>
          <p:cNvSpPr txBox="1"/>
          <p:nvPr/>
        </p:nvSpPr>
        <p:spPr>
          <a:xfrm>
            <a:off x="914400" y="4480560"/>
            <a:ext cx="5394960" cy="146304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073A6B"/>
                </a:solidFill>
                <a:latin typeface="Calibri" pitchFamily="34" charset="0"/>
                <a:ea typeface="Calibri" pitchFamily="34" charset="-122"/>
                <a:cs typeface="Calibri" pitchFamily="34" charset="-120"/>
              </a:rPr>
              <a:t>Take patient data + measured drug concentrations</a:t>
            </a:r>
            <a:endParaRPr lang="en-US" sz="1250" dirty="0"/>
          </a:p>
          <a:p>
            <a:pPr marL="342900" indent="-342900">
              <a:spcAft>
                <a:spcPts val="700"/>
              </a:spcAft>
              <a:buSzPct val="100000"/>
              <a:buChar char="•"/>
            </a:pPr>
            <a:r>
              <a:rPr lang="en-US" sz="1250" dirty="0">
                <a:solidFill>
                  <a:srgbClr val="073A6B"/>
                </a:solidFill>
                <a:latin typeface="Calibri" pitchFamily="34" charset="0"/>
                <a:ea typeface="Calibri" pitchFamily="34" charset="-122"/>
                <a:cs typeface="Calibri" pitchFamily="34" charset="-120"/>
              </a:rPr>
              <a:t>Fit a one-compartment pharmacokinetic model</a:t>
            </a:r>
            <a:endParaRPr lang="en-US" sz="1250" dirty="0"/>
          </a:p>
          <a:p>
            <a:pPr marL="342900" indent="-342900">
              <a:spcAft>
                <a:spcPts val="700"/>
              </a:spcAft>
              <a:buSzPct val="100000"/>
              <a:buChar char="•"/>
            </a:pPr>
            <a:r>
              <a:rPr lang="en-US" sz="1250" dirty="0">
                <a:solidFill>
                  <a:srgbClr val="073A6B"/>
                </a:solidFill>
                <a:latin typeface="Calibri" pitchFamily="34" charset="0"/>
                <a:ea typeface="Calibri" pitchFamily="34" charset="-122"/>
                <a:cs typeface="Calibri" pitchFamily="34" charset="-120"/>
              </a:rPr>
              <a:t>Report AUC₂₄ with a target verdict and a recommended dose</a:t>
            </a:r>
            <a:endParaRPr lang="en-US" sz="1250" dirty="0"/>
          </a:p>
          <a:p>
            <a:pPr marL="342900" indent="-342900">
              <a:spcAft>
                <a:spcPts val="700"/>
              </a:spcAft>
              <a:buSzPct val="100000"/>
              <a:buChar char="•"/>
            </a:pPr>
            <a:r>
              <a:rPr lang="en-US" sz="1250" dirty="0">
                <a:solidFill>
                  <a:srgbClr val="073A6B"/>
                </a:solidFill>
                <a:latin typeface="Calibri" pitchFamily="34" charset="0"/>
                <a:ea typeface="Calibri" pitchFamily="34" charset="-122"/>
                <a:cs typeface="Calibri" pitchFamily="34" charset="-120"/>
              </a:rPr>
              <a:t>Show every formula, so it teaches instead of just answering</a:t>
            </a:r>
            <a:endParaRPr lang="en-US" sz="1250" dirty="0"/>
          </a:p>
        </p:txBody>
      </p:sp>
      <p:sp>
        <p:nvSpPr>
          <p:cNvPr id="12" name="Shape 9"/>
          <p:cNvSpPr/>
          <p:nvPr/>
        </p:nvSpPr>
        <p:spPr>
          <a:xfrm>
            <a:off x="6858000" y="1691640"/>
            <a:ext cx="4693615" cy="4434840"/>
          </a:xfrm>
          <a:prstGeom prst="roundRect">
            <a:avLst>
              <a:gd name="adj" fmla="val 1856"/>
            </a:avLst>
          </a:prstGeom>
          <a:solidFill>
            <a:srgbClr val="0B2545"/>
          </a:solidFill>
          <a:ln w="12700">
            <a:solidFill>
              <a:srgbClr val="0B2545"/>
            </a:solidFill>
            <a:prstDash val="solid"/>
          </a:ln>
        </p:spPr>
      </p:sp>
      <p:sp>
        <p:nvSpPr>
          <p:cNvPr id="13" name="Text 10"/>
          <p:cNvSpPr txBox="1"/>
          <p:nvPr/>
        </p:nvSpPr>
        <p:spPr>
          <a:xfrm>
            <a:off x="7178040" y="1920240"/>
            <a:ext cx="4053535" cy="256032"/>
          </a:xfrm>
          <a:prstGeom prst="rect">
            <a:avLst/>
          </a:prstGeom>
          <a:noFill/>
          <a:ln/>
        </p:spPr>
        <p:txBody>
          <a:bodyPr wrap="square" lIns="0" tIns="0" rIns="0" bIns="0" rtlCol="0" anchor="ctr"/>
          <a:lstStyle/>
          <a:p>
            <a:pPr indent="0" marL="0">
              <a:buNone/>
            </a:pPr>
            <a:r>
              <a:rPr lang="en-US" sz="1050" b="1" spc="200" kern="0" dirty="0">
                <a:solidFill>
                  <a:srgbClr val="6FB3E8"/>
                </a:solidFill>
                <a:latin typeface="Calibri" pitchFamily="34" charset="0"/>
                <a:ea typeface="Calibri" pitchFamily="34" charset="-122"/>
                <a:cs typeface="Calibri" pitchFamily="34" charset="-120"/>
              </a:rPr>
              <a:t>AUC₂₄ TARGET BAND</a:t>
            </a:r>
            <a:endParaRPr lang="en-US" sz="1050" dirty="0"/>
          </a:p>
        </p:txBody>
      </p:sp>
      <p:sp>
        <p:nvSpPr>
          <p:cNvPr id="14" name="Shape 11"/>
          <p:cNvSpPr/>
          <p:nvPr/>
        </p:nvSpPr>
        <p:spPr>
          <a:xfrm>
            <a:off x="7178040" y="2331720"/>
            <a:ext cx="4053535" cy="694944"/>
          </a:xfrm>
          <a:prstGeom prst="roundRect">
            <a:avLst>
              <a:gd name="adj" fmla="val 11842"/>
            </a:avLst>
          </a:prstGeom>
          <a:solidFill>
            <a:srgbClr val="13304C"/>
          </a:solidFill>
          <a:ln w="12700">
            <a:solidFill>
              <a:srgbClr val="13304C"/>
            </a:solidFill>
            <a:prstDash val="solid"/>
          </a:ln>
        </p:spPr>
      </p:sp>
      <p:sp>
        <p:nvSpPr>
          <p:cNvPr id="15" name="Text 12"/>
          <p:cNvSpPr txBox="1"/>
          <p:nvPr/>
        </p:nvSpPr>
        <p:spPr>
          <a:xfrm>
            <a:off x="7315200" y="2386584"/>
            <a:ext cx="1371600" cy="585216"/>
          </a:xfrm>
          <a:prstGeom prst="rect">
            <a:avLst/>
          </a:prstGeom>
          <a:noFill/>
          <a:ln/>
        </p:spPr>
        <p:txBody>
          <a:bodyPr wrap="square" lIns="0" tIns="0" rIns="0" bIns="0" rtlCol="0" anchor="ctr"/>
          <a:lstStyle/>
          <a:p>
            <a:pPr indent="0" marL="0">
              <a:buNone/>
            </a:pPr>
            <a:r>
              <a:rPr lang="en-US" sz="1500" b="1" dirty="0">
                <a:solidFill>
                  <a:srgbClr val="B3261E"/>
                </a:solidFill>
                <a:latin typeface="Courier New" pitchFamily="34" charset="0"/>
                <a:ea typeface="Courier New" pitchFamily="34" charset="-122"/>
                <a:cs typeface="Courier New" pitchFamily="34" charset="-120"/>
              </a:rPr>
              <a:t>&gt; 600</a:t>
            </a:r>
            <a:endParaRPr lang="en-US" sz="1500" dirty="0"/>
          </a:p>
        </p:txBody>
      </p:sp>
      <p:sp>
        <p:nvSpPr>
          <p:cNvPr id="16" name="Text 13"/>
          <p:cNvSpPr txBox="1"/>
          <p:nvPr/>
        </p:nvSpPr>
        <p:spPr>
          <a:xfrm>
            <a:off x="8686800" y="2386584"/>
            <a:ext cx="2499055" cy="585216"/>
          </a:xfrm>
          <a:prstGeom prst="rect">
            <a:avLst/>
          </a:prstGeom>
          <a:noFill/>
          <a:ln/>
        </p:spPr>
        <p:txBody>
          <a:bodyPr wrap="square" lIns="0" tIns="0" rIns="0" bIns="0" rtlCol="0" anchor="ctr"/>
          <a:lstStyle/>
          <a:p>
            <a:pPr indent="0" marL="0">
              <a:buNone/>
            </a:pPr>
            <a:r>
              <a:rPr lang="en-US" sz="1200" dirty="0">
                <a:solidFill>
                  <a:srgbClr val="D2E2F0"/>
                </a:solidFill>
                <a:latin typeface="Calibri" pitchFamily="34" charset="0"/>
                <a:ea typeface="Calibri" pitchFamily="34" charset="-122"/>
                <a:cs typeface="Calibri" pitchFamily="34" charset="-120"/>
              </a:rPr>
              <a:t>Above target — nephrotoxicity risk</a:t>
            </a:r>
            <a:endParaRPr lang="en-US" sz="1200" dirty="0"/>
          </a:p>
        </p:txBody>
      </p:sp>
      <p:sp>
        <p:nvSpPr>
          <p:cNvPr id="17" name="Shape 14"/>
          <p:cNvSpPr/>
          <p:nvPr/>
        </p:nvSpPr>
        <p:spPr>
          <a:xfrm>
            <a:off x="7178040" y="3172968"/>
            <a:ext cx="4053535" cy="694944"/>
          </a:xfrm>
          <a:prstGeom prst="roundRect">
            <a:avLst>
              <a:gd name="adj" fmla="val 11842"/>
            </a:avLst>
          </a:prstGeom>
          <a:solidFill>
            <a:srgbClr val="0E3A52"/>
          </a:solidFill>
          <a:ln w="12700">
            <a:solidFill>
              <a:srgbClr val="0E3A52"/>
            </a:solidFill>
            <a:prstDash val="solid"/>
          </a:ln>
        </p:spPr>
      </p:sp>
      <p:sp>
        <p:nvSpPr>
          <p:cNvPr id="18" name="Text 15"/>
          <p:cNvSpPr txBox="1"/>
          <p:nvPr/>
        </p:nvSpPr>
        <p:spPr>
          <a:xfrm>
            <a:off x="7315200" y="3227832"/>
            <a:ext cx="1371600" cy="585216"/>
          </a:xfrm>
          <a:prstGeom prst="rect">
            <a:avLst/>
          </a:prstGeom>
          <a:noFill/>
          <a:ln/>
        </p:spPr>
        <p:txBody>
          <a:bodyPr wrap="square" lIns="0" tIns="0" rIns="0" bIns="0" rtlCol="0" anchor="ctr"/>
          <a:lstStyle/>
          <a:p>
            <a:pPr indent="0" marL="0">
              <a:buNone/>
            </a:pPr>
            <a:r>
              <a:rPr lang="en-US" sz="1500" b="1" dirty="0">
                <a:solidFill>
                  <a:srgbClr val="00A896"/>
                </a:solidFill>
                <a:latin typeface="Courier New" pitchFamily="34" charset="0"/>
                <a:ea typeface="Courier New" pitchFamily="34" charset="-122"/>
                <a:cs typeface="Courier New" pitchFamily="34" charset="-120"/>
              </a:rPr>
              <a:t>400 – 600</a:t>
            </a:r>
            <a:endParaRPr lang="en-US" sz="1500" dirty="0"/>
          </a:p>
        </p:txBody>
      </p:sp>
      <p:sp>
        <p:nvSpPr>
          <p:cNvPr id="19" name="Text 16"/>
          <p:cNvSpPr txBox="1"/>
          <p:nvPr/>
        </p:nvSpPr>
        <p:spPr>
          <a:xfrm>
            <a:off x="8686800" y="3227832"/>
            <a:ext cx="2499055" cy="585216"/>
          </a:xfrm>
          <a:prstGeom prst="rect">
            <a:avLst/>
          </a:prstGeom>
          <a:noFill/>
          <a:ln/>
        </p:spPr>
        <p:txBody>
          <a:bodyPr wrap="square" lIns="0" tIns="0" rIns="0" bIns="0" rtlCol="0" anchor="ctr"/>
          <a:lstStyle/>
          <a:p>
            <a:pPr indent="0" marL="0">
              <a:buNone/>
            </a:pPr>
            <a:r>
              <a:rPr lang="en-US" sz="1200" dirty="0">
                <a:solidFill>
                  <a:srgbClr val="D2E2F0"/>
                </a:solidFill>
                <a:latin typeface="Calibri" pitchFamily="34" charset="0"/>
                <a:ea typeface="Calibri" pitchFamily="34" charset="-122"/>
                <a:cs typeface="Calibri" pitchFamily="34" charset="-120"/>
              </a:rPr>
              <a:t>In target — therapeutic</a:t>
            </a:r>
            <a:endParaRPr lang="en-US" sz="1200" dirty="0"/>
          </a:p>
        </p:txBody>
      </p:sp>
      <p:sp>
        <p:nvSpPr>
          <p:cNvPr id="20" name="Shape 17"/>
          <p:cNvSpPr/>
          <p:nvPr/>
        </p:nvSpPr>
        <p:spPr>
          <a:xfrm>
            <a:off x="7178040" y="4014216"/>
            <a:ext cx="4053535" cy="694944"/>
          </a:xfrm>
          <a:prstGeom prst="roundRect">
            <a:avLst>
              <a:gd name="adj" fmla="val 11842"/>
            </a:avLst>
          </a:prstGeom>
          <a:solidFill>
            <a:srgbClr val="13304C"/>
          </a:solidFill>
          <a:ln w="12700">
            <a:solidFill>
              <a:srgbClr val="13304C"/>
            </a:solidFill>
            <a:prstDash val="solid"/>
          </a:ln>
        </p:spPr>
      </p:sp>
      <p:sp>
        <p:nvSpPr>
          <p:cNvPr id="21" name="Text 18"/>
          <p:cNvSpPr txBox="1"/>
          <p:nvPr/>
        </p:nvSpPr>
        <p:spPr>
          <a:xfrm>
            <a:off x="7315200" y="4069080"/>
            <a:ext cx="1371600" cy="585216"/>
          </a:xfrm>
          <a:prstGeom prst="rect">
            <a:avLst/>
          </a:prstGeom>
          <a:noFill/>
          <a:ln/>
        </p:spPr>
        <p:txBody>
          <a:bodyPr wrap="square" lIns="0" tIns="0" rIns="0" bIns="0" rtlCol="0" anchor="ctr"/>
          <a:lstStyle/>
          <a:p>
            <a:pPr indent="0" marL="0">
              <a:buNone/>
            </a:pPr>
            <a:r>
              <a:rPr lang="en-US" sz="1500" b="1" dirty="0">
                <a:solidFill>
                  <a:srgbClr val="B26B00"/>
                </a:solidFill>
                <a:latin typeface="Courier New" pitchFamily="34" charset="0"/>
                <a:ea typeface="Courier New" pitchFamily="34" charset="-122"/>
                <a:cs typeface="Courier New" pitchFamily="34" charset="-120"/>
              </a:rPr>
              <a:t>&lt; 400</a:t>
            </a:r>
            <a:endParaRPr lang="en-US" sz="1500" dirty="0"/>
          </a:p>
        </p:txBody>
      </p:sp>
      <p:sp>
        <p:nvSpPr>
          <p:cNvPr id="22" name="Text 19"/>
          <p:cNvSpPr txBox="1"/>
          <p:nvPr/>
        </p:nvSpPr>
        <p:spPr>
          <a:xfrm>
            <a:off x="8686800" y="4069080"/>
            <a:ext cx="2499055" cy="585216"/>
          </a:xfrm>
          <a:prstGeom prst="rect">
            <a:avLst/>
          </a:prstGeom>
          <a:noFill/>
          <a:ln/>
        </p:spPr>
        <p:txBody>
          <a:bodyPr wrap="square" lIns="0" tIns="0" rIns="0" bIns="0" rtlCol="0" anchor="ctr"/>
          <a:lstStyle/>
          <a:p>
            <a:pPr indent="0" marL="0">
              <a:buNone/>
            </a:pPr>
            <a:r>
              <a:rPr lang="en-US" sz="1200" dirty="0">
                <a:solidFill>
                  <a:srgbClr val="D2E2F0"/>
                </a:solidFill>
                <a:latin typeface="Calibri" pitchFamily="34" charset="0"/>
                <a:ea typeface="Calibri" pitchFamily="34" charset="-122"/>
                <a:cs typeface="Calibri" pitchFamily="34" charset="-120"/>
              </a:rPr>
              <a:t>Below target — treatment failure</a:t>
            </a:r>
            <a:endParaRPr lang="en-US" sz="1200" dirty="0"/>
          </a:p>
        </p:txBody>
      </p:sp>
      <p:sp>
        <p:nvSpPr>
          <p:cNvPr id="23" name="Text 20"/>
          <p:cNvSpPr txBox="1"/>
          <p:nvPr/>
        </p:nvSpPr>
        <p:spPr>
          <a:xfrm>
            <a:off x="7178040" y="5074920"/>
            <a:ext cx="4053535" cy="274320"/>
          </a:xfrm>
          <a:prstGeom prst="rect">
            <a:avLst/>
          </a:prstGeom>
          <a:noFill/>
          <a:ln/>
        </p:spPr>
        <p:txBody>
          <a:bodyPr wrap="square" lIns="0" tIns="0" rIns="0" bIns="0" rtlCol="0" anchor="ctr"/>
          <a:lstStyle/>
          <a:p>
            <a:pPr indent="0" marL="0">
              <a:buNone/>
            </a:pPr>
            <a:r>
              <a:rPr lang="en-US" sz="1000" i="1" dirty="0">
                <a:solidFill>
                  <a:srgbClr val="7E97AE"/>
                </a:solidFill>
                <a:latin typeface="Calibri" pitchFamily="34" charset="0"/>
                <a:ea typeface="Calibri" pitchFamily="34" charset="-122"/>
                <a:cs typeface="Calibri" pitchFamily="34" charset="-120"/>
              </a:rPr>
              <a:t>Rybak MJ et al., Am J Health-Syst Pharm, 2020</a:t>
            </a:r>
            <a:endParaRPr lang="en-US" sz="1000" dirty="0"/>
          </a:p>
        </p:txBody>
      </p:sp>
      <p:sp>
        <p:nvSpPr>
          <p:cNvPr id="24" name="Text 21"/>
          <p:cNvSpPr txBox="1"/>
          <p:nvPr/>
        </p:nvSpPr>
        <p:spPr>
          <a:xfrm>
            <a:off x="7178040" y="5440680"/>
            <a:ext cx="4053535" cy="457200"/>
          </a:xfrm>
          <a:prstGeom prst="rect">
            <a:avLst/>
          </a:prstGeom>
          <a:noFill/>
          <a:ln/>
        </p:spPr>
        <p:txBody>
          <a:bodyPr wrap="square" lIns="0" tIns="0" rIns="0" bIns="0" rtlCol="0" anchor="ctr"/>
          <a:lstStyle/>
          <a:p>
            <a:pPr indent="0" marL="0">
              <a:buNone/>
            </a:pPr>
            <a:r>
              <a:rPr lang="en-US" sz="1100" b="1" dirty="0">
                <a:solidFill>
                  <a:srgbClr val="9FBBD4"/>
                </a:solidFill>
                <a:latin typeface="Calibri" pitchFamily="34" charset="0"/>
                <a:ea typeface="Calibri" pitchFamily="34" charset="-122"/>
                <a:cs typeface="Calibri" pitchFamily="34" charset="-120"/>
              </a:rPr>
              <a:t>Educational tool — fictional patient data only.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01 · THE SOLUTION</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What TDM Insight delivers</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One offline-capable Android app that takes a case from raw patient data to an explained dosing recommendation.</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4</a:t>
            </a:r>
            <a:endParaRPr lang="en-US" sz="900" dirty="0"/>
          </a:p>
        </p:txBody>
      </p:sp>
      <p:sp>
        <p:nvSpPr>
          <p:cNvPr id="8" name="Shape 5"/>
          <p:cNvSpPr/>
          <p:nvPr/>
        </p:nvSpPr>
        <p:spPr>
          <a:xfrm>
            <a:off x="640080" y="1691640"/>
            <a:ext cx="2625014" cy="1508760"/>
          </a:xfrm>
          <a:prstGeom prst="roundRect">
            <a:avLst>
              <a:gd name="adj" fmla="val 5455"/>
            </a:avLst>
          </a:prstGeom>
          <a:solidFill>
            <a:srgbClr val="EAF2FA"/>
          </a:solidFill>
          <a:ln w="12700">
            <a:solidFill>
              <a:srgbClr val="D8E1EA"/>
            </a:solidFill>
            <a:prstDash val="solid"/>
          </a:ln>
        </p:spPr>
      </p:sp>
      <p:sp>
        <p:nvSpPr>
          <p:cNvPr id="9" name="Text 6"/>
          <p:cNvSpPr txBox="1"/>
          <p:nvPr/>
        </p:nvSpPr>
        <p:spPr>
          <a:xfrm>
            <a:off x="841248" y="1783080"/>
            <a:ext cx="2222678" cy="658368"/>
          </a:xfrm>
          <a:prstGeom prst="rect">
            <a:avLst/>
          </a:prstGeom>
          <a:noFill/>
          <a:ln/>
        </p:spPr>
        <p:txBody>
          <a:bodyPr wrap="square" lIns="0" tIns="0" rIns="0" bIns="0" rtlCol="0" anchor="ctr"/>
          <a:lstStyle/>
          <a:p>
            <a:pPr indent="0" marL="0">
              <a:buNone/>
            </a:pPr>
            <a:r>
              <a:rPr lang="en-US" sz="4600" b="1" dirty="0">
                <a:solidFill>
                  <a:srgbClr val="1464A8"/>
                </a:solidFill>
                <a:latin typeface="Cambria" pitchFamily="34" charset="0"/>
                <a:ea typeface="Cambria" pitchFamily="34" charset="-122"/>
                <a:cs typeface="Cambria" pitchFamily="34" charset="-120"/>
              </a:rPr>
              <a:t>3</a:t>
            </a:r>
            <a:endParaRPr lang="en-US" sz="4600" dirty="0"/>
          </a:p>
        </p:txBody>
      </p:sp>
      <p:sp>
        <p:nvSpPr>
          <p:cNvPr id="10" name="Text 7"/>
          <p:cNvSpPr txBox="1"/>
          <p:nvPr/>
        </p:nvSpPr>
        <p:spPr>
          <a:xfrm>
            <a:off x="841248" y="2450592"/>
            <a:ext cx="2222678" cy="256032"/>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sampling workflows</a:t>
            </a:r>
            <a:endParaRPr lang="en-US" sz="1300" dirty="0"/>
          </a:p>
        </p:txBody>
      </p:sp>
      <p:sp>
        <p:nvSpPr>
          <p:cNvPr id="11" name="Text 8"/>
          <p:cNvSpPr txBox="1"/>
          <p:nvPr/>
        </p:nvSpPr>
        <p:spPr>
          <a:xfrm>
            <a:off x="841248" y="2706624"/>
            <a:ext cx="2222678" cy="402336"/>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PRE · POST · PRE_POST</a:t>
            </a:r>
            <a:endParaRPr lang="en-US" sz="1050" dirty="0"/>
          </a:p>
        </p:txBody>
      </p:sp>
      <p:sp>
        <p:nvSpPr>
          <p:cNvPr id="12" name="Shape 9"/>
          <p:cNvSpPr/>
          <p:nvPr/>
        </p:nvSpPr>
        <p:spPr>
          <a:xfrm>
            <a:off x="3402254" y="1691640"/>
            <a:ext cx="2625014" cy="1508760"/>
          </a:xfrm>
          <a:prstGeom prst="roundRect">
            <a:avLst>
              <a:gd name="adj" fmla="val 5455"/>
            </a:avLst>
          </a:prstGeom>
          <a:solidFill>
            <a:srgbClr val="EAF2FA"/>
          </a:solidFill>
          <a:ln w="12700">
            <a:solidFill>
              <a:srgbClr val="D8E1EA"/>
            </a:solidFill>
            <a:prstDash val="solid"/>
          </a:ln>
        </p:spPr>
      </p:sp>
      <p:sp>
        <p:nvSpPr>
          <p:cNvPr id="13" name="Text 10"/>
          <p:cNvSpPr txBox="1"/>
          <p:nvPr/>
        </p:nvSpPr>
        <p:spPr>
          <a:xfrm>
            <a:off x="3603422" y="1783080"/>
            <a:ext cx="2222678" cy="658368"/>
          </a:xfrm>
          <a:prstGeom prst="rect">
            <a:avLst/>
          </a:prstGeom>
          <a:noFill/>
          <a:ln/>
        </p:spPr>
        <p:txBody>
          <a:bodyPr wrap="square" lIns="0" tIns="0" rIns="0" bIns="0" rtlCol="0" anchor="ctr"/>
          <a:lstStyle/>
          <a:p>
            <a:pPr indent="0" marL="0">
              <a:buNone/>
            </a:pPr>
            <a:r>
              <a:rPr lang="en-US" sz="4600" b="1" dirty="0">
                <a:solidFill>
                  <a:srgbClr val="1464A8"/>
                </a:solidFill>
                <a:latin typeface="Cambria" pitchFamily="34" charset="0"/>
                <a:ea typeface="Cambria" pitchFamily="34" charset="-122"/>
                <a:cs typeface="Cambria" pitchFamily="34" charset="-120"/>
              </a:rPr>
              <a:t>8</a:t>
            </a:r>
            <a:endParaRPr lang="en-US" sz="4600" dirty="0"/>
          </a:p>
        </p:txBody>
      </p:sp>
      <p:sp>
        <p:nvSpPr>
          <p:cNvPr id="14" name="Text 11"/>
          <p:cNvSpPr txBox="1"/>
          <p:nvPr/>
        </p:nvSpPr>
        <p:spPr>
          <a:xfrm>
            <a:off x="3603422" y="2450592"/>
            <a:ext cx="2222678" cy="256032"/>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PK parameters</a:t>
            </a:r>
            <a:endParaRPr lang="en-US" sz="1300" dirty="0"/>
          </a:p>
        </p:txBody>
      </p:sp>
      <p:sp>
        <p:nvSpPr>
          <p:cNvPr id="15" name="Text 12"/>
          <p:cNvSpPr txBox="1"/>
          <p:nvPr/>
        </p:nvSpPr>
        <p:spPr>
          <a:xfrm>
            <a:off x="3603422" y="2706624"/>
            <a:ext cx="2222678" cy="402336"/>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ke, t½, Vd, Vd/kg, CL, Cmin, Cmax, AUC₂₄</a:t>
            </a:r>
            <a:endParaRPr lang="en-US" sz="1050" dirty="0"/>
          </a:p>
        </p:txBody>
      </p:sp>
      <p:sp>
        <p:nvSpPr>
          <p:cNvPr id="16" name="Shape 13"/>
          <p:cNvSpPr/>
          <p:nvPr/>
        </p:nvSpPr>
        <p:spPr>
          <a:xfrm>
            <a:off x="6164428" y="1691640"/>
            <a:ext cx="2625014" cy="1508760"/>
          </a:xfrm>
          <a:prstGeom prst="roundRect">
            <a:avLst>
              <a:gd name="adj" fmla="val 5455"/>
            </a:avLst>
          </a:prstGeom>
          <a:solidFill>
            <a:srgbClr val="EAF2FA"/>
          </a:solidFill>
          <a:ln w="12700">
            <a:solidFill>
              <a:srgbClr val="D8E1EA"/>
            </a:solidFill>
            <a:prstDash val="solid"/>
          </a:ln>
        </p:spPr>
      </p:sp>
      <p:sp>
        <p:nvSpPr>
          <p:cNvPr id="17" name="Text 14"/>
          <p:cNvSpPr txBox="1"/>
          <p:nvPr/>
        </p:nvSpPr>
        <p:spPr>
          <a:xfrm>
            <a:off x="6365596" y="1783080"/>
            <a:ext cx="2222678" cy="658368"/>
          </a:xfrm>
          <a:prstGeom prst="rect">
            <a:avLst/>
          </a:prstGeom>
          <a:noFill/>
          <a:ln/>
        </p:spPr>
        <p:txBody>
          <a:bodyPr wrap="square" lIns="0" tIns="0" rIns="0" bIns="0" rtlCol="0" anchor="ctr"/>
          <a:lstStyle/>
          <a:p>
            <a:pPr indent="0" marL="0">
              <a:buNone/>
            </a:pPr>
            <a:r>
              <a:rPr lang="en-US" sz="4600" b="1" dirty="0">
                <a:solidFill>
                  <a:srgbClr val="1464A8"/>
                </a:solidFill>
                <a:latin typeface="Cambria" pitchFamily="34" charset="0"/>
                <a:ea typeface="Cambria" pitchFamily="34" charset="-122"/>
                <a:cs typeface="Cambria" pitchFamily="34" charset="-120"/>
              </a:rPr>
              <a:t>14</a:t>
            </a:r>
            <a:endParaRPr lang="en-US" sz="4600" dirty="0"/>
          </a:p>
        </p:txBody>
      </p:sp>
      <p:sp>
        <p:nvSpPr>
          <p:cNvPr id="18" name="Text 15"/>
          <p:cNvSpPr txBox="1"/>
          <p:nvPr/>
        </p:nvSpPr>
        <p:spPr>
          <a:xfrm>
            <a:off x="6365596" y="2450592"/>
            <a:ext cx="2222678" cy="256032"/>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Compose screens</a:t>
            </a:r>
            <a:endParaRPr lang="en-US" sz="1300" dirty="0"/>
          </a:p>
        </p:txBody>
      </p:sp>
      <p:sp>
        <p:nvSpPr>
          <p:cNvPr id="19" name="Text 16"/>
          <p:cNvSpPr txBox="1"/>
          <p:nvPr/>
        </p:nvSpPr>
        <p:spPr>
          <a:xfrm>
            <a:off x="6365596" y="2706624"/>
            <a:ext cx="2222678" cy="402336"/>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single-activity navigation graph</a:t>
            </a:r>
            <a:endParaRPr lang="en-US" sz="1050" dirty="0"/>
          </a:p>
        </p:txBody>
      </p:sp>
      <p:sp>
        <p:nvSpPr>
          <p:cNvPr id="20" name="Shape 17"/>
          <p:cNvSpPr/>
          <p:nvPr/>
        </p:nvSpPr>
        <p:spPr>
          <a:xfrm>
            <a:off x="8926601" y="1691640"/>
            <a:ext cx="2625014" cy="1508760"/>
          </a:xfrm>
          <a:prstGeom prst="roundRect">
            <a:avLst>
              <a:gd name="adj" fmla="val 5455"/>
            </a:avLst>
          </a:prstGeom>
          <a:solidFill>
            <a:srgbClr val="EAF2FA"/>
          </a:solidFill>
          <a:ln w="12700">
            <a:solidFill>
              <a:srgbClr val="D8E1EA"/>
            </a:solidFill>
            <a:prstDash val="solid"/>
          </a:ln>
        </p:spPr>
      </p:sp>
      <p:sp>
        <p:nvSpPr>
          <p:cNvPr id="21" name="Text 18"/>
          <p:cNvSpPr txBox="1"/>
          <p:nvPr/>
        </p:nvSpPr>
        <p:spPr>
          <a:xfrm>
            <a:off x="9127769" y="1783080"/>
            <a:ext cx="2222678" cy="658368"/>
          </a:xfrm>
          <a:prstGeom prst="rect">
            <a:avLst/>
          </a:prstGeom>
          <a:noFill/>
          <a:ln/>
        </p:spPr>
        <p:txBody>
          <a:bodyPr wrap="square" lIns="0" tIns="0" rIns="0" bIns="0" rtlCol="0" anchor="ctr"/>
          <a:lstStyle/>
          <a:p>
            <a:pPr indent="0" marL="0">
              <a:buNone/>
            </a:pPr>
            <a:r>
              <a:rPr lang="en-US" sz="4600" b="1" dirty="0">
                <a:solidFill>
                  <a:srgbClr val="1464A8"/>
                </a:solidFill>
                <a:latin typeface="Cambria" pitchFamily="34" charset="0"/>
                <a:ea typeface="Cambria" pitchFamily="34" charset="-122"/>
                <a:cs typeface="Cambria" pitchFamily="34" charset="-120"/>
              </a:rPr>
              <a:t>4</a:t>
            </a:r>
            <a:endParaRPr lang="en-US" sz="4600" dirty="0"/>
          </a:p>
        </p:txBody>
      </p:sp>
      <p:sp>
        <p:nvSpPr>
          <p:cNvPr id="22" name="Text 19"/>
          <p:cNvSpPr txBox="1"/>
          <p:nvPr/>
        </p:nvSpPr>
        <p:spPr>
          <a:xfrm>
            <a:off x="9127769" y="2450592"/>
            <a:ext cx="2222678" cy="256032"/>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explanation phases</a:t>
            </a:r>
            <a:endParaRPr lang="en-US" sz="1300" dirty="0"/>
          </a:p>
        </p:txBody>
      </p:sp>
      <p:sp>
        <p:nvSpPr>
          <p:cNvPr id="23" name="Text 20"/>
          <p:cNvSpPr txBox="1"/>
          <p:nvPr/>
        </p:nvSpPr>
        <p:spPr>
          <a:xfrm>
            <a:off x="9127769" y="2706624"/>
            <a:ext cx="2222678" cy="402336"/>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every formula shown with real numbers</a:t>
            </a:r>
            <a:endParaRPr lang="en-US" sz="1050" dirty="0"/>
          </a:p>
        </p:txBody>
      </p:sp>
      <p:sp>
        <p:nvSpPr>
          <p:cNvPr id="24" name="Shape 21"/>
          <p:cNvSpPr/>
          <p:nvPr/>
        </p:nvSpPr>
        <p:spPr>
          <a:xfrm>
            <a:off x="640080" y="3364992"/>
            <a:ext cx="2625014" cy="2331720"/>
          </a:xfrm>
          <a:prstGeom prst="roundRect">
            <a:avLst>
              <a:gd name="adj" fmla="val 3529"/>
            </a:avLst>
          </a:prstGeom>
          <a:solidFill>
            <a:srgbClr val="FFFFFF"/>
          </a:solidFill>
          <a:ln w="12700">
            <a:solidFill>
              <a:srgbClr val="D8E1EA"/>
            </a:solidFill>
            <a:prstDash val="solid"/>
          </a:ln>
        </p:spPr>
      </p:sp>
      <p:sp>
        <p:nvSpPr>
          <p:cNvPr id="25" name="Shape 22"/>
          <p:cNvSpPr/>
          <p:nvPr/>
        </p:nvSpPr>
        <p:spPr>
          <a:xfrm>
            <a:off x="841248" y="3566160"/>
            <a:ext cx="365760" cy="365760"/>
          </a:xfrm>
          <a:prstGeom prst="ellipse">
            <a:avLst/>
          </a:prstGeom>
          <a:solidFill>
            <a:srgbClr val="073A6B"/>
          </a:solidFill>
          <a:ln w="12700">
            <a:solidFill>
              <a:srgbClr val="073A6B"/>
            </a:solidFill>
            <a:prstDash val="solid"/>
          </a:ln>
        </p:spPr>
      </p:sp>
      <p:sp>
        <p:nvSpPr>
          <p:cNvPr id="26" name="Text 23"/>
          <p:cNvSpPr txBox="1"/>
          <p:nvPr/>
        </p:nvSpPr>
        <p:spPr>
          <a:xfrm>
            <a:off x="841248" y="3566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7" name="Text 24"/>
          <p:cNvSpPr txBox="1"/>
          <p:nvPr/>
        </p:nvSpPr>
        <p:spPr>
          <a:xfrm>
            <a:off x="841248" y="4041648"/>
            <a:ext cx="2222678" cy="292608"/>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Calculate</a:t>
            </a:r>
            <a:endParaRPr lang="en-US" sz="1800" dirty="0"/>
          </a:p>
        </p:txBody>
      </p:sp>
      <p:sp>
        <p:nvSpPr>
          <p:cNvPr id="28" name="Text 25"/>
          <p:cNvSpPr txBox="1"/>
          <p:nvPr/>
        </p:nvSpPr>
        <p:spPr>
          <a:xfrm>
            <a:off x="841248" y="4370832"/>
            <a:ext cx="2222678" cy="1463040"/>
          </a:xfrm>
          <a:prstGeom prst="rect">
            <a:avLst/>
          </a:prstGeom>
          <a:noFill/>
          <a:ln/>
        </p:spPr>
        <p:txBody>
          <a:bodyPr wrap="square" lIns="0" tIns="0" rIns="0" bIns="0" rtlCol="0" anchor="ctr"/>
          <a:lstStyle/>
          <a:p>
            <a:pPr indent="0" marL="0">
              <a:lnSpc>
                <a:spcPts val="1700"/>
              </a:lnSpc>
              <a:buNone/>
            </a:pPr>
            <a:r>
              <a:rPr lang="en-US" sz="1200" dirty="0">
                <a:solidFill>
                  <a:srgbClr val="5A6672"/>
                </a:solidFill>
                <a:latin typeface="Calibri" pitchFamily="34" charset="0"/>
                <a:ea typeface="Calibri" pitchFamily="34" charset="-122"/>
                <a:cs typeface="Calibri" pitchFamily="34" charset="-120"/>
              </a:rPr>
              <a:t>Cockcroft–Gault CrCl, Sawchuk–Zaske and Newton–Raphson fitting run on-device in pure Kotlin.</a:t>
            </a:r>
            <a:endParaRPr lang="en-US" sz="1200" dirty="0"/>
          </a:p>
        </p:txBody>
      </p:sp>
      <p:sp>
        <p:nvSpPr>
          <p:cNvPr id="29" name="Shape 26"/>
          <p:cNvSpPr/>
          <p:nvPr/>
        </p:nvSpPr>
        <p:spPr>
          <a:xfrm>
            <a:off x="3402254" y="3364992"/>
            <a:ext cx="2625014" cy="2331720"/>
          </a:xfrm>
          <a:prstGeom prst="roundRect">
            <a:avLst>
              <a:gd name="adj" fmla="val 3529"/>
            </a:avLst>
          </a:prstGeom>
          <a:solidFill>
            <a:srgbClr val="FFFFFF"/>
          </a:solidFill>
          <a:ln w="12700">
            <a:solidFill>
              <a:srgbClr val="D8E1EA"/>
            </a:solidFill>
            <a:prstDash val="solid"/>
          </a:ln>
        </p:spPr>
      </p:sp>
      <p:sp>
        <p:nvSpPr>
          <p:cNvPr id="30" name="Shape 27"/>
          <p:cNvSpPr/>
          <p:nvPr/>
        </p:nvSpPr>
        <p:spPr>
          <a:xfrm>
            <a:off x="3603422" y="3566160"/>
            <a:ext cx="365760" cy="365760"/>
          </a:xfrm>
          <a:prstGeom prst="ellipse">
            <a:avLst/>
          </a:prstGeom>
          <a:solidFill>
            <a:srgbClr val="073A6B"/>
          </a:solidFill>
          <a:ln w="12700">
            <a:solidFill>
              <a:srgbClr val="073A6B"/>
            </a:solidFill>
            <a:prstDash val="solid"/>
          </a:ln>
        </p:spPr>
      </p:sp>
      <p:sp>
        <p:nvSpPr>
          <p:cNvPr id="31" name="Text 28"/>
          <p:cNvSpPr txBox="1"/>
          <p:nvPr/>
        </p:nvSpPr>
        <p:spPr>
          <a:xfrm>
            <a:off x="3603422" y="3566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2" name="Text 29"/>
          <p:cNvSpPr txBox="1"/>
          <p:nvPr/>
        </p:nvSpPr>
        <p:spPr>
          <a:xfrm>
            <a:off x="3603422" y="4041648"/>
            <a:ext cx="2222678" cy="292608"/>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Explain</a:t>
            </a:r>
            <a:endParaRPr lang="en-US" sz="1800" dirty="0"/>
          </a:p>
        </p:txBody>
      </p:sp>
      <p:sp>
        <p:nvSpPr>
          <p:cNvPr id="33" name="Text 30"/>
          <p:cNvSpPr txBox="1"/>
          <p:nvPr/>
        </p:nvSpPr>
        <p:spPr>
          <a:xfrm>
            <a:off x="3603422" y="4370832"/>
            <a:ext cx="2222678" cy="1463040"/>
          </a:xfrm>
          <a:prstGeom prst="rect">
            <a:avLst/>
          </a:prstGeom>
          <a:noFill/>
          <a:ln/>
        </p:spPr>
        <p:txBody>
          <a:bodyPr wrap="square" lIns="0" tIns="0" rIns="0" bIns="0" rtlCol="0" anchor="ctr"/>
          <a:lstStyle/>
          <a:p>
            <a:pPr indent="0" marL="0">
              <a:lnSpc>
                <a:spcPts val="1700"/>
              </a:lnSpc>
              <a:buNone/>
            </a:pPr>
            <a:r>
              <a:rPr lang="en-US" sz="1200" dirty="0">
                <a:solidFill>
                  <a:srgbClr val="5A6672"/>
                </a:solidFill>
                <a:latin typeface="Calibri" pitchFamily="34" charset="0"/>
                <a:ea typeface="Calibri" pitchFamily="34" charset="-122"/>
                <a:cs typeface="Calibri" pitchFamily="34" charset="-120"/>
              </a:rPr>
              <a:t>A four-phase walkthrough substitutes the user's own numbers into every equation.</a:t>
            </a:r>
            <a:endParaRPr lang="en-US" sz="1200" dirty="0"/>
          </a:p>
        </p:txBody>
      </p:sp>
      <p:sp>
        <p:nvSpPr>
          <p:cNvPr id="34" name="Shape 31"/>
          <p:cNvSpPr/>
          <p:nvPr/>
        </p:nvSpPr>
        <p:spPr>
          <a:xfrm>
            <a:off x="6164428" y="3364992"/>
            <a:ext cx="2625014" cy="2331720"/>
          </a:xfrm>
          <a:prstGeom prst="roundRect">
            <a:avLst>
              <a:gd name="adj" fmla="val 3529"/>
            </a:avLst>
          </a:prstGeom>
          <a:solidFill>
            <a:srgbClr val="FFFFFF"/>
          </a:solidFill>
          <a:ln w="12700">
            <a:solidFill>
              <a:srgbClr val="D8E1EA"/>
            </a:solidFill>
            <a:prstDash val="solid"/>
          </a:ln>
        </p:spPr>
      </p:sp>
      <p:sp>
        <p:nvSpPr>
          <p:cNvPr id="35" name="Shape 32"/>
          <p:cNvSpPr/>
          <p:nvPr/>
        </p:nvSpPr>
        <p:spPr>
          <a:xfrm>
            <a:off x="6365596" y="3566160"/>
            <a:ext cx="365760" cy="365760"/>
          </a:xfrm>
          <a:prstGeom prst="ellipse">
            <a:avLst/>
          </a:prstGeom>
          <a:solidFill>
            <a:srgbClr val="073A6B"/>
          </a:solidFill>
          <a:ln w="12700">
            <a:solidFill>
              <a:srgbClr val="073A6B"/>
            </a:solidFill>
            <a:prstDash val="solid"/>
          </a:ln>
        </p:spPr>
      </p:sp>
      <p:sp>
        <p:nvSpPr>
          <p:cNvPr id="36" name="Text 33"/>
          <p:cNvSpPr txBox="1"/>
          <p:nvPr/>
        </p:nvSpPr>
        <p:spPr>
          <a:xfrm>
            <a:off x="6365596" y="3566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6365596" y="4041648"/>
            <a:ext cx="2222678" cy="292608"/>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Remember</a:t>
            </a:r>
            <a:endParaRPr lang="en-US" sz="1800" dirty="0"/>
          </a:p>
        </p:txBody>
      </p:sp>
      <p:sp>
        <p:nvSpPr>
          <p:cNvPr id="38" name="Text 35"/>
          <p:cNvSpPr txBox="1"/>
          <p:nvPr/>
        </p:nvSpPr>
        <p:spPr>
          <a:xfrm>
            <a:off x="6365596" y="4370832"/>
            <a:ext cx="2222678" cy="1463040"/>
          </a:xfrm>
          <a:prstGeom prst="rect">
            <a:avLst/>
          </a:prstGeom>
          <a:noFill/>
          <a:ln/>
        </p:spPr>
        <p:txBody>
          <a:bodyPr wrap="square" lIns="0" tIns="0" rIns="0" bIns="0" rtlCol="0" anchor="ctr"/>
          <a:lstStyle/>
          <a:p>
            <a:pPr indent="0" marL="0">
              <a:lnSpc>
                <a:spcPts val="1700"/>
              </a:lnSpc>
              <a:buNone/>
            </a:pPr>
            <a:r>
              <a:rPr lang="en-US" sz="1200" dirty="0">
                <a:solidFill>
                  <a:srgbClr val="5A6672"/>
                </a:solidFill>
                <a:latin typeface="Calibri" pitchFamily="34" charset="0"/>
                <a:ea typeface="Calibri" pitchFamily="34" charset="-122"/>
                <a:cs typeface="Calibri" pitchFamily="34" charset="-120"/>
              </a:rPr>
              <a:t>Each completed case is written to Supabase and reloaded in the History screen.</a:t>
            </a:r>
            <a:endParaRPr lang="en-US" sz="1200" dirty="0"/>
          </a:p>
        </p:txBody>
      </p:sp>
      <p:sp>
        <p:nvSpPr>
          <p:cNvPr id="39" name="Shape 36"/>
          <p:cNvSpPr/>
          <p:nvPr/>
        </p:nvSpPr>
        <p:spPr>
          <a:xfrm>
            <a:off x="8926601" y="3364992"/>
            <a:ext cx="2625014" cy="2331720"/>
          </a:xfrm>
          <a:prstGeom prst="roundRect">
            <a:avLst>
              <a:gd name="adj" fmla="val 3529"/>
            </a:avLst>
          </a:prstGeom>
          <a:solidFill>
            <a:srgbClr val="FFFFFF"/>
          </a:solidFill>
          <a:ln w="12700">
            <a:solidFill>
              <a:srgbClr val="D8E1EA"/>
            </a:solidFill>
            <a:prstDash val="solid"/>
          </a:ln>
        </p:spPr>
      </p:sp>
      <p:sp>
        <p:nvSpPr>
          <p:cNvPr id="40" name="Shape 37"/>
          <p:cNvSpPr/>
          <p:nvPr/>
        </p:nvSpPr>
        <p:spPr>
          <a:xfrm>
            <a:off x="9127769" y="3566160"/>
            <a:ext cx="365760" cy="365760"/>
          </a:xfrm>
          <a:prstGeom prst="ellipse">
            <a:avLst/>
          </a:prstGeom>
          <a:solidFill>
            <a:srgbClr val="073A6B"/>
          </a:solidFill>
          <a:ln w="12700">
            <a:solidFill>
              <a:srgbClr val="073A6B"/>
            </a:solidFill>
            <a:prstDash val="solid"/>
          </a:ln>
        </p:spPr>
      </p:sp>
      <p:sp>
        <p:nvSpPr>
          <p:cNvPr id="41" name="Text 38"/>
          <p:cNvSpPr txBox="1"/>
          <p:nvPr/>
        </p:nvSpPr>
        <p:spPr>
          <a:xfrm>
            <a:off x="9127769" y="3566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2" name="Text 39"/>
          <p:cNvSpPr txBox="1"/>
          <p:nvPr/>
        </p:nvSpPr>
        <p:spPr>
          <a:xfrm>
            <a:off x="9127769" y="4041648"/>
            <a:ext cx="2222678" cy="292608"/>
          </a:xfrm>
          <a:prstGeom prst="rect">
            <a:avLst/>
          </a:prstGeom>
          <a:noFill/>
          <a:ln/>
        </p:spPr>
        <p:txBody>
          <a:bodyPr wrap="square" lIns="0" tIns="0" rIns="0" bIns="0" rtlCol="0" anchor="ctr"/>
          <a:lstStyle/>
          <a:p>
            <a:pPr indent="0" marL="0">
              <a:buNone/>
            </a:pPr>
            <a:r>
              <a:rPr lang="en-US" sz="1800" b="1" dirty="0">
                <a:solidFill>
                  <a:srgbClr val="0B2545"/>
                </a:solidFill>
                <a:latin typeface="Cambria" pitchFamily="34" charset="0"/>
                <a:ea typeface="Cambria" pitchFamily="34" charset="-122"/>
                <a:cs typeface="Cambria" pitchFamily="34" charset="-120"/>
              </a:rPr>
              <a:t>Protect</a:t>
            </a:r>
            <a:endParaRPr lang="en-US" sz="1800" dirty="0"/>
          </a:p>
        </p:txBody>
      </p:sp>
      <p:sp>
        <p:nvSpPr>
          <p:cNvPr id="43" name="Text 40"/>
          <p:cNvSpPr txBox="1"/>
          <p:nvPr/>
        </p:nvSpPr>
        <p:spPr>
          <a:xfrm>
            <a:off x="9127769" y="4370832"/>
            <a:ext cx="2222678" cy="1463040"/>
          </a:xfrm>
          <a:prstGeom prst="rect">
            <a:avLst/>
          </a:prstGeom>
          <a:noFill/>
          <a:ln/>
        </p:spPr>
        <p:txBody>
          <a:bodyPr wrap="square" lIns="0" tIns="0" rIns="0" bIns="0" rtlCol="0" anchor="ctr"/>
          <a:lstStyle/>
          <a:p>
            <a:pPr indent="0" marL="0">
              <a:lnSpc>
                <a:spcPts val="1700"/>
              </a:lnSpc>
              <a:buNone/>
            </a:pPr>
            <a:r>
              <a:rPr lang="en-US" sz="1200" dirty="0">
                <a:solidFill>
                  <a:srgbClr val="5A6672"/>
                </a:solidFill>
                <a:latin typeface="Calibri" pitchFamily="34" charset="0"/>
                <a:ea typeface="Calibri" pitchFamily="34" charset="-122"/>
                <a:cs typeface="Calibri" pitchFamily="34" charset="-120"/>
              </a:rPr>
              <a:t>Clerk handles sign-up, email verification and Google OAuth before any case can be created.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02 · TECH STACK</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Every technology used, and why</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Two independent projects: the Android application, and the React landing page that distributes it.</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5</a:t>
            </a:r>
            <a:endParaRPr lang="en-US" sz="900" dirty="0"/>
          </a:p>
        </p:txBody>
      </p:sp>
      <p:sp>
        <p:nvSpPr>
          <p:cNvPr id="8" name="Shape 5"/>
          <p:cNvSpPr/>
          <p:nvPr/>
        </p:nvSpPr>
        <p:spPr>
          <a:xfrm>
            <a:off x="640080" y="1691640"/>
            <a:ext cx="5272888" cy="4343400"/>
          </a:xfrm>
          <a:prstGeom prst="roundRect">
            <a:avLst>
              <a:gd name="adj" fmla="val 1895"/>
            </a:avLst>
          </a:prstGeom>
          <a:solidFill>
            <a:srgbClr val="EAF2FA"/>
          </a:solidFill>
          <a:ln w="12700">
            <a:solidFill>
              <a:srgbClr val="EAF2FA"/>
            </a:solidFill>
            <a:prstDash val="solid"/>
          </a:ln>
        </p:spPr>
      </p:sp>
      <p:sp>
        <p:nvSpPr>
          <p:cNvPr id="9" name="Text 6"/>
          <p:cNvSpPr txBox="1"/>
          <p:nvPr/>
        </p:nvSpPr>
        <p:spPr>
          <a:xfrm>
            <a:off x="914400" y="1847088"/>
            <a:ext cx="4724248" cy="310896"/>
          </a:xfrm>
          <a:prstGeom prst="rect">
            <a:avLst/>
          </a:prstGeom>
          <a:noFill/>
          <a:ln/>
        </p:spPr>
        <p:txBody>
          <a:bodyPr wrap="square" lIns="0" tIns="0" rIns="0" bIns="0" rtlCol="0" anchor="ctr"/>
          <a:lstStyle/>
          <a:p>
            <a:pPr indent="0" marL="0">
              <a:buNone/>
            </a:pPr>
            <a:r>
              <a:rPr lang="en-US" sz="1900" b="1" dirty="0">
                <a:solidFill>
                  <a:srgbClr val="1464A8"/>
                </a:solidFill>
                <a:latin typeface="Cambria" pitchFamily="34" charset="0"/>
                <a:ea typeface="Cambria" pitchFamily="34" charset="-122"/>
                <a:cs typeface="Cambria" pitchFamily="34" charset="-120"/>
              </a:rPr>
              <a:t>Android application</a:t>
            </a:r>
            <a:endParaRPr lang="en-US" sz="1900" dirty="0"/>
          </a:p>
        </p:txBody>
      </p:sp>
      <p:sp>
        <p:nvSpPr>
          <p:cNvPr id="10" name="Text 7"/>
          <p:cNvSpPr txBox="1"/>
          <p:nvPr/>
        </p:nvSpPr>
        <p:spPr>
          <a:xfrm>
            <a:off x="914400" y="2286000"/>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Kotlin 2.x (JVM 21)</a:t>
            </a:r>
            <a:endParaRPr lang="en-US" sz="1300" dirty="0"/>
          </a:p>
        </p:txBody>
      </p:sp>
      <p:sp>
        <p:nvSpPr>
          <p:cNvPr id="11" name="Text 8"/>
          <p:cNvSpPr txBox="1"/>
          <p:nvPr/>
        </p:nvSpPr>
        <p:spPr>
          <a:xfrm>
            <a:off x="914400" y="2523744"/>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Language — null-safe, concise, coroutine-native</a:t>
            </a:r>
            <a:endParaRPr lang="en-US" sz="1100" dirty="0"/>
          </a:p>
        </p:txBody>
      </p:sp>
      <p:sp>
        <p:nvSpPr>
          <p:cNvPr id="12" name="Text 9"/>
          <p:cNvSpPr txBox="1"/>
          <p:nvPr/>
        </p:nvSpPr>
        <p:spPr>
          <a:xfrm>
            <a:off x="914400" y="2907792"/>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Jetpack Compose</a:t>
            </a:r>
            <a:endParaRPr lang="en-US" sz="1300" dirty="0"/>
          </a:p>
        </p:txBody>
      </p:sp>
      <p:sp>
        <p:nvSpPr>
          <p:cNvPr id="13" name="Text 10"/>
          <p:cNvSpPr txBox="1"/>
          <p:nvPr/>
        </p:nvSpPr>
        <p:spPr>
          <a:xfrm>
            <a:off x="914400" y="3145536"/>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Declarative UI toolkit — no XML layouts at all</a:t>
            </a:r>
            <a:endParaRPr lang="en-US" sz="1100" dirty="0"/>
          </a:p>
        </p:txBody>
      </p:sp>
      <p:sp>
        <p:nvSpPr>
          <p:cNvPr id="14" name="Text 11"/>
          <p:cNvSpPr txBox="1"/>
          <p:nvPr/>
        </p:nvSpPr>
        <p:spPr>
          <a:xfrm>
            <a:off x="914400" y="3529584"/>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Material 3</a:t>
            </a:r>
            <a:endParaRPr lang="en-US" sz="1300" dirty="0"/>
          </a:p>
        </p:txBody>
      </p:sp>
      <p:sp>
        <p:nvSpPr>
          <p:cNvPr id="15" name="Text 12"/>
          <p:cNvSpPr txBox="1"/>
          <p:nvPr/>
        </p:nvSpPr>
        <p:spPr>
          <a:xfrm>
            <a:off x="914400" y="3767328"/>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Design system — colour scheme, typography, shapes</a:t>
            </a:r>
            <a:endParaRPr lang="en-US" sz="1100" dirty="0"/>
          </a:p>
        </p:txBody>
      </p:sp>
      <p:sp>
        <p:nvSpPr>
          <p:cNvPr id="16" name="Text 13"/>
          <p:cNvSpPr txBox="1"/>
          <p:nvPr/>
        </p:nvSpPr>
        <p:spPr>
          <a:xfrm>
            <a:off x="914400" y="4151376"/>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Navigation Compose</a:t>
            </a:r>
            <a:endParaRPr lang="en-US" sz="1300" dirty="0"/>
          </a:p>
        </p:txBody>
      </p:sp>
      <p:sp>
        <p:nvSpPr>
          <p:cNvPr id="17" name="Text 14"/>
          <p:cNvSpPr txBox="1"/>
          <p:nvPr/>
        </p:nvSpPr>
        <p:spPr>
          <a:xfrm>
            <a:off x="914400" y="4389120"/>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Single-activity routing between 14 screens</a:t>
            </a:r>
            <a:endParaRPr lang="en-US" sz="1100" dirty="0"/>
          </a:p>
        </p:txBody>
      </p:sp>
      <p:sp>
        <p:nvSpPr>
          <p:cNvPr id="18" name="Text 15"/>
          <p:cNvSpPr txBox="1"/>
          <p:nvPr/>
        </p:nvSpPr>
        <p:spPr>
          <a:xfrm>
            <a:off x="914400" y="4773168"/>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ViewModel + StateFlow</a:t>
            </a:r>
            <a:endParaRPr lang="en-US" sz="1300" dirty="0"/>
          </a:p>
        </p:txBody>
      </p:sp>
      <p:sp>
        <p:nvSpPr>
          <p:cNvPr id="19" name="Text 16"/>
          <p:cNvSpPr txBox="1"/>
          <p:nvPr/>
        </p:nvSpPr>
        <p:spPr>
          <a:xfrm>
            <a:off x="914400" y="5010912"/>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MVVM state holder, survives rotation</a:t>
            </a:r>
            <a:endParaRPr lang="en-US" sz="1100" dirty="0"/>
          </a:p>
        </p:txBody>
      </p:sp>
      <p:sp>
        <p:nvSpPr>
          <p:cNvPr id="20" name="Text 17"/>
          <p:cNvSpPr txBox="1"/>
          <p:nvPr/>
        </p:nvSpPr>
        <p:spPr>
          <a:xfrm>
            <a:off x="914400" y="5394960"/>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Coroutines</a:t>
            </a:r>
            <a:endParaRPr lang="en-US" sz="1300" dirty="0"/>
          </a:p>
        </p:txBody>
      </p:sp>
      <p:sp>
        <p:nvSpPr>
          <p:cNvPr id="21" name="Text 18"/>
          <p:cNvSpPr txBox="1"/>
          <p:nvPr/>
        </p:nvSpPr>
        <p:spPr>
          <a:xfrm>
            <a:off x="914400" y="5632704"/>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Async work off the main thread</a:t>
            </a:r>
            <a:endParaRPr lang="en-US" sz="1100" dirty="0"/>
          </a:p>
        </p:txBody>
      </p:sp>
      <p:sp>
        <p:nvSpPr>
          <p:cNvPr id="22" name="Shape 19"/>
          <p:cNvSpPr/>
          <p:nvPr/>
        </p:nvSpPr>
        <p:spPr>
          <a:xfrm>
            <a:off x="6278728" y="1691640"/>
            <a:ext cx="5272888" cy="4343400"/>
          </a:xfrm>
          <a:prstGeom prst="roundRect">
            <a:avLst>
              <a:gd name="adj" fmla="val 1895"/>
            </a:avLst>
          </a:prstGeom>
          <a:solidFill>
            <a:srgbClr val="F4F6F8"/>
          </a:solidFill>
          <a:ln w="12700">
            <a:solidFill>
              <a:srgbClr val="F4F6F8"/>
            </a:solidFill>
            <a:prstDash val="solid"/>
          </a:ln>
        </p:spPr>
      </p:sp>
      <p:sp>
        <p:nvSpPr>
          <p:cNvPr id="23" name="Text 20"/>
          <p:cNvSpPr txBox="1"/>
          <p:nvPr/>
        </p:nvSpPr>
        <p:spPr>
          <a:xfrm>
            <a:off x="6553048" y="1847088"/>
            <a:ext cx="4724248" cy="310896"/>
          </a:xfrm>
          <a:prstGeom prst="rect">
            <a:avLst/>
          </a:prstGeom>
          <a:noFill/>
          <a:ln/>
        </p:spPr>
        <p:txBody>
          <a:bodyPr wrap="square" lIns="0" tIns="0" rIns="0" bIns="0" rtlCol="0" anchor="ctr"/>
          <a:lstStyle/>
          <a:p>
            <a:pPr indent="0" marL="0">
              <a:buNone/>
            </a:pPr>
            <a:r>
              <a:rPr lang="en-US" sz="1900" b="1" dirty="0">
                <a:solidFill>
                  <a:srgbClr val="073A6B"/>
                </a:solidFill>
                <a:latin typeface="Cambria" pitchFamily="34" charset="0"/>
                <a:ea typeface="Cambria" pitchFamily="34" charset="-122"/>
                <a:cs typeface="Cambria" pitchFamily="34" charset="-120"/>
              </a:rPr>
              <a:t>Backend, auth &amp; web</a:t>
            </a:r>
            <a:endParaRPr lang="en-US" sz="1900" dirty="0"/>
          </a:p>
        </p:txBody>
      </p:sp>
      <p:sp>
        <p:nvSpPr>
          <p:cNvPr id="24" name="Text 21"/>
          <p:cNvSpPr txBox="1"/>
          <p:nvPr/>
        </p:nvSpPr>
        <p:spPr>
          <a:xfrm>
            <a:off x="6553048" y="2286000"/>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Supabase (PostgreSQL)</a:t>
            </a:r>
            <a:endParaRPr lang="en-US" sz="1300" dirty="0"/>
          </a:p>
        </p:txBody>
      </p:sp>
      <p:sp>
        <p:nvSpPr>
          <p:cNvPr id="25" name="Text 22"/>
          <p:cNvSpPr txBox="1"/>
          <p:nvPr/>
        </p:nvSpPr>
        <p:spPr>
          <a:xfrm>
            <a:off x="6553048" y="2523744"/>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Hosted database + auto-generated REST API</a:t>
            </a:r>
            <a:endParaRPr lang="en-US" sz="1100" dirty="0"/>
          </a:p>
        </p:txBody>
      </p:sp>
      <p:sp>
        <p:nvSpPr>
          <p:cNvPr id="26" name="Text 23"/>
          <p:cNvSpPr txBox="1"/>
          <p:nvPr/>
        </p:nvSpPr>
        <p:spPr>
          <a:xfrm>
            <a:off x="6553048" y="2907792"/>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Supabase Kotlin SDK</a:t>
            </a:r>
            <a:endParaRPr lang="en-US" sz="1300" dirty="0"/>
          </a:p>
        </p:txBody>
      </p:sp>
      <p:sp>
        <p:nvSpPr>
          <p:cNvPr id="27" name="Text 24"/>
          <p:cNvSpPr txBox="1"/>
          <p:nvPr/>
        </p:nvSpPr>
        <p:spPr>
          <a:xfrm>
            <a:off x="6553048" y="3145536"/>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Typed Postgrest queries from the app</a:t>
            </a:r>
            <a:endParaRPr lang="en-US" sz="1100" dirty="0"/>
          </a:p>
        </p:txBody>
      </p:sp>
      <p:sp>
        <p:nvSpPr>
          <p:cNvPr id="28" name="Text 25"/>
          <p:cNvSpPr txBox="1"/>
          <p:nvPr/>
        </p:nvSpPr>
        <p:spPr>
          <a:xfrm>
            <a:off x="6553048" y="3529584"/>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Clerk</a:t>
            </a:r>
            <a:endParaRPr lang="en-US" sz="1300" dirty="0"/>
          </a:p>
        </p:txBody>
      </p:sp>
      <p:sp>
        <p:nvSpPr>
          <p:cNvPr id="29" name="Text 26"/>
          <p:cNvSpPr txBox="1"/>
          <p:nvPr/>
        </p:nvSpPr>
        <p:spPr>
          <a:xfrm>
            <a:off x="6553048" y="3767328"/>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Identity: email/password, verification, Google OAuth</a:t>
            </a:r>
            <a:endParaRPr lang="en-US" sz="1100" dirty="0"/>
          </a:p>
        </p:txBody>
      </p:sp>
      <p:sp>
        <p:nvSpPr>
          <p:cNvPr id="30" name="Text 27"/>
          <p:cNvSpPr txBox="1"/>
          <p:nvPr/>
        </p:nvSpPr>
        <p:spPr>
          <a:xfrm>
            <a:off x="6553048" y="4151376"/>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Ktor + kotlinx.serialization</a:t>
            </a:r>
            <a:endParaRPr lang="en-US" sz="1300" dirty="0"/>
          </a:p>
        </p:txBody>
      </p:sp>
      <p:sp>
        <p:nvSpPr>
          <p:cNvPr id="31" name="Text 28"/>
          <p:cNvSpPr txBox="1"/>
          <p:nvPr/>
        </p:nvSpPr>
        <p:spPr>
          <a:xfrm>
            <a:off x="6553048" y="4389120"/>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HTTP client &amp; JSON for the Clerk Frontend API</a:t>
            </a:r>
            <a:endParaRPr lang="en-US" sz="1100" dirty="0"/>
          </a:p>
        </p:txBody>
      </p:sp>
      <p:sp>
        <p:nvSpPr>
          <p:cNvPr id="32" name="Text 29"/>
          <p:cNvSpPr txBox="1"/>
          <p:nvPr/>
        </p:nvSpPr>
        <p:spPr>
          <a:xfrm>
            <a:off x="6553048" y="4773168"/>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React 19 + Vite 6 + TypeScript</a:t>
            </a:r>
            <a:endParaRPr lang="en-US" sz="1300" dirty="0"/>
          </a:p>
        </p:txBody>
      </p:sp>
      <p:sp>
        <p:nvSpPr>
          <p:cNvPr id="33" name="Text 30"/>
          <p:cNvSpPr txBox="1"/>
          <p:nvPr/>
        </p:nvSpPr>
        <p:spPr>
          <a:xfrm>
            <a:off x="6553048" y="5010912"/>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Landing page — fast, typed, statically built</a:t>
            </a:r>
            <a:endParaRPr lang="en-US" sz="1100" dirty="0"/>
          </a:p>
        </p:txBody>
      </p:sp>
      <p:sp>
        <p:nvSpPr>
          <p:cNvPr id="34" name="Text 31"/>
          <p:cNvSpPr txBox="1"/>
          <p:nvPr/>
        </p:nvSpPr>
        <p:spPr>
          <a:xfrm>
            <a:off x="6553048" y="5394960"/>
            <a:ext cx="4724248"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Gradle Kotlin DSL</a:t>
            </a:r>
            <a:endParaRPr lang="en-US" sz="1300" dirty="0"/>
          </a:p>
        </p:txBody>
      </p:sp>
      <p:sp>
        <p:nvSpPr>
          <p:cNvPr id="35" name="Text 32"/>
          <p:cNvSpPr txBox="1"/>
          <p:nvPr/>
        </p:nvSpPr>
        <p:spPr>
          <a:xfrm>
            <a:off x="6553048" y="5632704"/>
            <a:ext cx="4724248" cy="237744"/>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Build system + version catalog + BuildConfig injection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6FB3E8"/>
                </a:solidFill>
                <a:latin typeface="Calibri" pitchFamily="34" charset="0"/>
                <a:ea typeface="Calibri" pitchFamily="34" charset="-122"/>
                <a:cs typeface="Calibri" pitchFamily="34" charset="-120"/>
              </a:rPr>
              <a:t>03 · ARCHITECTURE</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Five layers, one direction of dependency</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A9C2DA"/>
                </a:solidFill>
                <a:latin typeface="Calibri" pitchFamily="34" charset="0"/>
                <a:ea typeface="Calibri" pitchFamily="34" charset="-122"/>
                <a:cs typeface="Calibri" pitchFamily="34" charset="-120"/>
              </a:rPr>
              <a:t>Each layer knows only the layer beneath it. The domain layer at the centre knows nothing about Android at all.</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6E8BA8"/>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6E8BA8"/>
                </a:solidFill>
                <a:latin typeface="Calibri" pitchFamily="34" charset="0"/>
                <a:ea typeface="Calibri" pitchFamily="34" charset="-122"/>
                <a:cs typeface="Calibri" pitchFamily="34" charset="-120"/>
              </a:rPr>
              <a:t>6</a:t>
            </a:r>
            <a:endParaRPr lang="en-US" sz="900" dirty="0"/>
          </a:p>
        </p:txBody>
      </p:sp>
      <p:sp>
        <p:nvSpPr>
          <p:cNvPr id="8" name="Shape 5"/>
          <p:cNvSpPr/>
          <p:nvPr/>
        </p:nvSpPr>
        <p:spPr>
          <a:xfrm>
            <a:off x="640080" y="1627632"/>
            <a:ext cx="10911535" cy="822960"/>
          </a:xfrm>
          <a:prstGeom prst="roundRect">
            <a:avLst>
              <a:gd name="adj" fmla="val 10000"/>
            </a:avLst>
          </a:prstGeom>
          <a:solidFill>
            <a:srgbClr val="1E5C96"/>
          </a:solidFill>
          <a:ln w="12700">
            <a:solidFill>
              <a:srgbClr val="1E5C96"/>
            </a:solidFill>
            <a:prstDash val="solid"/>
          </a:ln>
        </p:spPr>
      </p:sp>
      <p:sp>
        <p:nvSpPr>
          <p:cNvPr id="9" name="Shape 6"/>
          <p:cNvSpPr/>
          <p:nvPr/>
        </p:nvSpPr>
        <p:spPr>
          <a:xfrm>
            <a:off x="859536" y="1847088"/>
            <a:ext cx="384048" cy="384048"/>
          </a:xfrm>
          <a:prstGeom prst="ellipse">
            <a:avLst/>
          </a:prstGeom>
          <a:solidFill>
            <a:srgbClr val="FFFFFF"/>
          </a:solidFill>
          <a:ln w="12700">
            <a:solidFill>
              <a:srgbClr val="FFFFFF"/>
            </a:solidFill>
            <a:prstDash val="solid"/>
          </a:ln>
        </p:spPr>
      </p:sp>
      <p:sp>
        <p:nvSpPr>
          <p:cNvPr id="10" name="Text 7"/>
          <p:cNvSpPr txBox="1"/>
          <p:nvPr/>
        </p:nvSpPr>
        <p:spPr>
          <a:xfrm>
            <a:off x="859536" y="1847088"/>
            <a:ext cx="384048" cy="384048"/>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1417320" y="1737360"/>
            <a:ext cx="2286000" cy="274320"/>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PRESENTATION</a:t>
            </a:r>
            <a:endParaRPr lang="en-US" sz="1250" dirty="0"/>
          </a:p>
        </p:txBody>
      </p:sp>
      <p:sp>
        <p:nvSpPr>
          <p:cNvPr id="12" name="Text 9"/>
          <p:cNvSpPr txBox="1"/>
          <p:nvPr/>
        </p:nvSpPr>
        <p:spPr>
          <a:xfrm>
            <a:off x="1417320" y="2029968"/>
            <a:ext cx="2377440" cy="274320"/>
          </a:xfrm>
          <a:prstGeom prst="rect">
            <a:avLst/>
          </a:prstGeom>
          <a:noFill/>
          <a:ln/>
        </p:spPr>
        <p:txBody>
          <a:bodyPr wrap="square" lIns="0" tIns="0" rIns="0" bIns="0" rtlCol="0" anchor="ctr"/>
          <a:lstStyle/>
          <a:p>
            <a:pPr indent="0" marL="0">
              <a:buNone/>
            </a:pPr>
            <a:r>
              <a:rPr lang="en-US" sz="1100" i="1" dirty="0">
                <a:solidFill>
                  <a:srgbClr val="A9C2DA"/>
                </a:solidFill>
                <a:latin typeface="Calibri" pitchFamily="34" charset="0"/>
                <a:ea typeface="Calibri" pitchFamily="34" charset="-122"/>
                <a:cs typeface="Calibri" pitchFamily="34" charset="-120"/>
              </a:rPr>
              <a:t>Jetpack Compose UI</a:t>
            </a:r>
            <a:endParaRPr lang="en-US" sz="1100" dirty="0"/>
          </a:p>
        </p:txBody>
      </p:sp>
      <p:sp>
        <p:nvSpPr>
          <p:cNvPr id="13" name="Text 10"/>
          <p:cNvSpPr txBox="1"/>
          <p:nvPr/>
        </p:nvSpPr>
        <p:spPr>
          <a:xfrm>
            <a:off x="3931920" y="1755648"/>
            <a:ext cx="7345375" cy="566928"/>
          </a:xfrm>
          <a:prstGeom prst="rect">
            <a:avLst/>
          </a:prstGeom>
          <a:noFill/>
          <a:ln/>
        </p:spPr>
        <p:txBody>
          <a:bodyPr wrap="square" lIns="0" tIns="0" rIns="0" bIns="0" rtlCol="0" anchor="ctr"/>
          <a:lstStyle/>
          <a:p>
            <a:pPr indent="0" marL="0">
              <a:buNone/>
            </a:pPr>
            <a:r>
              <a:rPr lang="en-US" sz="1150" dirty="0">
                <a:solidFill>
                  <a:srgbClr val="D2E2F0"/>
                </a:solidFill>
                <a:latin typeface="Calibri" pitchFamily="34" charset="0"/>
                <a:ea typeface="Calibri" pitchFamily="34" charset="-122"/>
                <a:cs typeface="Calibri" pitchFamily="34" charset="-120"/>
              </a:rPr>
              <a:t>SplashScreen · AuthScreens · HomeScreen · CaseWizardScreens · ResultScreens · HistoryScreen · SettingsScreens · theme/ · navigation/NavGraph</a:t>
            </a:r>
            <a:endParaRPr lang="en-US" sz="1150" dirty="0"/>
          </a:p>
        </p:txBody>
      </p:sp>
      <p:sp>
        <p:nvSpPr>
          <p:cNvPr id="14" name="Shape 11"/>
          <p:cNvSpPr/>
          <p:nvPr/>
        </p:nvSpPr>
        <p:spPr>
          <a:xfrm>
            <a:off x="640080" y="2569464"/>
            <a:ext cx="10911535" cy="822960"/>
          </a:xfrm>
          <a:prstGeom prst="roundRect">
            <a:avLst>
              <a:gd name="adj" fmla="val 10000"/>
            </a:avLst>
          </a:prstGeom>
          <a:solidFill>
            <a:srgbClr val="17527F"/>
          </a:solidFill>
          <a:ln w="12700">
            <a:solidFill>
              <a:srgbClr val="17527F"/>
            </a:solidFill>
            <a:prstDash val="solid"/>
          </a:ln>
        </p:spPr>
      </p:sp>
      <p:sp>
        <p:nvSpPr>
          <p:cNvPr id="15" name="Shape 12"/>
          <p:cNvSpPr/>
          <p:nvPr/>
        </p:nvSpPr>
        <p:spPr>
          <a:xfrm>
            <a:off x="859536" y="2788920"/>
            <a:ext cx="384048" cy="384048"/>
          </a:xfrm>
          <a:prstGeom prst="ellipse">
            <a:avLst/>
          </a:prstGeom>
          <a:solidFill>
            <a:srgbClr val="FFFFFF"/>
          </a:solidFill>
          <a:ln w="12700">
            <a:solidFill>
              <a:srgbClr val="FFFFFF"/>
            </a:solidFill>
            <a:prstDash val="solid"/>
          </a:ln>
        </p:spPr>
      </p:sp>
      <p:sp>
        <p:nvSpPr>
          <p:cNvPr id="16" name="Text 13"/>
          <p:cNvSpPr txBox="1"/>
          <p:nvPr/>
        </p:nvSpPr>
        <p:spPr>
          <a:xfrm>
            <a:off x="859536" y="2788920"/>
            <a:ext cx="384048" cy="384048"/>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2</a:t>
            </a:r>
            <a:endParaRPr lang="en-US" sz="1300" dirty="0"/>
          </a:p>
        </p:txBody>
      </p:sp>
      <p:sp>
        <p:nvSpPr>
          <p:cNvPr id="17" name="Text 14"/>
          <p:cNvSpPr txBox="1"/>
          <p:nvPr/>
        </p:nvSpPr>
        <p:spPr>
          <a:xfrm>
            <a:off x="1417320" y="2679192"/>
            <a:ext cx="2286000" cy="274320"/>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PRESENTATION LOGIC</a:t>
            </a:r>
            <a:endParaRPr lang="en-US" sz="1250" dirty="0"/>
          </a:p>
        </p:txBody>
      </p:sp>
      <p:sp>
        <p:nvSpPr>
          <p:cNvPr id="18" name="Text 15"/>
          <p:cNvSpPr txBox="1"/>
          <p:nvPr/>
        </p:nvSpPr>
        <p:spPr>
          <a:xfrm>
            <a:off x="1417320" y="2971800"/>
            <a:ext cx="2377440" cy="274320"/>
          </a:xfrm>
          <a:prstGeom prst="rect">
            <a:avLst/>
          </a:prstGeom>
          <a:noFill/>
          <a:ln/>
        </p:spPr>
        <p:txBody>
          <a:bodyPr wrap="square" lIns="0" tIns="0" rIns="0" bIns="0" rtlCol="0" anchor="ctr"/>
          <a:lstStyle/>
          <a:p>
            <a:pPr indent="0" marL="0">
              <a:buNone/>
            </a:pPr>
            <a:r>
              <a:rPr lang="en-US" sz="1100" i="1" dirty="0">
                <a:solidFill>
                  <a:srgbClr val="A9C2DA"/>
                </a:solidFill>
                <a:latin typeface="Calibri" pitchFamily="34" charset="0"/>
                <a:ea typeface="Calibri" pitchFamily="34" charset="-122"/>
                <a:cs typeface="Calibri" pitchFamily="34" charset="-120"/>
              </a:rPr>
              <a:t>ViewModel + StateFlow</a:t>
            </a:r>
            <a:endParaRPr lang="en-US" sz="1100" dirty="0"/>
          </a:p>
        </p:txBody>
      </p:sp>
      <p:sp>
        <p:nvSpPr>
          <p:cNvPr id="19" name="Text 16"/>
          <p:cNvSpPr txBox="1"/>
          <p:nvPr/>
        </p:nvSpPr>
        <p:spPr>
          <a:xfrm>
            <a:off x="3931920" y="2697480"/>
            <a:ext cx="7345375" cy="566928"/>
          </a:xfrm>
          <a:prstGeom prst="rect">
            <a:avLst/>
          </a:prstGeom>
          <a:noFill/>
          <a:ln/>
        </p:spPr>
        <p:txBody>
          <a:bodyPr wrap="square" lIns="0" tIns="0" rIns="0" bIns="0" rtlCol="0" anchor="ctr"/>
          <a:lstStyle/>
          <a:p>
            <a:pPr indent="0" marL="0">
              <a:buNone/>
            </a:pPr>
            <a:r>
              <a:rPr lang="en-US" sz="1150" dirty="0">
                <a:solidFill>
                  <a:srgbClr val="D2E2F0"/>
                </a:solidFill>
                <a:latin typeface="Calibri" pitchFamily="34" charset="0"/>
                <a:ea typeface="Calibri" pitchFamily="34" charset="-122"/>
                <a:cs typeface="Calibri" pitchFamily="34" charset="-120"/>
              </a:rPr>
              <a:t>CaseViewModel · AuthViewModel · HistoryViewModel  —  hold UI state, expose it as StateFlow, never touch Compose</a:t>
            </a:r>
            <a:endParaRPr lang="en-US" sz="1150" dirty="0"/>
          </a:p>
        </p:txBody>
      </p:sp>
      <p:sp>
        <p:nvSpPr>
          <p:cNvPr id="20" name="Shape 17"/>
          <p:cNvSpPr/>
          <p:nvPr/>
        </p:nvSpPr>
        <p:spPr>
          <a:xfrm>
            <a:off x="640080" y="3511296"/>
            <a:ext cx="10911535" cy="822960"/>
          </a:xfrm>
          <a:prstGeom prst="roundRect">
            <a:avLst>
              <a:gd name="adj" fmla="val 10000"/>
            </a:avLst>
          </a:prstGeom>
          <a:solidFill>
            <a:srgbClr val="0F6B6B"/>
          </a:solidFill>
          <a:ln w="12700">
            <a:solidFill>
              <a:srgbClr val="0F6B6B"/>
            </a:solidFill>
            <a:prstDash val="solid"/>
          </a:ln>
        </p:spPr>
      </p:sp>
      <p:sp>
        <p:nvSpPr>
          <p:cNvPr id="21" name="Shape 18"/>
          <p:cNvSpPr/>
          <p:nvPr/>
        </p:nvSpPr>
        <p:spPr>
          <a:xfrm>
            <a:off x="859536" y="3730752"/>
            <a:ext cx="384048" cy="384048"/>
          </a:xfrm>
          <a:prstGeom prst="ellipse">
            <a:avLst/>
          </a:prstGeom>
          <a:solidFill>
            <a:srgbClr val="FFFFFF"/>
          </a:solidFill>
          <a:ln w="12700">
            <a:solidFill>
              <a:srgbClr val="FFFFFF"/>
            </a:solidFill>
            <a:prstDash val="solid"/>
          </a:ln>
        </p:spPr>
      </p:sp>
      <p:sp>
        <p:nvSpPr>
          <p:cNvPr id="22" name="Text 19"/>
          <p:cNvSpPr txBox="1"/>
          <p:nvPr/>
        </p:nvSpPr>
        <p:spPr>
          <a:xfrm>
            <a:off x="859536" y="3730752"/>
            <a:ext cx="384048" cy="384048"/>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3</a:t>
            </a:r>
            <a:endParaRPr lang="en-US" sz="1300" dirty="0"/>
          </a:p>
        </p:txBody>
      </p:sp>
      <p:sp>
        <p:nvSpPr>
          <p:cNvPr id="23" name="Text 20"/>
          <p:cNvSpPr txBox="1"/>
          <p:nvPr/>
        </p:nvSpPr>
        <p:spPr>
          <a:xfrm>
            <a:off x="1417320" y="3621024"/>
            <a:ext cx="2286000" cy="274320"/>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DOMAIN</a:t>
            </a:r>
            <a:endParaRPr lang="en-US" sz="1250" dirty="0"/>
          </a:p>
        </p:txBody>
      </p:sp>
      <p:sp>
        <p:nvSpPr>
          <p:cNvPr id="24" name="Text 21"/>
          <p:cNvSpPr txBox="1"/>
          <p:nvPr/>
        </p:nvSpPr>
        <p:spPr>
          <a:xfrm>
            <a:off x="1417320" y="3913632"/>
            <a:ext cx="2377440" cy="274320"/>
          </a:xfrm>
          <a:prstGeom prst="rect">
            <a:avLst/>
          </a:prstGeom>
          <a:noFill/>
          <a:ln/>
        </p:spPr>
        <p:txBody>
          <a:bodyPr wrap="square" lIns="0" tIns="0" rIns="0" bIns="0" rtlCol="0" anchor="ctr"/>
          <a:lstStyle/>
          <a:p>
            <a:pPr indent="0" marL="0">
              <a:buNone/>
            </a:pPr>
            <a:r>
              <a:rPr lang="en-US" sz="1100" i="1" dirty="0">
                <a:solidFill>
                  <a:srgbClr val="A9C2DA"/>
                </a:solidFill>
                <a:latin typeface="Calibri" pitchFamily="34" charset="0"/>
                <a:ea typeface="Calibri" pitchFamily="34" charset="-122"/>
                <a:cs typeface="Calibri" pitchFamily="34" charset="-120"/>
              </a:rPr>
              <a:t>Pure Kotlin business logic</a:t>
            </a:r>
            <a:endParaRPr lang="en-US" sz="1100" dirty="0"/>
          </a:p>
        </p:txBody>
      </p:sp>
      <p:sp>
        <p:nvSpPr>
          <p:cNvPr id="25" name="Text 22"/>
          <p:cNvSpPr txBox="1"/>
          <p:nvPr/>
        </p:nvSpPr>
        <p:spPr>
          <a:xfrm>
            <a:off x="3931920" y="3639312"/>
            <a:ext cx="7345375" cy="566928"/>
          </a:xfrm>
          <a:prstGeom prst="rect">
            <a:avLst/>
          </a:prstGeom>
          <a:noFill/>
          <a:ln/>
        </p:spPr>
        <p:txBody>
          <a:bodyPr wrap="square" lIns="0" tIns="0" rIns="0" bIns="0" rtlCol="0" anchor="ctr"/>
          <a:lstStyle/>
          <a:p>
            <a:pPr indent="0" marL="0">
              <a:buNone/>
            </a:pPr>
            <a:r>
              <a:rPr lang="en-US" sz="1150" dirty="0">
                <a:solidFill>
                  <a:srgbClr val="D2E2F0"/>
                </a:solidFill>
                <a:latin typeface="Calibri" pitchFamily="34" charset="0"/>
                <a:ea typeface="Calibri" pitchFamily="34" charset="-122"/>
                <a:cs typeface="Calibri" pitchFamily="34" charset="-120"/>
              </a:rPr>
              <a:t>VancoEngine  —  Cockcroft–Gault, Sawchuk–Zaske, Newton–Raphson. No Android imports, unit-testable on the JVM.</a:t>
            </a:r>
            <a:endParaRPr lang="en-US" sz="1150" dirty="0"/>
          </a:p>
        </p:txBody>
      </p:sp>
      <p:sp>
        <p:nvSpPr>
          <p:cNvPr id="26" name="Shape 23"/>
          <p:cNvSpPr/>
          <p:nvPr/>
        </p:nvSpPr>
        <p:spPr>
          <a:xfrm>
            <a:off x="640080" y="4453128"/>
            <a:ext cx="10911535" cy="822960"/>
          </a:xfrm>
          <a:prstGeom prst="roundRect">
            <a:avLst>
              <a:gd name="adj" fmla="val 10000"/>
            </a:avLst>
          </a:prstGeom>
          <a:solidFill>
            <a:srgbClr val="14456E"/>
          </a:solidFill>
          <a:ln w="12700">
            <a:solidFill>
              <a:srgbClr val="14456E"/>
            </a:solidFill>
            <a:prstDash val="solid"/>
          </a:ln>
        </p:spPr>
      </p:sp>
      <p:sp>
        <p:nvSpPr>
          <p:cNvPr id="27" name="Shape 24"/>
          <p:cNvSpPr/>
          <p:nvPr/>
        </p:nvSpPr>
        <p:spPr>
          <a:xfrm>
            <a:off x="859536" y="4672584"/>
            <a:ext cx="384048" cy="384048"/>
          </a:xfrm>
          <a:prstGeom prst="ellipse">
            <a:avLst/>
          </a:prstGeom>
          <a:solidFill>
            <a:srgbClr val="FFFFFF"/>
          </a:solidFill>
          <a:ln w="12700">
            <a:solidFill>
              <a:srgbClr val="FFFFFF"/>
            </a:solidFill>
            <a:prstDash val="solid"/>
          </a:ln>
        </p:spPr>
      </p:sp>
      <p:sp>
        <p:nvSpPr>
          <p:cNvPr id="28" name="Text 25"/>
          <p:cNvSpPr txBox="1"/>
          <p:nvPr/>
        </p:nvSpPr>
        <p:spPr>
          <a:xfrm>
            <a:off x="859536" y="4672584"/>
            <a:ext cx="384048" cy="384048"/>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4</a:t>
            </a:r>
            <a:endParaRPr lang="en-US" sz="1300" dirty="0"/>
          </a:p>
        </p:txBody>
      </p:sp>
      <p:sp>
        <p:nvSpPr>
          <p:cNvPr id="29" name="Text 26"/>
          <p:cNvSpPr txBox="1"/>
          <p:nvPr/>
        </p:nvSpPr>
        <p:spPr>
          <a:xfrm>
            <a:off x="1417320" y="4562856"/>
            <a:ext cx="2286000" cy="274320"/>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DATA</a:t>
            </a:r>
            <a:endParaRPr lang="en-US" sz="1250" dirty="0"/>
          </a:p>
        </p:txBody>
      </p:sp>
      <p:sp>
        <p:nvSpPr>
          <p:cNvPr id="30" name="Text 27"/>
          <p:cNvSpPr txBox="1"/>
          <p:nvPr/>
        </p:nvSpPr>
        <p:spPr>
          <a:xfrm>
            <a:off x="1417320" y="4855464"/>
            <a:ext cx="2377440" cy="274320"/>
          </a:xfrm>
          <a:prstGeom prst="rect">
            <a:avLst/>
          </a:prstGeom>
          <a:noFill/>
          <a:ln/>
        </p:spPr>
        <p:txBody>
          <a:bodyPr wrap="square" lIns="0" tIns="0" rIns="0" bIns="0" rtlCol="0" anchor="ctr"/>
          <a:lstStyle/>
          <a:p>
            <a:pPr indent="0" marL="0">
              <a:buNone/>
            </a:pPr>
            <a:r>
              <a:rPr lang="en-US" sz="1100" i="1" dirty="0">
                <a:solidFill>
                  <a:srgbClr val="A9C2DA"/>
                </a:solidFill>
                <a:latin typeface="Calibri" pitchFamily="34" charset="0"/>
                <a:ea typeface="Calibri" pitchFamily="34" charset="-122"/>
                <a:cs typeface="Calibri" pitchFamily="34" charset="-120"/>
              </a:rPr>
              <a:t>Models, validation, repositories</a:t>
            </a:r>
            <a:endParaRPr lang="en-US" sz="1100" dirty="0"/>
          </a:p>
        </p:txBody>
      </p:sp>
      <p:sp>
        <p:nvSpPr>
          <p:cNvPr id="31" name="Text 28"/>
          <p:cNvSpPr txBox="1"/>
          <p:nvPr/>
        </p:nvSpPr>
        <p:spPr>
          <a:xfrm>
            <a:off x="3931920" y="4581144"/>
            <a:ext cx="7345375" cy="566928"/>
          </a:xfrm>
          <a:prstGeom prst="rect">
            <a:avLst/>
          </a:prstGeom>
          <a:noFill/>
          <a:ln/>
        </p:spPr>
        <p:txBody>
          <a:bodyPr wrap="square" lIns="0" tIns="0" rIns="0" bIns="0" rtlCol="0" anchor="ctr"/>
          <a:lstStyle/>
          <a:p>
            <a:pPr indent="0" marL="0">
              <a:buNone/>
            </a:pPr>
            <a:r>
              <a:rPr lang="en-US" sz="1150" dirty="0">
                <a:solidFill>
                  <a:srgbClr val="D2E2F0"/>
                </a:solidFill>
                <a:latin typeface="Calibri" pitchFamily="34" charset="0"/>
                <a:ea typeface="Calibri" pitchFamily="34" charset="-122"/>
                <a:cs typeface="Calibri" pitchFamily="34" charset="-120"/>
              </a:rPr>
              <a:t>PatientInput · DosingInput · PkResults · InputValidator · SupabaseRepository · AuthRepository</a:t>
            </a:r>
            <a:endParaRPr lang="en-US" sz="1150" dirty="0"/>
          </a:p>
        </p:txBody>
      </p:sp>
      <p:sp>
        <p:nvSpPr>
          <p:cNvPr id="32" name="Shape 29"/>
          <p:cNvSpPr/>
          <p:nvPr/>
        </p:nvSpPr>
        <p:spPr>
          <a:xfrm>
            <a:off x="640080" y="5394960"/>
            <a:ext cx="10911535" cy="822960"/>
          </a:xfrm>
          <a:prstGeom prst="roundRect">
            <a:avLst>
              <a:gd name="adj" fmla="val 10000"/>
            </a:avLst>
          </a:prstGeom>
          <a:solidFill>
            <a:srgbClr val="103352"/>
          </a:solidFill>
          <a:ln w="12700">
            <a:solidFill>
              <a:srgbClr val="103352"/>
            </a:solidFill>
            <a:prstDash val="solid"/>
          </a:ln>
        </p:spPr>
      </p:sp>
      <p:sp>
        <p:nvSpPr>
          <p:cNvPr id="33" name="Shape 30"/>
          <p:cNvSpPr/>
          <p:nvPr/>
        </p:nvSpPr>
        <p:spPr>
          <a:xfrm>
            <a:off x="859536" y="5614416"/>
            <a:ext cx="384048" cy="384048"/>
          </a:xfrm>
          <a:prstGeom prst="ellipse">
            <a:avLst/>
          </a:prstGeom>
          <a:solidFill>
            <a:srgbClr val="FFFFFF"/>
          </a:solidFill>
          <a:ln w="12700">
            <a:solidFill>
              <a:srgbClr val="FFFFFF"/>
            </a:solidFill>
            <a:prstDash val="solid"/>
          </a:ln>
        </p:spPr>
      </p:sp>
      <p:sp>
        <p:nvSpPr>
          <p:cNvPr id="34" name="Text 31"/>
          <p:cNvSpPr txBox="1"/>
          <p:nvPr/>
        </p:nvSpPr>
        <p:spPr>
          <a:xfrm>
            <a:off x="859536" y="5614416"/>
            <a:ext cx="384048" cy="384048"/>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5</a:t>
            </a:r>
            <a:endParaRPr lang="en-US" sz="1300" dirty="0"/>
          </a:p>
        </p:txBody>
      </p:sp>
      <p:sp>
        <p:nvSpPr>
          <p:cNvPr id="35" name="Text 32"/>
          <p:cNvSpPr txBox="1"/>
          <p:nvPr/>
        </p:nvSpPr>
        <p:spPr>
          <a:xfrm>
            <a:off x="1417320" y="5504688"/>
            <a:ext cx="2286000" cy="274320"/>
          </a:xfrm>
          <a:prstGeom prst="rect">
            <a:avLst/>
          </a:prstGeom>
          <a:noFill/>
          <a:ln/>
        </p:spPr>
        <p:txBody>
          <a:bodyPr wrap="square" lIns="0" tIns="0" rIns="0" bIns="0"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INFRASTRUCTURE</a:t>
            </a:r>
            <a:endParaRPr lang="en-US" sz="1250" dirty="0"/>
          </a:p>
        </p:txBody>
      </p:sp>
      <p:sp>
        <p:nvSpPr>
          <p:cNvPr id="36" name="Text 33"/>
          <p:cNvSpPr txBox="1"/>
          <p:nvPr/>
        </p:nvSpPr>
        <p:spPr>
          <a:xfrm>
            <a:off x="1417320" y="5797296"/>
            <a:ext cx="2377440" cy="274320"/>
          </a:xfrm>
          <a:prstGeom prst="rect">
            <a:avLst/>
          </a:prstGeom>
          <a:noFill/>
          <a:ln/>
        </p:spPr>
        <p:txBody>
          <a:bodyPr wrap="square" lIns="0" tIns="0" rIns="0" bIns="0" rtlCol="0" anchor="ctr"/>
          <a:lstStyle/>
          <a:p>
            <a:pPr indent="0" marL="0">
              <a:buNone/>
            </a:pPr>
            <a:r>
              <a:rPr lang="en-US" sz="1100" i="1" dirty="0">
                <a:solidFill>
                  <a:srgbClr val="A9C2DA"/>
                </a:solidFill>
                <a:latin typeface="Calibri" pitchFamily="34" charset="0"/>
                <a:ea typeface="Calibri" pitchFamily="34" charset="-122"/>
                <a:cs typeface="Calibri" pitchFamily="34" charset="-120"/>
              </a:rPr>
              <a:t>External services</a:t>
            </a:r>
            <a:endParaRPr lang="en-US" sz="1100" dirty="0"/>
          </a:p>
        </p:txBody>
      </p:sp>
      <p:sp>
        <p:nvSpPr>
          <p:cNvPr id="37" name="Text 34"/>
          <p:cNvSpPr txBox="1"/>
          <p:nvPr/>
        </p:nvSpPr>
        <p:spPr>
          <a:xfrm>
            <a:off x="3931920" y="5522976"/>
            <a:ext cx="7345375" cy="566928"/>
          </a:xfrm>
          <a:prstGeom prst="rect">
            <a:avLst/>
          </a:prstGeom>
          <a:noFill/>
          <a:ln/>
        </p:spPr>
        <p:txBody>
          <a:bodyPr wrap="square" lIns="0" tIns="0" rIns="0" bIns="0" rtlCol="0" anchor="ctr"/>
          <a:lstStyle/>
          <a:p>
            <a:pPr indent="0" marL="0">
              <a:buNone/>
            </a:pPr>
            <a:r>
              <a:rPr lang="en-US" sz="1150" dirty="0">
                <a:solidFill>
                  <a:srgbClr val="D2E2F0"/>
                </a:solidFill>
                <a:latin typeface="Calibri" pitchFamily="34" charset="0"/>
                <a:ea typeface="Calibri" pitchFamily="34" charset="-122"/>
                <a:cs typeface="Calibri" pitchFamily="34" charset="-120"/>
              </a:rPr>
              <a:t>Supabase PostgreSQL (REST)  ·  Clerk Frontend API (Ktor/HTTP)  ·  SharedPreferences (local session)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03 · ARCHITECTURE</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System architecture — the whole system on one page</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Everything on the left runs on the phone. Only two arrows cross into the cloud, and both are HTTPS.</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7</a:t>
            </a:r>
            <a:endParaRPr lang="en-US" sz="900" dirty="0"/>
          </a:p>
        </p:txBody>
      </p:sp>
      <p:sp>
        <p:nvSpPr>
          <p:cNvPr id="8" name="Shape 5"/>
          <p:cNvSpPr/>
          <p:nvPr/>
        </p:nvSpPr>
        <p:spPr>
          <a:xfrm>
            <a:off x="640080" y="1627632"/>
            <a:ext cx="6217920" cy="4462272"/>
          </a:xfrm>
          <a:prstGeom prst="roundRect">
            <a:avLst>
              <a:gd name="adj" fmla="val 2049"/>
            </a:avLst>
          </a:prstGeom>
          <a:solidFill>
            <a:srgbClr val="F4F6F8"/>
          </a:solidFill>
          <a:ln w="19050">
            <a:solidFill>
              <a:srgbClr val="D8E1EA"/>
            </a:solidFill>
            <a:prstDash val="solid"/>
          </a:ln>
        </p:spPr>
      </p:sp>
      <p:sp>
        <p:nvSpPr>
          <p:cNvPr id="9" name="Text 6"/>
          <p:cNvSpPr txBox="1"/>
          <p:nvPr/>
        </p:nvSpPr>
        <p:spPr>
          <a:xfrm>
            <a:off x="841248" y="1700784"/>
            <a:ext cx="5815584" cy="237744"/>
          </a:xfrm>
          <a:prstGeom prst="rect">
            <a:avLst/>
          </a:prstGeom>
          <a:noFill/>
          <a:ln/>
        </p:spPr>
        <p:txBody>
          <a:bodyPr wrap="square" lIns="0" tIns="0" rIns="0" bIns="0" rtlCol="0" anchor="ctr"/>
          <a:lstStyle/>
          <a:p>
            <a:pPr indent="0" marL="0">
              <a:buNone/>
            </a:pPr>
            <a:r>
              <a:rPr lang="en-US" sz="950" b="1" spc="150" kern="0" dirty="0">
                <a:solidFill>
                  <a:srgbClr val="8A96A3"/>
                </a:solidFill>
                <a:latin typeface="Calibri" pitchFamily="34" charset="0"/>
                <a:ea typeface="Calibri" pitchFamily="34" charset="-122"/>
                <a:cs typeface="Calibri" pitchFamily="34" charset="-120"/>
              </a:rPr>
              <a:t>ANDROID DEVICE  —  offline-capable</a:t>
            </a:r>
            <a:endParaRPr lang="en-US" sz="950" dirty="0"/>
          </a:p>
        </p:txBody>
      </p:sp>
      <p:sp>
        <p:nvSpPr>
          <p:cNvPr id="10" name="Shape 7"/>
          <p:cNvSpPr/>
          <p:nvPr/>
        </p:nvSpPr>
        <p:spPr>
          <a:xfrm>
            <a:off x="914400" y="2011680"/>
            <a:ext cx="5669280" cy="402336"/>
          </a:xfrm>
          <a:prstGeom prst="roundRect">
            <a:avLst>
              <a:gd name="adj" fmla="val 18182"/>
            </a:avLst>
          </a:prstGeom>
          <a:solidFill>
            <a:srgbClr val="0B2545"/>
          </a:solidFill>
          <a:ln w="12700">
            <a:solidFill>
              <a:srgbClr val="0B2545"/>
            </a:solidFill>
            <a:prstDash val="solid"/>
          </a:ln>
        </p:spPr>
      </p:sp>
      <p:sp>
        <p:nvSpPr>
          <p:cNvPr id="11" name="Text 8"/>
          <p:cNvSpPr txBox="1"/>
          <p:nvPr/>
        </p:nvSpPr>
        <p:spPr>
          <a:xfrm>
            <a:off x="1005840" y="2011680"/>
            <a:ext cx="548640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MainActivity  ·  single Activity, no Fragments</a:t>
            </a:r>
            <a:endParaRPr lang="en-US" sz="1100" dirty="0"/>
          </a:p>
        </p:txBody>
      </p:sp>
      <p:sp>
        <p:nvSpPr>
          <p:cNvPr id="12" name="Shape 9"/>
          <p:cNvSpPr/>
          <p:nvPr/>
        </p:nvSpPr>
        <p:spPr>
          <a:xfrm>
            <a:off x="3749040" y="2432304"/>
            <a:ext cx="0" cy="146304"/>
          </a:xfrm>
          <a:prstGeom prst="line">
            <a:avLst/>
          </a:prstGeom>
          <a:noFill/>
          <a:ln w="22225">
            <a:solidFill>
              <a:srgbClr val="8A96A3"/>
            </a:solidFill>
            <a:prstDash val="solid"/>
            <a:tailEnd type="triangle"/>
          </a:ln>
        </p:spPr>
      </p:sp>
      <p:sp>
        <p:nvSpPr>
          <p:cNvPr id="13" name="Shape 10"/>
          <p:cNvSpPr/>
          <p:nvPr/>
        </p:nvSpPr>
        <p:spPr>
          <a:xfrm>
            <a:off x="914400" y="2596896"/>
            <a:ext cx="5669280" cy="402336"/>
          </a:xfrm>
          <a:prstGeom prst="roundRect">
            <a:avLst>
              <a:gd name="adj" fmla="val 18182"/>
            </a:avLst>
          </a:prstGeom>
          <a:solidFill>
            <a:srgbClr val="073A6B"/>
          </a:solidFill>
          <a:ln w="12700">
            <a:solidFill>
              <a:srgbClr val="073A6B"/>
            </a:solidFill>
            <a:prstDash val="solid"/>
          </a:ln>
        </p:spPr>
      </p:sp>
      <p:sp>
        <p:nvSpPr>
          <p:cNvPr id="14" name="Text 11"/>
          <p:cNvSpPr txBox="1"/>
          <p:nvPr/>
        </p:nvSpPr>
        <p:spPr>
          <a:xfrm>
            <a:off x="1005840" y="2596896"/>
            <a:ext cx="548640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NavGraph  ·  routes + authentication gate</a:t>
            </a:r>
            <a:endParaRPr lang="en-US" sz="1100" dirty="0"/>
          </a:p>
        </p:txBody>
      </p:sp>
      <p:sp>
        <p:nvSpPr>
          <p:cNvPr id="15" name="Shape 12"/>
          <p:cNvSpPr/>
          <p:nvPr/>
        </p:nvSpPr>
        <p:spPr>
          <a:xfrm>
            <a:off x="3749040" y="3017520"/>
            <a:ext cx="0" cy="146304"/>
          </a:xfrm>
          <a:prstGeom prst="line">
            <a:avLst/>
          </a:prstGeom>
          <a:noFill/>
          <a:ln w="22225">
            <a:solidFill>
              <a:srgbClr val="8A96A3"/>
            </a:solidFill>
            <a:prstDash val="solid"/>
            <a:tailEnd type="triangle"/>
          </a:ln>
        </p:spPr>
      </p:sp>
      <p:sp>
        <p:nvSpPr>
          <p:cNvPr id="16" name="Shape 13"/>
          <p:cNvSpPr/>
          <p:nvPr/>
        </p:nvSpPr>
        <p:spPr>
          <a:xfrm>
            <a:off x="914400" y="3182112"/>
            <a:ext cx="5669280" cy="566928"/>
          </a:xfrm>
          <a:prstGeom prst="roundRect">
            <a:avLst>
              <a:gd name="adj" fmla="val 12903"/>
            </a:avLst>
          </a:prstGeom>
          <a:solidFill>
            <a:srgbClr val="1464A8"/>
          </a:solidFill>
          <a:ln w="12700">
            <a:solidFill>
              <a:srgbClr val="1464A8"/>
            </a:solidFill>
            <a:prstDash val="solid"/>
          </a:ln>
        </p:spPr>
      </p:sp>
      <p:sp>
        <p:nvSpPr>
          <p:cNvPr id="17" name="Text 14"/>
          <p:cNvSpPr txBox="1"/>
          <p:nvPr/>
        </p:nvSpPr>
        <p:spPr>
          <a:xfrm>
            <a:off x="1024128" y="3273552"/>
            <a:ext cx="544982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Compose screens  ·  14 destinations</a:t>
            </a:r>
            <a:endParaRPr lang="en-US" sz="1100" dirty="0"/>
          </a:p>
        </p:txBody>
      </p:sp>
      <p:sp>
        <p:nvSpPr>
          <p:cNvPr id="18" name="Text 15"/>
          <p:cNvSpPr txBox="1"/>
          <p:nvPr/>
        </p:nvSpPr>
        <p:spPr>
          <a:xfrm>
            <a:off x="1024128" y="3493008"/>
            <a:ext cx="5449824" cy="164592"/>
          </a:xfrm>
          <a:prstGeom prst="rect">
            <a:avLst/>
          </a:prstGeom>
          <a:noFill/>
          <a:ln/>
        </p:spPr>
        <p:txBody>
          <a:bodyPr wrap="square" lIns="0" tIns="0" rIns="0" bIns="0" rtlCol="0" anchor="ctr"/>
          <a:lstStyle/>
          <a:p>
            <a:pPr algn="ctr" indent="0" marL="0">
              <a:lnSpc>
                <a:spcPts val="1170"/>
              </a:lnSpc>
              <a:buNone/>
            </a:pPr>
            <a:r>
              <a:rPr lang="en-US" sz="900" dirty="0">
                <a:solidFill>
                  <a:srgbClr val="FFFFFF"/>
                </a:solidFill>
                <a:latin typeface="Calibri" pitchFamily="34" charset="0"/>
                <a:ea typeface="Calibri" pitchFamily="34" charset="-122"/>
                <a:cs typeface="Calibri" pitchFamily="34" charset="-120"/>
              </a:rPr>
              <a:t>Splash · Auth · Home · Case wizard · Results · Explanation · History · Settings</a:t>
            </a:r>
            <a:endParaRPr lang="en-US" sz="900" dirty="0"/>
          </a:p>
        </p:txBody>
      </p:sp>
      <p:sp>
        <p:nvSpPr>
          <p:cNvPr id="19" name="Shape 16"/>
          <p:cNvSpPr/>
          <p:nvPr/>
        </p:nvSpPr>
        <p:spPr>
          <a:xfrm>
            <a:off x="3749040" y="3767328"/>
            <a:ext cx="0" cy="146304"/>
          </a:xfrm>
          <a:prstGeom prst="line">
            <a:avLst/>
          </a:prstGeom>
          <a:noFill/>
          <a:ln w="22225">
            <a:solidFill>
              <a:srgbClr val="8A96A3"/>
            </a:solidFill>
            <a:prstDash val="solid"/>
            <a:tailEnd type="triangle"/>
          </a:ln>
        </p:spPr>
      </p:sp>
      <p:sp>
        <p:nvSpPr>
          <p:cNvPr id="20" name="Shape 17"/>
          <p:cNvSpPr/>
          <p:nvPr/>
        </p:nvSpPr>
        <p:spPr>
          <a:xfrm>
            <a:off x="914400" y="3931920"/>
            <a:ext cx="5669280" cy="566928"/>
          </a:xfrm>
          <a:prstGeom prst="roundRect">
            <a:avLst>
              <a:gd name="adj" fmla="val 12903"/>
            </a:avLst>
          </a:prstGeom>
          <a:solidFill>
            <a:srgbClr val="1E5C96"/>
          </a:solidFill>
          <a:ln w="12700">
            <a:solidFill>
              <a:srgbClr val="1E5C96"/>
            </a:solidFill>
            <a:prstDash val="solid"/>
          </a:ln>
        </p:spPr>
      </p:sp>
      <p:sp>
        <p:nvSpPr>
          <p:cNvPr id="21" name="Text 18"/>
          <p:cNvSpPr txBox="1"/>
          <p:nvPr/>
        </p:nvSpPr>
        <p:spPr>
          <a:xfrm>
            <a:off x="1024128" y="4023360"/>
            <a:ext cx="544982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ViewModels  ·  StateFlow</a:t>
            </a:r>
            <a:endParaRPr lang="en-US" sz="1100" dirty="0"/>
          </a:p>
        </p:txBody>
      </p:sp>
      <p:sp>
        <p:nvSpPr>
          <p:cNvPr id="22" name="Text 19"/>
          <p:cNvSpPr txBox="1"/>
          <p:nvPr/>
        </p:nvSpPr>
        <p:spPr>
          <a:xfrm>
            <a:off x="1024128" y="4242816"/>
            <a:ext cx="5449824" cy="164592"/>
          </a:xfrm>
          <a:prstGeom prst="rect">
            <a:avLst/>
          </a:prstGeom>
          <a:noFill/>
          <a:ln/>
        </p:spPr>
        <p:txBody>
          <a:bodyPr wrap="square" lIns="0" tIns="0" rIns="0" bIns="0" rtlCol="0" anchor="ctr"/>
          <a:lstStyle/>
          <a:p>
            <a:pPr algn="ctr" indent="0" marL="0">
              <a:lnSpc>
                <a:spcPts val="1170"/>
              </a:lnSpc>
              <a:buNone/>
            </a:pPr>
            <a:r>
              <a:rPr lang="en-US" sz="900" dirty="0">
                <a:solidFill>
                  <a:srgbClr val="FFFFFF"/>
                </a:solidFill>
                <a:latin typeface="Calibri" pitchFamily="34" charset="0"/>
                <a:ea typeface="Calibri" pitchFamily="34" charset="-122"/>
                <a:cs typeface="Calibri" pitchFamily="34" charset="-120"/>
              </a:rPr>
              <a:t>CaseViewModel   ·   AuthViewModel   ·   HistoryViewModel</a:t>
            </a:r>
            <a:endParaRPr lang="en-US" sz="900" dirty="0"/>
          </a:p>
        </p:txBody>
      </p:sp>
      <p:sp>
        <p:nvSpPr>
          <p:cNvPr id="23" name="Shape 20"/>
          <p:cNvSpPr/>
          <p:nvPr/>
        </p:nvSpPr>
        <p:spPr>
          <a:xfrm>
            <a:off x="3749040" y="4517136"/>
            <a:ext cx="0" cy="146304"/>
          </a:xfrm>
          <a:prstGeom prst="line">
            <a:avLst/>
          </a:prstGeom>
          <a:noFill/>
          <a:ln w="22225">
            <a:solidFill>
              <a:srgbClr val="8A96A3"/>
            </a:solidFill>
            <a:prstDash val="solid"/>
            <a:tailEnd type="triangle"/>
          </a:ln>
        </p:spPr>
      </p:sp>
      <p:sp>
        <p:nvSpPr>
          <p:cNvPr id="24" name="Shape 21"/>
          <p:cNvSpPr/>
          <p:nvPr/>
        </p:nvSpPr>
        <p:spPr>
          <a:xfrm>
            <a:off x="914400" y="4681728"/>
            <a:ext cx="1767840" cy="603504"/>
          </a:xfrm>
          <a:prstGeom prst="roundRect">
            <a:avLst>
              <a:gd name="adj" fmla="val 12121"/>
            </a:avLst>
          </a:prstGeom>
          <a:solidFill>
            <a:srgbClr val="0F6B6B"/>
          </a:solidFill>
          <a:ln w="12700">
            <a:solidFill>
              <a:srgbClr val="0F6B6B"/>
            </a:solidFill>
            <a:prstDash val="solid"/>
          </a:ln>
        </p:spPr>
      </p:sp>
      <p:sp>
        <p:nvSpPr>
          <p:cNvPr id="25" name="Text 22"/>
          <p:cNvSpPr txBox="1"/>
          <p:nvPr/>
        </p:nvSpPr>
        <p:spPr>
          <a:xfrm>
            <a:off x="1024128" y="4773168"/>
            <a:ext cx="154838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VancoEngine</a:t>
            </a:r>
            <a:endParaRPr lang="en-US" sz="950" dirty="0"/>
          </a:p>
        </p:txBody>
      </p:sp>
      <p:sp>
        <p:nvSpPr>
          <p:cNvPr id="26" name="Text 23"/>
          <p:cNvSpPr txBox="1"/>
          <p:nvPr/>
        </p:nvSpPr>
        <p:spPr>
          <a:xfrm>
            <a:off x="1024128" y="4992624"/>
            <a:ext cx="1548384" cy="201168"/>
          </a:xfrm>
          <a:prstGeom prst="rect">
            <a:avLst/>
          </a:prstGeom>
          <a:noFill/>
          <a:ln/>
        </p:spPr>
        <p:txBody>
          <a:bodyPr wrap="square" lIns="0" tIns="0" rIns="0" bIns="0" rtlCol="0" anchor="ctr"/>
          <a:lstStyle/>
          <a:p>
            <a:pPr algn="ctr" indent="0" marL="0">
              <a:lnSpc>
                <a:spcPts val="975"/>
              </a:lnSpc>
              <a:buNone/>
            </a:pPr>
            <a:r>
              <a:rPr lang="en-US" sz="750" dirty="0">
                <a:solidFill>
                  <a:srgbClr val="FFFFFF"/>
                </a:solidFill>
                <a:latin typeface="Calibri" pitchFamily="34" charset="0"/>
                <a:ea typeface="Calibri" pitchFamily="34" charset="-122"/>
                <a:cs typeface="Calibri" pitchFamily="34" charset="-120"/>
              </a:rPr>
              <a:t>domain · pure Kotlin</a:t>
            </a:r>
            <a:endParaRPr lang="en-US" sz="750" dirty="0"/>
          </a:p>
        </p:txBody>
      </p:sp>
      <p:sp>
        <p:nvSpPr>
          <p:cNvPr id="27" name="Shape 24"/>
          <p:cNvSpPr/>
          <p:nvPr/>
        </p:nvSpPr>
        <p:spPr>
          <a:xfrm>
            <a:off x="2865120" y="4681728"/>
            <a:ext cx="1767840" cy="603504"/>
          </a:xfrm>
          <a:prstGeom prst="roundRect">
            <a:avLst>
              <a:gd name="adj" fmla="val 12121"/>
            </a:avLst>
          </a:prstGeom>
          <a:solidFill>
            <a:srgbClr val="14456E"/>
          </a:solidFill>
          <a:ln w="12700">
            <a:solidFill>
              <a:srgbClr val="14456E"/>
            </a:solidFill>
            <a:prstDash val="solid"/>
          </a:ln>
        </p:spPr>
      </p:sp>
      <p:sp>
        <p:nvSpPr>
          <p:cNvPr id="28" name="Text 25"/>
          <p:cNvSpPr txBox="1"/>
          <p:nvPr/>
        </p:nvSpPr>
        <p:spPr>
          <a:xfrm>
            <a:off x="2974848" y="4773168"/>
            <a:ext cx="154838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SupabaseRepository</a:t>
            </a:r>
            <a:endParaRPr lang="en-US" sz="950" dirty="0"/>
          </a:p>
        </p:txBody>
      </p:sp>
      <p:sp>
        <p:nvSpPr>
          <p:cNvPr id="29" name="Text 26"/>
          <p:cNvSpPr txBox="1"/>
          <p:nvPr/>
        </p:nvSpPr>
        <p:spPr>
          <a:xfrm>
            <a:off x="2974848" y="4992624"/>
            <a:ext cx="1548384" cy="201168"/>
          </a:xfrm>
          <a:prstGeom prst="rect">
            <a:avLst/>
          </a:prstGeom>
          <a:noFill/>
          <a:ln/>
        </p:spPr>
        <p:txBody>
          <a:bodyPr wrap="square" lIns="0" tIns="0" rIns="0" bIns="0" rtlCol="0" anchor="ctr"/>
          <a:lstStyle/>
          <a:p>
            <a:pPr algn="ctr" indent="0" marL="0">
              <a:lnSpc>
                <a:spcPts val="975"/>
              </a:lnSpc>
              <a:buNone/>
            </a:pPr>
            <a:r>
              <a:rPr lang="en-US" sz="750" dirty="0">
                <a:solidFill>
                  <a:srgbClr val="FFFFFF"/>
                </a:solidFill>
                <a:latin typeface="Calibri" pitchFamily="34" charset="0"/>
                <a:ea typeface="Calibri" pitchFamily="34" charset="-122"/>
                <a:cs typeface="Calibri" pitchFamily="34" charset="-120"/>
              </a:rPr>
              <a:t>data · cases</a:t>
            </a:r>
            <a:endParaRPr lang="en-US" sz="750" dirty="0"/>
          </a:p>
        </p:txBody>
      </p:sp>
      <p:sp>
        <p:nvSpPr>
          <p:cNvPr id="30" name="Shape 27"/>
          <p:cNvSpPr/>
          <p:nvPr/>
        </p:nvSpPr>
        <p:spPr>
          <a:xfrm>
            <a:off x="4815840" y="4681728"/>
            <a:ext cx="1767840" cy="603504"/>
          </a:xfrm>
          <a:prstGeom prst="roundRect">
            <a:avLst>
              <a:gd name="adj" fmla="val 12121"/>
            </a:avLst>
          </a:prstGeom>
          <a:solidFill>
            <a:srgbClr val="14456E"/>
          </a:solidFill>
          <a:ln w="12700">
            <a:solidFill>
              <a:srgbClr val="14456E"/>
            </a:solidFill>
            <a:prstDash val="solid"/>
          </a:ln>
        </p:spPr>
      </p:sp>
      <p:sp>
        <p:nvSpPr>
          <p:cNvPr id="31" name="Text 28"/>
          <p:cNvSpPr txBox="1"/>
          <p:nvPr/>
        </p:nvSpPr>
        <p:spPr>
          <a:xfrm>
            <a:off x="4925568" y="4773168"/>
            <a:ext cx="154838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AuthRepository</a:t>
            </a:r>
            <a:endParaRPr lang="en-US" sz="950" dirty="0"/>
          </a:p>
        </p:txBody>
      </p:sp>
      <p:sp>
        <p:nvSpPr>
          <p:cNvPr id="32" name="Text 29"/>
          <p:cNvSpPr txBox="1"/>
          <p:nvPr/>
        </p:nvSpPr>
        <p:spPr>
          <a:xfrm>
            <a:off x="4925568" y="4992624"/>
            <a:ext cx="1548384" cy="201168"/>
          </a:xfrm>
          <a:prstGeom prst="rect">
            <a:avLst/>
          </a:prstGeom>
          <a:noFill/>
          <a:ln/>
        </p:spPr>
        <p:txBody>
          <a:bodyPr wrap="square" lIns="0" tIns="0" rIns="0" bIns="0" rtlCol="0" anchor="ctr"/>
          <a:lstStyle/>
          <a:p>
            <a:pPr algn="ctr" indent="0" marL="0">
              <a:lnSpc>
                <a:spcPts val="975"/>
              </a:lnSpc>
              <a:buNone/>
            </a:pPr>
            <a:r>
              <a:rPr lang="en-US" sz="750" dirty="0">
                <a:solidFill>
                  <a:srgbClr val="FFFFFF"/>
                </a:solidFill>
                <a:latin typeface="Calibri" pitchFamily="34" charset="0"/>
                <a:ea typeface="Calibri" pitchFamily="34" charset="-122"/>
                <a:cs typeface="Calibri" pitchFamily="34" charset="-120"/>
              </a:rPr>
              <a:t>data · session</a:t>
            </a:r>
            <a:endParaRPr lang="en-US" sz="750" dirty="0"/>
          </a:p>
        </p:txBody>
      </p:sp>
      <p:sp>
        <p:nvSpPr>
          <p:cNvPr id="33" name="Shape 30"/>
          <p:cNvSpPr/>
          <p:nvPr/>
        </p:nvSpPr>
        <p:spPr>
          <a:xfrm>
            <a:off x="914400" y="5431536"/>
            <a:ext cx="5669280" cy="402336"/>
          </a:xfrm>
          <a:prstGeom prst="roundRect">
            <a:avLst>
              <a:gd name="adj" fmla="val 18182"/>
            </a:avLst>
          </a:prstGeom>
          <a:solidFill>
            <a:srgbClr val="8A96A3"/>
          </a:solidFill>
          <a:ln w="12700">
            <a:solidFill>
              <a:srgbClr val="8A96A3"/>
            </a:solidFill>
            <a:prstDash val="solid"/>
          </a:ln>
        </p:spPr>
      </p:sp>
      <p:sp>
        <p:nvSpPr>
          <p:cNvPr id="34" name="Text 31"/>
          <p:cNvSpPr txBox="1"/>
          <p:nvPr/>
        </p:nvSpPr>
        <p:spPr>
          <a:xfrm>
            <a:off x="1005840" y="5431536"/>
            <a:ext cx="5486400" cy="40233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SharedPreferences  ·  session, Clerk user ID, disclaimer flag</a:t>
            </a:r>
            <a:endParaRPr lang="en-US" sz="950" dirty="0"/>
          </a:p>
        </p:txBody>
      </p:sp>
      <p:sp>
        <p:nvSpPr>
          <p:cNvPr id="35" name="Shape 32"/>
          <p:cNvSpPr/>
          <p:nvPr/>
        </p:nvSpPr>
        <p:spPr>
          <a:xfrm>
            <a:off x="7818120" y="1627632"/>
            <a:ext cx="3733495" cy="4462272"/>
          </a:xfrm>
          <a:prstGeom prst="roundRect">
            <a:avLst>
              <a:gd name="adj" fmla="val 2449"/>
            </a:avLst>
          </a:prstGeom>
          <a:solidFill>
            <a:srgbClr val="EAF2FA"/>
          </a:solidFill>
          <a:ln w="19050">
            <a:solidFill>
              <a:srgbClr val="BFD5EA"/>
            </a:solidFill>
            <a:prstDash val="solid"/>
          </a:ln>
        </p:spPr>
      </p:sp>
      <p:sp>
        <p:nvSpPr>
          <p:cNvPr id="36" name="Text 33"/>
          <p:cNvSpPr txBox="1"/>
          <p:nvPr/>
        </p:nvSpPr>
        <p:spPr>
          <a:xfrm>
            <a:off x="8019288" y="1700784"/>
            <a:ext cx="3331159" cy="237744"/>
          </a:xfrm>
          <a:prstGeom prst="rect">
            <a:avLst/>
          </a:prstGeom>
          <a:noFill/>
          <a:ln/>
        </p:spPr>
        <p:txBody>
          <a:bodyPr wrap="square" lIns="0" tIns="0" rIns="0" bIns="0" rtlCol="0" anchor="ctr"/>
          <a:lstStyle/>
          <a:p>
            <a:pPr indent="0" marL="0">
              <a:buNone/>
            </a:pPr>
            <a:r>
              <a:rPr lang="en-US" sz="950" b="1" spc="150" kern="0" dirty="0">
                <a:solidFill>
                  <a:srgbClr val="5C7C99"/>
                </a:solidFill>
                <a:latin typeface="Calibri" pitchFamily="34" charset="0"/>
                <a:ea typeface="Calibri" pitchFamily="34" charset="-122"/>
                <a:cs typeface="Calibri" pitchFamily="34" charset="-120"/>
              </a:rPr>
              <a:t>CLOUD SERVICES</a:t>
            </a:r>
            <a:endParaRPr lang="en-US" sz="950" dirty="0"/>
          </a:p>
        </p:txBody>
      </p:sp>
      <p:sp>
        <p:nvSpPr>
          <p:cNvPr id="37" name="Shape 34"/>
          <p:cNvSpPr/>
          <p:nvPr/>
        </p:nvSpPr>
        <p:spPr>
          <a:xfrm>
            <a:off x="8074152" y="2148840"/>
            <a:ext cx="3221431" cy="822960"/>
          </a:xfrm>
          <a:prstGeom prst="roundRect">
            <a:avLst>
              <a:gd name="adj" fmla="val 8889"/>
            </a:avLst>
          </a:prstGeom>
          <a:solidFill>
            <a:srgbClr val="073A6B"/>
          </a:solidFill>
          <a:ln w="12700">
            <a:solidFill>
              <a:srgbClr val="073A6B"/>
            </a:solidFill>
            <a:prstDash val="solid"/>
          </a:ln>
        </p:spPr>
      </p:sp>
      <p:sp>
        <p:nvSpPr>
          <p:cNvPr id="38" name="Text 35"/>
          <p:cNvSpPr txBox="1"/>
          <p:nvPr/>
        </p:nvSpPr>
        <p:spPr>
          <a:xfrm>
            <a:off x="8183880" y="2240280"/>
            <a:ext cx="3001975"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Clerk</a:t>
            </a:r>
            <a:endParaRPr lang="en-US" sz="1300" dirty="0"/>
          </a:p>
        </p:txBody>
      </p:sp>
      <p:sp>
        <p:nvSpPr>
          <p:cNvPr id="39" name="Text 36"/>
          <p:cNvSpPr txBox="1"/>
          <p:nvPr/>
        </p:nvSpPr>
        <p:spPr>
          <a:xfrm>
            <a:off x="8183880" y="2459736"/>
            <a:ext cx="3001975" cy="420624"/>
          </a:xfrm>
          <a:prstGeom prst="rect">
            <a:avLst/>
          </a:prstGeom>
          <a:noFill/>
          <a:ln/>
        </p:spPr>
        <p:txBody>
          <a:bodyPr wrap="square" lIns="0" tIns="0" rIns="0" bIns="0" rtlCol="0" anchor="ctr"/>
          <a:lstStyle/>
          <a:p>
            <a:pPr algn="ctr" indent="0" marL="0">
              <a:lnSpc>
                <a:spcPts val="1430"/>
              </a:lnSpc>
              <a:buNone/>
            </a:pPr>
            <a:r>
              <a:rPr lang="en-US" sz="1100" dirty="0">
                <a:solidFill>
                  <a:srgbClr val="FFFFFF"/>
                </a:solidFill>
                <a:latin typeface="Calibri" pitchFamily="34" charset="0"/>
                <a:ea typeface="Calibri" pitchFamily="34" charset="-122"/>
                <a:cs typeface="Calibri" pitchFamily="34" charset="-120"/>
              </a:rPr>
              <a:t>identity provider</a:t>
            </a:r>
            <a:endParaRPr lang="en-US" sz="1100" dirty="0"/>
          </a:p>
          <a:p>
            <a:pPr algn="ctr" indent="0" marL="0">
              <a:lnSpc>
                <a:spcPts val="1430"/>
              </a:lnSpc>
              <a:buNone/>
            </a:pPr>
            <a:r>
              <a:rPr lang="en-US" sz="1100" dirty="0">
                <a:solidFill>
                  <a:srgbClr val="FFFFFF"/>
                </a:solidFill>
                <a:latin typeface="Calibri" pitchFamily="34" charset="0"/>
                <a:ea typeface="Calibri" pitchFamily="34" charset="-122"/>
                <a:cs typeface="Calibri" pitchFamily="34" charset="-120"/>
              </a:rPr>
              <a:t>email + password · verification · Google OAuth</a:t>
            </a:r>
            <a:endParaRPr lang="en-US" sz="1100" dirty="0"/>
          </a:p>
        </p:txBody>
      </p:sp>
      <p:sp>
        <p:nvSpPr>
          <p:cNvPr id="40" name="Shape 37"/>
          <p:cNvSpPr/>
          <p:nvPr/>
        </p:nvSpPr>
        <p:spPr>
          <a:xfrm>
            <a:off x="8074152" y="3520440"/>
            <a:ext cx="3221431" cy="731520"/>
          </a:xfrm>
          <a:prstGeom prst="roundRect">
            <a:avLst>
              <a:gd name="adj" fmla="val 10000"/>
            </a:avLst>
          </a:prstGeom>
          <a:solidFill>
            <a:srgbClr val="1464A8"/>
          </a:solidFill>
          <a:ln w="12700">
            <a:solidFill>
              <a:srgbClr val="1464A8"/>
            </a:solidFill>
            <a:prstDash val="solid"/>
          </a:ln>
        </p:spPr>
      </p:sp>
      <p:sp>
        <p:nvSpPr>
          <p:cNvPr id="41" name="Text 38"/>
          <p:cNvSpPr txBox="1"/>
          <p:nvPr/>
        </p:nvSpPr>
        <p:spPr>
          <a:xfrm>
            <a:off x="8183880" y="3611880"/>
            <a:ext cx="3001975"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Supabase REST</a:t>
            </a:r>
            <a:endParaRPr lang="en-US" sz="1300" dirty="0"/>
          </a:p>
        </p:txBody>
      </p:sp>
      <p:sp>
        <p:nvSpPr>
          <p:cNvPr id="42" name="Text 39"/>
          <p:cNvSpPr txBox="1"/>
          <p:nvPr/>
        </p:nvSpPr>
        <p:spPr>
          <a:xfrm>
            <a:off x="8183880" y="3831336"/>
            <a:ext cx="3001975" cy="329184"/>
          </a:xfrm>
          <a:prstGeom prst="rect">
            <a:avLst/>
          </a:prstGeom>
          <a:noFill/>
          <a:ln/>
        </p:spPr>
        <p:txBody>
          <a:bodyPr wrap="square" lIns="0" tIns="0" rIns="0" bIns="0" rtlCol="0" anchor="ctr"/>
          <a:lstStyle/>
          <a:p>
            <a:pPr algn="ctr" indent="0" marL="0">
              <a:lnSpc>
                <a:spcPts val="1430"/>
              </a:lnSpc>
              <a:buNone/>
            </a:pPr>
            <a:r>
              <a:rPr lang="en-US" sz="1100" dirty="0">
                <a:solidFill>
                  <a:srgbClr val="FFFFFF"/>
                </a:solidFill>
                <a:latin typeface="Calibri" pitchFamily="34" charset="0"/>
                <a:ea typeface="Calibri" pitchFamily="34" charset="-122"/>
                <a:cs typeface="Calibri" pitchFamily="34" charset="-120"/>
              </a:rPr>
              <a:t>PostgREST endpoint</a:t>
            </a:r>
            <a:endParaRPr lang="en-US" sz="1100" dirty="0"/>
          </a:p>
          <a:p>
            <a:pPr algn="ctr" indent="0" marL="0">
              <a:lnSpc>
                <a:spcPts val="1430"/>
              </a:lnSpc>
              <a:buNone/>
            </a:pPr>
            <a:r>
              <a:rPr lang="en-US" sz="1100" dirty="0">
                <a:solidFill>
                  <a:srgbClr val="FFFFFF"/>
                </a:solidFill>
                <a:latin typeface="Calibri" pitchFamily="34" charset="0"/>
                <a:ea typeface="Calibri" pitchFamily="34" charset="-122"/>
                <a:cs typeface="Calibri" pitchFamily="34" charset="-120"/>
              </a:rPr>
              <a:t>anon key + row-level security</a:t>
            </a:r>
            <a:endParaRPr lang="en-US" sz="1100" dirty="0"/>
          </a:p>
        </p:txBody>
      </p:sp>
      <p:sp>
        <p:nvSpPr>
          <p:cNvPr id="43" name="Shape 40"/>
          <p:cNvSpPr/>
          <p:nvPr/>
        </p:nvSpPr>
        <p:spPr>
          <a:xfrm>
            <a:off x="9684868" y="4251960"/>
            <a:ext cx="0" cy="274320"/>
          </a:xfrm>
          <a:prstGeom prst="line">
            <a:avLst/>
          </a:prstGeom>
          <a:noFill/>
          <a:ln w="22225">
            <a:solidFill>
              <a:srgbClr val="8A96A3"/>
            </a:solidFill>
            <a:prstDash val="solid"/>
            <a:tailEnd type="triangle"/>
          </a:ln>
        </p:spPr>
      </p:sp>
      <p:sp>
        <p:nvSpPr>
          <p:cNvPr id="44" name="Shape 41"/>
          <p:cNvSpPr/>
          <p:nvPr/>
        </p:nvSpPr>
        <p:spPr>
          <a:xfrm>
            <a:off x="8074152" y="4544568"/>
            <a:ext cx="3221431" cy="914400"/>
          </a:xfrm>
          <a:prstGeom prst="roundRect">
            <a:avLst>
              <a:gd name="adj" fmla="val 8000"/>
            </a:avLst>
          </a:prstGeom>
          <a:solidFill>
            <a:srgbClr val="0F6B6B"/>
          </a:solidFill>
          <a:ln w="12700">
            <a:solidFill>
              <a:srgbClr val="0F6B6B"/>
            </a:solidFill>
            <a:prstDash val="solid"/>
          </a:ln>
        </p:spPr>
      </p:sp>
      <p:sp>
        <p:nvSpPr>
          <p:cNvPr id="45" name="Text 42"/>
          <p:cNvSpPr txBox="1"/>
          <p:nvPr/>
        </p:nvSpPr>
        <p:spPr>
          <a:xfrm>
            <a:off x="8183880" y="4636008"/>
            <a:ext cx="3001975"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PostgreSQL</a:t>
            </a:r>
            <a:endParaRPr lang="en-US" sz="1300" dirty="0"/>
          </a:p>
        </p:txBody>
      </p:sp>
      <p:sp>
        <p:nvSpPr>
          <p:cNvPr id="46" name="Text 43"/>
          <p:cNvSpPr txBox="1"/>
          <p:nvPr/>
        </p:nvSpPr>
        <p:spPr>
          <a:xfrm>
            <a:off x="8183880" y="4855464"/>
            <a:ext cx="3001975" cy="512064"/>
          </a:xfrm>
          <a:prstGeom prst="rect">
            <a:avLst/>
          </a:prstGeom>
          <a:noFill/>
          <a:ln/>
        </p:spPr>
        <p:txBody>
          <a:bodyPr wrap="square" lIns="0" tIns="0" rIns="0" bIns="0" rtlCol="0" anchor="ctr"/>
          <a:lstStyle/>
          <a:p>
            <a:pPr algn="ctr" indent="0" marL="0">
              <a:lnSpc>
                <a:spcPts val="1430"/>
              </a:lnSpc>
              <a:buNone/>
            </a:pPr>
            <a:r>
              <a:rPr lang="en-US" sz="1100" dirty="0">
                <a:solidFill>
                  <a:srgbClr val="FFFFFF"/>
                </a:solidFill>
                <a:latin typeface="Calibri" pitchFamily="34" charset="0"/>
                <a:ea typeface="Calibri" pitchFamily="34" charset="-122"/>
                <a:cs typeface="Calibri" pitchFamily="34" charset="-120"/>
              </a:rPr>
              <a:t>cases</a:t>
            </a:r>
            <a:endParaRPr lang="en-US" sz="1100" dirty="0"/>
          </a:p>
          <a:p>
            <a:pPr algn="ctr" indent="0" marL="0">
              <a:lnSpc>
                <a:spcPts val="1430"/>
              </a:lnSpc>
              <a:buNone/>
            </a:pPr>
            <a:r>
              <a:rPr lang="en-US" sz="1100" dirty="0">
                <a:solidFill>
                  <a:srgbClr val="FFFFFF"/>
                </a:solidFill>
                <a:latin typeface="Calibri" pitchFamily="34" charset="0"/>
                <a:ea typeface="Calibri" pitchFamily="34" charset="-122"/>
                <a:cs typeface="Calibri" pitchFamily="34" charset="-120"/>
              </a:rPr>
              <a:t>user_profiles</a:t>
            </a:r>
            <a:endParaRPr lang="en-US" sz="1100" dirty="0"/>
          </a:p>
        </p:txBody>
      </p:sp>
      <p:sp>
        <p:nvSpPr>
          <p:cNvPr id="47" name="Shape 44"/>
          <p:cNvSpPr/>
          <p:nvPr/>
        </p:nvSpPr>
        <p:spPr>
          <a:xfrm>
            <a:off x="6858000" y="2560320"/>
            <a:ext cx="960120" cy="0"/>
          </a:xfrm>
          <a:prstGeom prst="line">
            <a:avLst/>
          </a:prstGeom>
          <a:noFill/>
          <a:ln w="22225">
            <a:solidFill>
              <a:srgbClr val="073A6B"/>
            </a:solidFill>
            <a:prstDash val="solid"/>
            <a:tailEnd type="triangle"/>
          </a:ln>
        </p:spPr>
      </p:sp>
      <p:sp>
        <p:nvSpPr>
          <p:cNvPr id="48" name="Text 45"/>
          <p:cNvSpPr txBox="1"/>
          <p:nvPr/>
        </p:nvSpPr>
        <p:spPr>
          <a:xfrm>
            <a:off x="6858000" y="2304288"/>
            <a:ext cx="960120" cy="219456"/>
          </a:xfrm>
          <a:prstGeom prst="rect">
            <a:avLst/>
          </a:prstGeom>
          <a:noFill/>
          <a:ln/>
        </p:spPr>
        <p:txBody>
          <a:bodyPr wrap="square" lIns="0" tIns="0" rIns="0" bIns="0" rtlCol="0" anchor="ctr"/>
          <a:lstStyle/>
          <a:p>
            <a:pPr algn="ctr" indent="0" marL="0">
              <a:buNone/>
            </a:pPr>
            <a:r>
              <a:rPr lang="en-US" sz="850" dirty="0">
                <a:solidFill>
                  <a:srgbClr val="073A6B"/>
                </a:solidFill>
                <a:latin typeface="Calibri" pitchFamily="34" charset="0"/>
                <a:ea typeface="Calibri" pitchFamily="34" charset="-122"/>
                <a:cs typeface="Calibri" pitchFamily="34" charset="-120"/>
              </a:rPr>
              <a:t>HTTPS · Ktor</a:t>
            </a:r>
            <a:endParaRPr lang="en-US" sz="850" dirty="0"/>
          </a:p>
        </p:txBody>
      </p:sp>
      <p:sp>
        <p:nvSpPr>
          <p:cNvPr id="49" name="Shape 46"/>
          <p:cNvSpPr/>
          <p:nvPr/>
        </p:nvSpPr>
        <p:spPr>
          <a:xfrm>
            <a:off x="6858000" y="3886200"/>
            <a:ext cx="960120" cy="0"/>
          </a:xfrm>
          <a:prstGeom prst="line">
            <a:avLst/>
          </a:prstGeom>
          <a:noFill/>
          <a:ln w="22225">
            <a:solidFill>
              <a:srgbClr val="1464A8"/>
            </a:solidFill>
            <a:prstDash val="solid"/>
            <a:tailEnd type="triangle"/>
          </a:ln>
        </p:spPr>
      </p:sp>
      <p:sp>
        <p:nvSpPr>
          <p:cNvPr id="50" name="Text 47"/>
          <p:cNvSpPr txBox="1"/>
          <p:nvPr/>
        </p:nvSpPr>
        <p:spPr>
          <a:xfrm>
            <a:off x="6858000" y="3630168"/>
            <a:ext cx="960120" cy="219456"/>
          </a:xfrm>
          <a:prstGeom prst="rect">
            <a:avLst/>
          </a:prstGeom>
          <a:noFill/>
          <a:ln/>
        </p:spPr>
        <p:txBody>
          <a:bodyPr wrap="square" lIns="0" tIns="0" rIns="0" bIns="0" rtlCol="0" anchor="ctr"/>
          <a:lstStyle/>
          <a:p>
            <a:pPr algn="ctr" indent="0" marL="0">
              <a:buNone/>
            </a:pPr>
            <a:r>
              <a:rPr lang="en-US" sz="850" dirty="0">
                <a:solidFill>
                  <a:srgbClr val="1464A8"/>
                </a:solidFill>
                <a:latin typeface="Calibri" pitchFamily="34" charset="0"/>
                <a:ea typeface="Calibri" pitchFamily="34" charset="-122"/>
                <a:cs typeface="Calibri" pitchFamily="34" charset="-120"/>
              </a:rPr>
              <a:t>HTTPS · REST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03 · ARCHITECTURE</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The layer design — dependencies point one way</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A layer may call the layer below it and nothing above it. Follow the arrow: it never turns back up.</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8</a:t>
            </a:r>
            <a:endParaRPr lang="en-US" sz="900" dirty="0"/>
          </a:p>
        </p:txBody>
      </p:sp>
      <p:sp>
        <p:nvSpPr>
          <p:cNvPr id="8" name="Text 5"/>
          <p:cNvSpPr txBox="1"/>
          <p:nvPr/>
        </p:nvSpPr>
        <p:spPr>
          <a:xfrm>
            <a:off x="621792" y="1737360"/>
            <a:ext cx="822960" cy="219456"/>
          </a:xfrm>
          <a:prstGeom prst="rect">
            <a:avLst/>
          </a:prstGeom>
          <a:noFill/>
          <a:ln/>
        </p:spPr>
        <p:txBody>
          <a:bodyPr wrap="square" lIns="0" tIns="0" rIns="0" bIns="0" rtlCol="0" anchor="ctr"/>
          <a:lstStyle/>
          <a:p>
            <a:pPr algn="ctr" indent="0" marL="0">
              <a:buNone/>
            </a:pPr>
            <a:r>
              <a:rPr lang="en-US" sz="850" b="1" spc="100" kern="0" dirty="0">
                <a:solidFill>
                  <a:srgbClr val="8A96A3"/>
                </a:solidFill>
                <a:latin typeface="Calibri" pitchFamily="34" charset="0"/>
                <a:ea typeface="Calibri" pitchFamily="34" charset="-122"/>
                <a:cs typeface="Calibri" pitchFamily="34" charset="-120"/>
              </a:rPr>
              <a:t>DEPENDS ON</a:t>
            </a:r>
            <a:endParaRPr lang="en-US" sz="850" dirty="0"/>
          </a:p>
        </p:txBody>
      </p:sp>
      <p:sp>
        <p:nvSpPr>
          <p:cNvPr id="9" name="Shape 6"/>
          <p:cNvSpPr/>
          <p:nvPr/>
        </p:nvSpPr>
        <p:spPr>
          <a:xfrm>
            <a:off x="1005840" y="2011680"/>
            <a:ext cx="0" cy="3886200"/>
          </a:xfrm>
          <a:prstGeom prst="line">
            <a:avLst/>
          </a:prstGeom>
          <a:noFill/>
          <a:ln w="22225">
            <a:solidFill>
              <a:srgbClr val="1464A8"/>
            </a:solidFill>
            <a:prstDash val="solid"/>
            <a:tailEnd type="triangle"/>
          </a:ln>
        </p:spPr>
      </p:sp>
      <p:sp>
        <p:nvSpPr>
          <p:cNvPr id="10" name="Shape 7"/>
          <p:cNvSpPr/>
          <p:nvPr/>
        </p:nvSpPr>
        <p:spPr>
          <a:xfrm>
            <a:off x="1508760" y="1920240"/>
            <a:ext cx="5943600" cy="658368"/>
          </a:xfrm>
          <a:prstGeom prst="roundRect">
            <a:avLst>
              <a:gd name="adj" fmla="val 11111"/>
            </a:avLst>
          </a:prstGeom>
          <a:solidFill>
            <a:srgbClr val="1E5C96"/>
          </a:solidFill>
          <a:ln w="12700">
            <a:solidFill>
              <a:srgbClr val="1E5C96"/>
            </a:solidFill>
            <a:prstDash val="solid"/>
          </a:ln>
        </p:spPr>
      </p:sp>
      <p:sp>
        <p:nvSpPr>
          <p:cNvPr id="11" name="Text 8"/>
          <p:cNvSpPr txBox="1"/>
          <p:nvPr/>
        </p:nvSpPr>
        <p:spPr>
          <a:xfrm>
            <a:off x="1600200" y="1920240"/>
            <a:ext cx="5760720" cy="658368"/>
          </a:xfrm>
          <a:prstGeom prst="rect">
            <a:avLst/>
          </a:prstGeom>
          <a:noFill/>
          <a:ln/>
        </p:spPr>
        <p:txBody>
          <a:bodyPr wrap="square" lIns="0" tIns="0" rIns="0" bIns="0" rtlCol="0" anchor="ctr"/>
          <a:lstStyle/>
          <a:p>
            <a:pPr algn="ctr" indent="0" marL="0">
              <a:buNone/>
            </a:pPr>
            <a:endParaRPr lang="en-US" sz="1150" dirty="0"/>
          </a:p>
        </p:txBody>
      </p:sp>
      <p:sp>
        <p:nvSpPr>
          <p:cNvPr id="12" name="Shape 9"/>
          <p:cNvSpPr/>
          <p:nvPr/>
        </p:nvSpPr>
        <p:spPr>
          <a:xfrm>
            <a:off x="1673352" y="2057400"/>
            <a:ext cx="384048" cy="384048"/>
          </a:xfrm>
          <a:prstGeom prst="ellipse">
            <a:avLst/>
          </a:prstGeom>
          <a:solidFill>
            <a:srgbClr val="FFFFFF"/>
          </a:solidFill>
          <a:ln w="12700">
            <a:solidFill>
              <a:srgbClr val="FFFFFF"/>
            </a:solidFill>
            <a:prstDash val="solid"/>
          </a:ln>
        </p:spPr>
      </p:sp>
      <p:sp>
        <p:nvSpPr>
          <p:cNvPr id="13" name="Text 10"/>
          <p:cNvSpPr txBox="1"/>
          <p:nvPr/>
        </p:nvSpPr>
        <p:spPr>
          <a:xfrm>
            <a:off x="1673352" y="2057400"/>
            <a:ext cx="384048" cy="384048"/>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1</a:t>
            </a:r>
            <a:endParaRPr lang="en-US" sz="1300" dirty="0"/>
          </a:p>
        </p:txBody>
      </p:sp>
      <p:sp>
        <p:nvSpPr>
          <p:cNvPr id="14" name="Text 11"/>
          <p:cNvSpPr txBox="1"/>
          <p:nvPr/>
        </p:nvSpPr>
        <p:spPr>
          <a:xfrm>
            <a:off x="2167128" y="1993392"/>
            <a:ext cx="19202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Presentation</a:t>
            </a:r>
            <a:endParaRPr lang="en-US" sz="1250" dirty="0"/>
          </a:p>
        </p:txBody>
      </p:sp>
      <p:sp>
        <p:nvSpPr>
          <p:cNvPr id="15" name="Text 12"/>
          <p:cNvSpPr txBox="1"/>
          <p:nvPr/>
        </p:nvSpPr>
        <p:spPr>
          <a:xfrm>
            <a:off x="2167128" y="2249424"/>
            <a:ext cx="2194560" cy="256032"/>
          </a:xfrm>
          <a:prstGeom prst="rect">
            <a:avLst/>
          </a:prstGeom>
          <a:noFill/>
          <a:ln/>
        </p:spPr>
        <p:txBody>
          <a:bodyPr wrap="square" lIns="0" tIns="0" rIns="0" bIns="0" rtlCol="0" anchor="ctr"/>
          <a:lstStyle/>
          <a:p>
            <a:pPr indent="0" marL="0">
              <a:buNone/>
            </a:pPr>
            <a:r>
              <a:rPr lang="en-US" sz="950" dirty="0">
                <a:solidFill>
                  <a:srgbClr val="BCD3E8"/>
                </a:solidFill>
                <a:latin typeface="Calibri" pitchFamily="34" charset="0"/>
                <a:ea typeface="Calibri" pitchFamily="34" charset="-122"/>
                <a:cs typeface="Calibri" pitchFamily="34" charset="-120"/>
              </a:rPr>
              <a:t>Compose screens, theme, navigation</a:t>
            </a:r>
            <a:endParaRPr lang="en-US" sz="950" dirty="0"/>
          </a:p>
        </p:txBody>
      </p:sp>
      <p:sp>
        <p:nvSpPr>
          <p:cNvPr id="16" name="Text 13"/>
          <p:cNvSpPr txBox="1"/>
          <p:nvPr/>
        </p:nvSpPr>
        <p:spPr>
          <a:xfrm>
            <a:off x="4526280" y="1920240"/>
            <a:ext cx="2743200" cy="658368"/>
          </a:xfrm>
          <a:prstGeom prst="rect">
            <a:avLst/>
          </a:prstGeom>
          <a:noFill/>
          <a:ln/>
        </p:spPr>
        <p:txBody>
          <a:bodyPr wrap="square" lIns="0" tIns="0" rIns="0" bIns="0" rtlCol="0" anchor="ctr"/>
          <a:lstStyle/>
          <a:p>
            <a:pPr algn="r" indent="0" marL="0">
              <a:buNone/>
            </a:pPr>
            <a:r>
              <a:rPr lang="en-US" sz="1050" i="1" dirty="0">
                <a:solidFill>
                  <a:srgbClr val="D2E2F0"/>
                </a:solidFill>
                <a:latin typeface="Calibri" pitchFamily="34" charset="0"/>
                <a:ea typeface="Calibri" pitchFamily="34" charset="-122"/>
                <a:cs typeface="Calibri" pitchFamily="34" charset="-120"/>
              </a:rPr>
              <a:t>calls the ViewModel it is given</a:t>
            </a:r>
            <a:endParaRPr lang="en-US" sz="1050" dirty="0"/>
          </a:p>
        </p:txBody>
      </p:sp>
      <p:sp>
        <p:nvSpPr>
          <p:cNvPr id="17" name="Shape 14"/>
          <p:cNvSpPr/>
          <p:nvPr/>
        </p:nvSpPr>
        <p:spPr>
          <a:xfrm>
            <a:off x="4480560" y="2578608"/>
            <a:ext cx="0" cy="146304"/>
          </a:xfrm>
          <a:prstGeom prst="line">
            <a:avLst/>
          </a:prstGeom>
          <a:noFill/>
          <a:ln w="22225">
            <a:solidFill>
              <a:srgbClr val="9FB4C8"/>
            </a:solidFill>
            <a:prstDash val="solid"/>
            <a:tailEnd type="triangle"/>
          </a:ln>
        </p:spPr>
      </p:sp>
      <p:sp>
        <p:nvSpPr>
          <p:cNvPr id="18" name="Shape 15"/>
          <p:cNvSpPr/>
          <p:nvPr/>
        </p:nvSpPr>
        <p:spPr>
          <a:xfrm>
            <a:off x="1508760" y="2743200"/>
            <a:ext cx="5943600" cy="658368"/>
          </a:xfrm>
          <a:prstGeom prst="roundRect">
            <a:avLst>
              <a:gd name="adj" fmla="val 11111"/>
            </a:avLst>
          </a:prstGeom>
          <a:solidFill>
            <a:srgbClr val="17527F"/>
          </a:solidFill>
          <a:ln w="12700">
            <a:solidFill>
              <a:srgbClr val="17527F"/>
            </a:solidFill>
            <a:prstDash val="solid"/>
          </a:ln>
        </p:spPr>
      </p:sp>
      <p:sp>
        <p:nvSpPr>
          <p:cNvPr id="19" name="Text 16"/>
          <p:cNvSpPr txBox="1"/>
          <p:nvPr/>
        </p:nvSpPr>
        <p:spPr>
          <a:xfrm>
            <a:off x="1600200" y="2743200"/>
            <a:ext cx="5760720" cy="658368"/>
          </a:xfrm>
          <a:prstGeom prst="rect">
            <a:avLst/>
          </a:prstGeom>
          <a:noFill/>
          <a:ln/>
        </p:spPr>
        <p:txBody>
          <a:bodyPr wrap="square" lIns="0" tIns="0" rIns="0" bIns="0" rtlCol="0" anchor="ctr"/>
          <a:lstStyle/>
          <a:p>
            <a:pPr algn="ctr" indent="0" marL="0">
              <a:buNone/>
            </a:pPr>
            <a:endParaRPr lang="en-US" sz="1150" dirty="0"/>
          </a:p>
        </p:txBody>
      </p:sp>
      <p:sp>
        <p:nvSpPr>
          <p:cNvPr id="20" name="Shape 17"/>
          <p:cNvSpPr/>
          <p:nvPr/>
        </p:nvSpPr>
        <p:spPr>
          <a:xfrm>
            <a:off x="1673352" y="2880360"/>
            <a:ext cx="384048" cy="384048"/>
          </a:xfrm>
          <a:prstGeom prst="ellipse">
            <a:avLst/>
          </a:prstGeom>
          <a:solidFill>
            <a:srgbClr val="FFFFFF"/>
          </a:solidFill>
          <a:ln w="12700">
            <a:solidFill>
              <a:srgbClr val="FFFFFF"/>
            </a:solidFill>
            <a:prstDash val="solid"/>
          </a:ln>
        </p:spPr>
      </p:sp>
      <p:sp>
        <p:nvSpPr>
          <p:cNvPr id="21" name="Text 18"/>
          <p:cNvSpPr txBox="1"/>
          <p:nvPr/>
        </p:nvSpPr>
        <p:spPr>
          <a:xfrm>
            <a:off x="1673352" y="2880360"/>
            <a:ext cx="384048" cy="384048"/>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2</a:t>
            </a:r>
            <a:endParaRPr lang="en-US" sz="1300" dirty="0"/>
          </a:p>
        </p:txBody>
      </p:sp>
      <p:sp>
        <p:nvSpPr>
          <p:cNvPr id="22" name="Text 19"/>
          <p:cNvSpPr txBox="1"/>
          <p:nvPr/>
        </p:nvSpPr>
        <p:spPr>
          <a:xfrm>
            <a:off x="2167128" y="2816352"/>
            <a:ext cx="19202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Presentation logic</a:t>
            </a:r>
            <a:endParaRPr lang="en-US" sz="1250" dirty="0"/>
          </a:p>
        </p:txBody>
      </p:sp>
      <p:sp>
        <p:nvSpPr>
          <p:cNvPr id="23" name="Text 20"/>
          <p:cNvSpPr txBox="1"/>
          <p:nvPr/>
        </p:nvSpPr>
        <p:spPr>
          <a:xfrm>
            <a:off x="2167128" y="3072384"/>
            <a:ext cx="2194560" cy="256032"/>
          </a:xfrm>
          <a:prstGeom prst="rect">
            <a:avLst/>
          </a:prstGeom>
          <a:noFill/>
          <a:ln/>
        </p:spPr>
        <p:txBody>
          <a:bodyPr wrap="square" lIns="0" tIns="0" rIns="0" bIns="0" rtlCol="0" anchor="ctr"/>
          <a:lstStyle/>
          <a:p>
            <a:pPr indent="0" marL="0">
              <a:buNone/>
            </a:pPr>
            <a:r>
              <a:rPr lang="en-US" sz="950" dirty="0">
                <a:solidFill>
                  <a:srgbClr val="BCD3E8"/>
                </a:solidFill>
                <a:latin typeface="Calibri" pitchFamily="34" charset="0"/>
                <a:ea typeface="Calibri" pitchFamily="34" charset="-122"/>
                <a:cs typeface="Calibri" pitchFamily="34" charset="-120"/>
              </a:rPr>
              <a:t>ViewModel + StateFlow</a:t>
            </a:r>
            <a:endParaRPr lang="en-US" sz="950" dirty="0"/>
          </a:p>
        </p:txBody>
      </p:sp>
      <p:sp>
        <p:nvSpPr>
          <p:cNvPr id="24" name="Text 21"/>
          <p:cNvSpPr txBox="1"/>
          <p:nvPr/>
        </p:nvSpPr>
        <p:spPr>
          <a:xfrm>
            <a:off x="4526280" y="2743200"/>
            <a:ext cx="2743200" cy="658368"/>
          </a:xfrm>
          <a:prstGeom prst="rect">
            <a:avLst/>
          </a:prstGeom>
          <a:noFill/>
          <a:ln/>
        </p:spPr>
        <p:txBody>
          <a:bodyPr wrap="square" lIns="0" tIns="0" rIns="0" bIns="0" rtlCol="0" anchor="ctr"/>
          <a:lstStyle/>
          <a:p>
            <a:pPr algn="r" indent="0" marL="0">
              <a:buNone/>
            </a:pPr>
            <a:r>
              <a:rPr lang="en-US" sz="1050" i="1" dirty="0">
                <a:solidFill>
                  <a:srgbClr val="D2E2F0"/>
                </a:solidFill>
                <a:latin typeface="Calibri" pitchFamily="34" charset="0"/>
                <a:ea typeface="Calibri" pitchFamily="34" charset="-122"/>
                <a:cs typeface="Calibri" pitchFamily="34" charset="-120"/>
              </a:rPr>
              <a:t>calls the engine and the repositories</a:t>
            </a:r>
            <a:endParaRPr lang="en-US" sz="1050" dirty="0"/>
          </a:p>
        </p:txBody>
      </p:sp>
      <p:sp>
        <p:nvSpPr>
          <p:cNvPr id="25" name="Shape 22"/>
          <p:cNvSpPr/>
          <p:nvPr/>
        </p:nvSpPr>
        <p:spPr>
          <a:xfrm>
            <a:off x="4480560" y="3401568"/>
            <a:ext cx="0" cy="146304"/>
          </a:xfrm>
          <a:prstGeom prst="line">
            <a:avLst/>
          </a:prstGeom>
          <a:noFill/>
          <a:ln w="22225">
            <a:solidFill>
              <a:srgbClr val="9FB4C8"/>
            </a:solidFill>
            <a:prstDash val="solid"/>
            <a:tailEnd type="triangle"/>
          </a:ln>
        </p:spPr>
      </p:sp>
      <p:sp>
        <p:nvSpPr>
          <p:cNvPr id="26" name="Shape 23"/>
          <p:cNvSpPr/>
          <p:nvPr/>
        </p:nvSpPr>
        <p:spPr>
          <a:xfrm>
            <a:off x="1508760" y="3566160"/>
            <a:ext cx="5943600" cy="658368"/>
          </a:xfrm>
          <a:prstGeom prst="roundRect">
            <a:avLst>
              <a:gd name="adj" fmla="val 11111"/>
            </a:avLst>
          </a:prstGeom>
          <a:solidFill>
            <a:srgbClr val="0F6B6B"/>
          </a:solidFill>
          <a:ln w="12700">
            <a:solidFill>
              <a:srgbClr val="0F6B6B"/>
            </a:solidFill>
            <a:prstDash val="solid"/>
          </a:ln>
        </p:spPr>
      </p:sp>
      <p:sp>
        <p:nvSpPr>
          <p:cNvPr id="27" name="Text 24"/>
          <p:cNvSpPr txBox="1"/>
          <p:nvPr/>
        </p:nvSpPr>
        <p:spPr>
          <a:xfrm>
            <a:off x="1600200" y="3566160"/>
            <a:ext cx="5760720" cy="658368"/>
          </a:xfrm>
          <a:prstGeom prst="rect">
            <a:avLst/>
          </a:prstGeom>
          <a:noFill/>
          <a:ln/>
        </p:spPr>
        <p:txBody>
          <a:bodyPr wrap="square" lIns="0" tIns="0" rIns="0" bIns="0" rtlCol="0" anchor="ctr"/>
          <a:lstStyle/>
          <a:p>
            <a:pPr algn="ctr" indent="0" marL="0">
              <a:buNone/>
            </a:pPr>
            <a:endParaRPr lang="en-US" sz="1150" dirty="0"/>
          </a:p>
        </p:txBody>
      </p:sp>
      <p:sp>
        <p:nvSpPr>
          <p:cNvPr id="28" name="Shape 25"/>
          <p:cNvSpPr/>
          <p:nvPr/>
        </p:nvSpPr>
        <p:spPr>
          <a:xfrm>
            <a:off x="1673352" y="3703320"/>
            <a:ext cx="384048" cy="384048"/>
          </a:xfrm>
          <a:prstGeom prst="ellipse">
            <a:avLst/>
          </a:prstGeom>
          <a:solidFill>
            <a:srgbClr val="FFFFFF"/>
          </a:solidFill>
          <a:ln w="12700">
            <a:solidFill>
              <a:srgbClr val="FFFFFF"/>
            </a:solidFill>
            <a:prstDash val="solid"/>
          </a:ln>
        </p:spPr>
      </p:sp>
      <p:sp>
        <p:nvSpPr>
          <p:cNvPr id="29" name="Text 26"/>
          <p:cNvSpPr txBox="1"/>
          <p:nvPr/>
        </p:nvSpPr>
        <p:spPr>
          <a:xfrm>
            <a:off x="1673352" y="3703320"/>
            <a:ext cx="384048" cy="384048"/>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3</a:t>
            </a:r>
            <a:endParaRPr lang="en-US" sz="1300" dirty="0"/>
          </a:p>
        </p:txBody>
      </p:sp>
      <p:sp>
        <p:nvSpPr>
          <p:cNvPr id="30" name="Text 27"/>
          <p:cNvSpPr txBox="1"/>
          <p:nvPr/>
        </p:nvSpPr>
        <p:spPr>
          <a:xfrm>
            <a:off x="2167128" y="3639312"/>
            <a:ext cx="19202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Domain</a:t>
            </a:r>
            <a:endParaRPr lang="en-US" sz="1250" dirty="0"/>
          </a:p>
        </p:txBody>
      </p:sp>
      <p:sp>
        <p:nvSpPr>
          <p:cNvPr id="31" name="Text 28"/>
          <p:cNvSpPr txBox="1"/>
          <p:nvPr/>
        </p:nvSpPr>
        <p:spPr>
          <a:xfrm>
            <a:off x="2167128" y="3895344"/>
            <a:ext cx="2194560" cy="256032"/>
          </a:xfrm>
          <a:prstGeom prst="rect">
            <a:avLst/>
          </a:prstGeom>
          <a:noFill/>
          <a:ln/>
        </p:spPr>
        <p:txBody>
          <a:bodyPr wrap="square" lIns="0" tIns="0" rIns="0" bIns="0" rtlCol="0" anchor="ctr"/>
          <a:lstStyle/>
          <a:p>
            <a:pPr indent="0" marL="0">
              <a:buNone/>
            </a:pPr>
            <a:r>
              <a:rPr lang="en-US" sz="950" dirty="0">
                <a:solidFill>
                  <a:srgbClr val="BCD3E8"/>
                </a:solidFill>
                <a:latin typeface="Calibri" pitchFamily="34" charset="0"/>
                <a:ea typeface="Calibri" pitchFamily="34" charset="-122"/>
                <a:cs typeface="Calibri" pitchFamily="34" charset="-120"/>
              </a:rPr>
              <a:t>VancoEngine — pure Kotlin</a:t>
            </a:r>
            <a:endParaRPr lang="en-US" sz="950" dirty="0"/>
          </a:p>
        </p:txBody>
      </p:sp>
      <p:sp>
        <p:nvSpPr>
          <p:cNvPr id="32" name="Text 29"/>
          <p:cNvSpPr txBox="1"/>
          <p:nvPr/>
        </p:nvSpPr>
        <p:spPr>
          <a:xfrm>
            <a:off x="4526280" y="3566160"/>
            <a:ext cx="2743200" cy="658368"/>
          </a:xfrm>
          <a:prstGeom prst="rect">
            <a:avLst/>
          </a:prstGeom>
          <a:noFill/>
          <a:ln/>
        </p:spPr>
        <p:txBody>
          <a:bodyPr wrap="square" lIns="0" tIns="0" rIns="0" bIns="0" rtlCol="0" anchor="ctr"/>
          <a:lstStyle/>
          <a:p>
            <a:pPr algn="r" indent="0" marL="0">
              <a:buNone/>
            </a:pPr>
            <a:r>
              <a:rPr lang="en-US" sz="1050" i="1" dirty="0">
                <a:solidFill>
                  <a:srgbClr val="D2E2F0"/>
                </a:solidFill>
                <a:latin typeface="Calibri" pitchFamily="34" charset="0"/>
                <a:ea typeface="Calibri" pitchFamily="34" charset="-122"/>
                <a:cs typeface="Calibri" pitchFamily="34" charset="-120"/>
              </a:rPr>
              <a:t>calls nothing · imports no Android</a:t>
            </a:r>
            <a:endParaRPr lang="en-US" sz="1050" dirty="0"/>
          </a:p>
        </p:txBody>
      </p:sp>
      <p:sp>
        <p:nvSpPr>
          <p:cNvPr id="33" name="Shape 30"/>
          <p:cNvSpPr/>
          <p:nvPr/>
        </p:nvSpPr>
        <p:spPr>
          <a:xfrm>
            <a:off x="4480560" y="4224528"/>
            <a:ext cx="0" cy="146304"/>
          </a:xfrm>
          <a:prstGeom prst="line">
            <a:avLst/>
          </a:prstGeom>
          <a:noFill/>
          <a:ln w="22225">
            <a:solidFill>
              <a:srgbClr val="9FB4C8"/>
            </a:solidFill>
            <a:prstDash val="solid"/>
            <a:tailEnd type="triangle"/>
          </a:ln>
        </p:spPr>
      </p:sp>
      <p:sp>
        <p:nvSpPr>
          <p:cNvPr id="34" name="Shape 31"/>
          <p:cNvSpPr/>
          <p:nvPr/>
        </p:nvSpPr>
        <p:spPr>
          <a:xfrm>
            <a:off x="1508760" y="4389120"/>
            <a:ext cx="5943600" cy="658368"/>
          </a:xfrm>
          <a:prstGeom prst="roundRect">
            <a:avLst>
              <a:gd name="adj" fmla="val 11111"/>
            </a:avLst>
          </a:prstGeom>
          <a:solidFill>
            <a:srgbClr val="14456E"/>
          </a:solidFill>
          <a:ln w="12700">
            <a:solidFill>
              <a:srgbClr val="14456E"/>
            </a:solidFill>
            <a:prstDash val="solid"/>
          </a:ln>
        </p:spPr>
      </p:sp>
      <p:sp>
        <p:nvSpPr>
          <p:cNvPr id="35" name="Text 32"/>
          <p:cNvSpPr txBox="1"/>
          <p:nvPr/>
        </p:nvSpPr>
        <p:spPr>
          <a:xfrm>
            <a:off x="1600200" y="4389120"/>
            <a:ext cx="5760720" cy="658368"/>
          </a:xfrm>
          <a:prstGeom prst="rect">
            <a:avLst/>
          </a:prstGeom>
          <a:noFill/>
          <a:ln/>
        </p:spPr>
        <p:txBody>
          <a:bodyPr wrap="square" lIns="0" tIns="0" rIns="0" bIns="0" rtlCol="0" anchor="ctr"/>
          <a:lstStyle/>
          <a:p>
            <a:pPr algn="ctr" indent="0" marL="0">
              <a:buNone/>
            </a:pPr>
            <a:endParaRPr lang="en-US" sz="1150" dirty="0"/>
          </a:p>
        </p:txBody>
      </p:sp>
      <p:sp>
        <p:nvSpPr>
          <p:cNvPr id="36" name="Shape 33"/>
          <p:cNvSpPr/>
          <p:nvPr/>
        </p:nvSpPr>
        <p:spPr>
          <a:xfrm>
            <a:off x="1673352" y="4526280"/>
            <a:ext cx="384048" cy="384048"/>
          </a:xfrm>
          <a:prstGeom prst="ellipse">
            <a:avLst/>
          </a:prstGeom>
          <a:solidFill>
            <a:srgbClr val="FFFFFF"/>
          </a:solidFill>
          <a:ln w="12700">
            <a:solidFill>
              <a:srgbClr val="FFFFFF"/>
            </a:solidFill>
            <a:prstDash val="solid"/>
          </a:ln>
        </p:spPr>
      </p:sp>
      <p:sp>
        <p:nvSpPr>
          <p:cNvPr id="37" name="Text 34"/>
          <p:cNvSpPr txBox="1"/>
          <p:nvPr/>
        </p:nvSpPr>
        <p:spPr>
          <a:xfrm>
            <a:off x="1673352" y="4526280"/>
            <a:ext cx="384048" cy="384048"/>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4</a:t>
            </a:r>
            <a:endParaRPr lang="en-US" sz="1300" dirty="0"/>
          </a:p>
        </p:txBody>
      </p:sp>
      <p:sp>
        <p:nvSpPr>
          <p:cNvPr id="38" name="Text 35"/>
          <p:cNvSpPr txBox="1"/>
          <p:nvPr/>
        </p:nvSpPr>
        <p:spPr>
          <a:xfrm>
            <a:off x="2167128" y="4462272"/>
            <a:ext cx="19202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a:t>
            </a:r>
            <a:endParaRPr lang="en-US" sz="1250" dirty="0"/>
          </a:p>
        </p:txBody>
      </p:sp>
      <p:sp>
        <p:nvSpPr>
          <p:cNvPr id="39" name="Text 36"/>
          <p:cNvSpPr txBox="1"/>
          <p:nvPr/>
        </p:nvSpPr>
        <p:spPr>
          <a:xfrm>
            <a:off x="2167128" y="4718304"/>
            <a:ext cx="2194560" cy="256032"/>
          </a:xfrm>
          <a:prstGeom prst="rect">
            <a:avLst/>
          </a:prstGeom>
          <a:noFill/>
          <a:ln/>
        </p:spPr>
        <p:txBody>
          <a:bodyPr wrap="square" lIns="0" tIns="0" rIns="0" bIns="0" rtlCol="0" anchor="ctr"/>
          <a:lstStyle/>
          <a:p>
            <a:pPr indent="0" marL="0">
              <a:buNone/>
            </a:pPr>
            <a:r>
              <a:rPr lang="en-US" sz="950" dirty="0">
                <a:solidFill>
                  <a:srgbClr val="BCD3E8"/>
                </a:solidFill>
                <a:latin typeface="Calibri" pitchFamily="34" charset="0"/>
                <a:ea typeface="Calibri" pitchFamily="34" charset="-122"/>
                <a:cs typeface="Calibri" pitchFamily="34" charset="-120"/>
              </a:rPr>
              <a:t>Models, validation, repositories</a:t>
            </a:r>
            <a:endParaRPr lang="en-US" sz="950" dirty="0"/>
          </a:p>
        </p:txBody>
      </p:sp>
      <p:sp>
        <p:nvSpPr>
          <p:cNvPr id="40" name="Text 37"/>
          <p:cNvSpPr txBox="1"/>
          <p:nvPr/>
        </p:nvSpPr>
        <p:spPr>
          <a:xfrm>
            <a:off x="4526280" y="4389120"/>
            <a:ext cx="2743200" cy="658368"/>
          </a:xfrm>
          <a:prstGeom prst="rect">
            <a:avLst/>
          </a:prstGeom>
          <a:noFill/>
          <a:ln/>
        </p:spPr>
        <p:txBody>
          <a:bodyPr wrap="square" lIns="0" tIns="0" rIns="0" bIns="0" rtlCol="0" anchor="ctr"/>
          <a:lstStyle/>
          <a:p>
            <a:pPr algn="r" indent="0" marL="0">
              <a:buNone/>
            </a:pPr>
            <a:r>
              <a:rPr lang="en-US" sz="1050" i="1" dirty="0">
                <a:solidFill>
                  <a:srgbClr val="D2E2F0"/>
                </a:solidFill>
                <a:latin typeface="Calibri" pitchFamily="34" charset="0"/>
                <a:ea typeface="Calibri" pitchFamily="34" charset="-122"/>
                <a:cs typeface="Calibri" pitchFamily="34" charset="-120"/>
              </a:rPr>
              <a:t>calls the infrastructure below</a:t>
            </a:r>
            <a:endParaRPr lang="en-US" sz="1050" dirty="0"/>
          </a:p>
        </p:txBody>
      </p:sp>
      <p:sp>
        <p:nvSpPr>
          <p:cNvPr id="41" name="Shape 38"/>
          <p:cNvSpPr/>
          <p:nvPr/>
        </p:nvSpPr>
        <p:spPr>
          <a:xfrm>
            <a:off x="4480560" y="5047488"/>
            <a:ext cx="0" cy="146304"/>
          </a:xfrm>
          <a:prstGeom prst="line">
            <a:avLst/>
          </a:prstGeom>
          <a:noFill/>
          <a:ln w="22225">
            <a:solidFill>
              <a:srgbClr val="9FB4C8"/>
            </a:solidFill>
            <a:prstDash val="solid"/>
            <a:tailEnd type="triangle"/>
          </a:ln>
        </p:spPr>
      </p:sp>
      <p:sp>
        <p:nvSpPr>
          <p:cNvPr id="42" name="Shape 39"/>
          <p:cNvSpPr/>
          <p:nvPr/>
        </p:nvSpPr>
        <p:spPr>
          <a:xfrm>
            <a:off x="1508760" y="5212080"/>
            <a:ext cx="5943600" cy="658368"/>
          </a:xfrm>
          <a:prstGeom prst="roundRect">
            <a:avLst>
              <a:gd name="adj" fmla="val 11111"/>
            </a:avLst>
          </a:prstGeom>
          <a:solidFill>
            <a:srgbClr val="103352"/>
          </a:solidFill>
          <a:ln w="12700">
            <a:solidFill>
              <a:srgbClr val="103352"/>
            </a:solidFill>
            <a:prstDash val="solid"/>
          </a:ln>
        </p:spPr>
      </p:sp>
      <p:sp>
        <p:nvSpPr>
          <p:cNvPr id="43" name="Text 40"/>
          <p:cNvSpPr txBox="1"/>
          <p:nvPr/>
        </p:nvSpPr>
        <p:spPr>
          <a:xfrm>
            <a:off x="1600200" y="5212080"/>
            <a:ext cx="5760720" cy="658368"/>
          </a:xfrm>
          <a:prstGeom prst="rect">
            <a:avLst/>
          </a:prstGeom>
          <a:noFill/>
          <a:ln/>
        </p:spPr>
        <p:txBody>
          <a:bodyPr wrap="square" lIns="0" tIns="0" rIns="0" bIns="0" rtlCol="0" anchor="ctr"/>
          <a:lstStyle/>
          <a:p>
            <a:pPr algn="ctr" indent="0" marL="0">
              <a:buNone/>
            </a:pPr>
            <a:endParaRPr lang="en-US" sz="1150" dirty="0"/>
          </a:p>
        </p:txBody>
      </p:sp>
      <p:sp>
        <p:nvSpPr>
          <p:cNvPr id="44" name="Shape 41"/>
          <p:cNvSpPr/>
          <p:nvPr/>
        </p:nvSpPr>
        <p:spPr>
          <a:xfrm>
            <a:off x="1673352" y="5349240"/>
            <a:ext cx="384048" cy="384048"/>
          </a:xfrm>
          <a:prstGeom prst="ellipse">
            <a:avLst/>
          </a:prstGeom>
          <a:solidFill>
            <a:srgbClr val="FFFFFF"/>
          </a:solidFill>
          <a:ln w="12700">
            <a:solidFill>
              <a:srgbClr val="FFFFFF"/>
            </a:solidFill>
            <a:prstDash val="solid"/>
          </a:ln>
        </p:spPr>
      </p:sp>
      <p:sp>
        <p:nvSpPr>
          <p:cNvPr id="45" name="Text 42"/>
          <p:cNvSpPr txBox="1"/>
          <p:nvPr/>
        </p:nvSpPr>
        <p:spPr>
          <a:xfrm>
            <a:off x="1673352" y="5349240"/>
            <a:ext cx="384048" cy="384048"/>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5</a:t>
            </a:r>
            <a:endParaRPr lang="en-US" sz="1300" dirty="0"/>
          </a:p>
        </p:txBody>
      </p:sp>
      <p:sp>
        <p:nvSpPr>
          <p:cNvPr id="46" name="Text 43"/>
          <p:cNvSpPr txBox="1"/>
          <p:nvPr/>
        </p:nvSpPr>
        <p:spPr>
          <a:xfrm>
            <a:off x="2167128" y="5285232"/>
            <a:ext cx="19202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Infrastructure</a:t>
            </a:r>
            <a:endParaRPr lang="en-US" sz="1250" dirty="0"/>
          </a:p>
        </p:txBody>
      </p:sp>
      <p:sp>
        <p:nvSpPr>
          <p:cNvPr id="47" name="Text 44"/>
          <p:cNvSpPr txBox="1"/>
          <p:nvPr/>
        </p:nvSpPr>
        <p:spPr>
          <a:xfrm>
            <a:off x="2167128" y="5541264"/>
            <a:ext cx="2194560" cy="256032"/>
          </a:xfrm>
          <a:prstGeom prst="rect">
            <a:avLst/>
          </a:prstGeom>
          <a:noFill/>
          <a:ln/>
        </p:spPr>
        <p:txBody>
          <a:bodyPr wrap="square" lIns="0" tIns="0" rIns="0" bIns="0" rtlCol="0" anchor="ctr"/>
          <a:lstStyle/>
          <a:p>
            <a:pPr indent="0" marL="0">
              <a:buNone/>
            </a:pPr>
            <a:r>
              <a:rPr lang="en-US" sz="950" dirty="0">
                <a:solidFill>
                  <a:srgbClr val="BCD3E8"/>
                </a:solidFill>
                <a:latin typeface="Calibri" pitchFamily="34" charset="0"/>
                <a:ea typeface="Calibri" pitchFamily="34" charset="-122"/>
                <a:cs typeface="Calibri" pitchFamily="34" charset="-120"/>
              </a:rPr>
              <a:t>Supabase · Clerk · SharedPreferences</a:t>
            </a:r>
            <a:endParaRPr lang="en-US" sz="950" dirty="0"/>
          </a:p>
        </p:txBody>
      </p:sp>
      <p:sp>
        <p:nvSpPr>
          <p:cNvPr id="48" name="Text 45"/>
          <p:cNvSpPr txBox="1"/>
          <p:nvPr/>
        </p:nvSpPr>
        <p:spPr>
          <a:xfrm>
            <a:off x="4526280" y="5212080"/>
            <a:ext cx="2743200" cy="658368"/>
          </a:xfrm>
          <a:prstGeom prst="rect">
            <a:avLst/>
          </a:prstGeom>
          <a:noFill/>
          <a:ln/>
        </p:spPr>
        <p:txBody>
          <a:bodyPr wrap="square" lIns="0" tIns="0" rIns="0" bIns="0" rtlCol="0" anchor="ctr"/>
          <a:lstStyle/>
          <a:p>
            <a:pPr algn="r" indent="0" marL="0">
              <a:buNone/>
            </a:pPr>
            <a:r>
              <a:rPr lang="en-US" sz="1050" i="1" dirty="0">
                <a:solidFill>
                  <a:srgbClr val="D2E2F0"/>
                </a:solidFill>
                <a:latin typeface="Calibri" pitchFamily="34" charset="0"/>
                <a:ea typeface="Calibri" pitchFamily="34" charset="-122"/>
                <a:cs typeface="Calibri" pitchFamily="34" charset="-120"/>
              </a:rPr>
              <a:t>the outside world</a:t>
            </a:r>
            <a:endParaRPr lang="en-US" sz="1050" dirty="0"/>
          </a:p>
        </p:txBody>
      </p:sp>
      <p:sp>
        <p:nvSpPr>
          <p:cNvPr id="49" name="Shape 46"/>
          <p:cNvSpPr/>
          <p:nvPr/>
        </p:nvSpPr>
        <p:spPr>
          <a:xfrm>
            <a:off x="7726680" y="1783080"/>
            <a:ext cx="3824935" cy="1325880"/>
          </a:xfrm>
          <a:prstGeom prst="roundRect">
            <a:avLst>
              <a:gd name="adj" fmla="val 6207"/>
            </a:avLst>
          </a:prstGeom>
          <a:solidFill>
            <a:srgbClr val="EAF2FA"/>
          </a:solidFill>
          <a:ln w="12700">
            <a:solidFill>
              <a:srgbClr val="D8E1EA"/>
            </a:solidFill>
            <a:prstDash val="solid"/>
          </a:ln>
        </p:spPr>
      </p:sp>
      <p:sp>
        <p:nvSpPr>
          <p:cNvPr id="50" name="Text 47"/>
          <p:cNvSpPr txBox="1"/>
          <p:nvPr/>
        </p:nvSpPr>
        <p:spPr>
          <a:xfrm>
            <a:off x="7982712" y="1929384"/>
            <a:ext cx="3312871" cy="27432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The rule</a:t>
            </a:r>
            <a:endParaRPr lang="en-US" sz="1700" dirty="0"/>
          </a:p>
        </p:txBody>
      </p:sp>
      <p:sp>
        <p:nvSpPr>
          <p:cNvPr id="51" name="Text 48"/>
          <p:cNvSpPr txBox="1"/>
          <p:nvPr/>
        </p:nvSpPr>
        <p:spPr>
          <a:xfrm>
            <a:off x="7982712" y="2240280"/>
            <a:ext cx="3312871" cy="777240"/>
          </a:xfrm>
          <a:prstGeom prst="rect">
            <a:avLst/>
          </a:prstGeom>
          <a:noFill/>
          <a:ln/>
        </p:spPr>
        <p:txBody>
          <a:bodyPr wrap="square" lIns="0" tIns="0" rIns="0" bIns="0" rtlCol="0" anchor="ctr"/>
          <a:lstStyle/>
          <a:p>
            <a:pPr indent="0" marL="0">
              <a:lnSpc>
                <a:spcPts val="1500"/>
              </a:lnSpc>
              <a:buNone/>
            </a:pPr>
            <a:r>
              <a:rPr lang="en-US" sz="1100" dirty="0">
                <a:solidFill>
                  <a:srgbClr val="5A6672"/>
                </a:solidFill>
                <a:latin typeface="Calibri" pitchFamily="34" charset="0"/>
                <a:ea typeface="Calibri" pitchFamily="34" charset="-122"/>
                <a:cs typeface="Calibri" pitchFamily="34" charset="-120"/>
              </a:rPr>
              <a:t>Dependencies point down only. No layer holds a reference to the layer above it, and no layer skips a level.</a:t>
            </a:r>
            <a:endParaRPr lang="en-US" sz="1100" dirty="0"/>
          </a:p>
        </p:txBody>
      </p:sp>
      <p:sp>
        <p:nvSpPr>
          <p:cNvPr id="52" name="Shape 49"/>
          <p:cNvSpPr/>
          <p:nvPr/>
        </p:nvSpPr>
        <p:spPr>
          <a:xfrm>
            <a:off x="7726680" y="3264408"/>
            <a:ext cx="3824935" cy="1325880"/>
          </a:xfrm>
          <a:prstGeom prst="roundRect">
            <a:avLst>
              <a:gd name="adj" fmla="val 6207"/>
            </a:avLst>
          </a:prstGeom>
          <a:solidFill>
            <a:srgbClr val="F4F6F8"/>
          </a:solidFill>
          <a:ln w="12700">
            <a:solidFill>
              <a:srgbClr val="D8E1EA"/>
            </a:solidFill>
            <a:prstDash val="solid"/>
          </a:ln>
        </p:spPr>
      </p:sp>
      <p:sp>
        <p:nvSpPr>
          <p:cNvPr id="53" name="Text 50"/>
          <p:cNvSpPr txBox="1"/>
          <p:nvPr/>
        </p:nvSpPr>
        <p:spPr>
          <a:xfrm>
            <a:off x="7982712" y="3410712"/>
            <a:ext cx="3312871" cy="27432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What it buys</a:t>
            </a:r>
            <a:endParaRPr lang="en-US" sz="1700" dirty="0"/>
          </a:p>
        </p:txBody>
      </p:sp>
      <p:sp>
        <p:nvSpPr>
          <p:cNvPr id="54" name="Text 51"/>
          <p:cNvSpPr txBox="1"/>
          <p:nvPr/>
        </p:nvSpPr>
        <p:spPr>
          <a:xfrm>
            <a:off x="7982712" y="3721608"/>
            <a:ext cx="3312871" cy="777240"/>
          </a:xfrm>
          <a:prstGeom prst="rect">
            <a:avLst/>
          </a:prstGeom>
          <a:noFill/>
          <a:ln/>
        </p:spPr>
        <p:txBody>
          <a:bodyPr wrap="square" lIns="0" tIns="0" rIns="0" bIns="0" rtlCol="0" anchor="ctr"/>
          <a:lstStyle/>
          <a:p>
            <a:pPr indent="0" marL="0">
              <a:lnSpc>
                <a:spcPts val="1500"/>
              </a:lnSpc>
              <a:buNone/>
            </a:pPr>
            <a:r>
              <a:rPr lang="en-US" sz="1100" dirty="0">
                <a:solidFill>
                  <a:srgbClr val="5A6672"/>
                </a:solidFill>
                <a:latin typeface="Calibri" pitchFamily="34" charset="0"/>
                <a:ea typeface="Calibri" pitchFamily="34" charset="-122"/>
                <a:cs typeface="Calibri" pitchFamily="34" charset="-120"/>
              </a:rPr>
              <a:t>The engine can be reviewed and unit-tested with no emulator. The UI, the database or the auth provider can each be swapped without touching the clinical maths.</a:t>
            </a:r>
            <a:endParaRPr lang="en-US" sz="1100" dirty="0"/>
          </a:p>
        </p:txBody>
      </p:sp>
      <p:sp>
        <p:nvSpPr>
          <p:cNvPr id="55" name="Shape 52"/>
          <p:cNvSpPr/>
          <p:nvPr/>
        </p:nvSpPr>
        <p:spPr>
          <a:xfrm>
            <a:off x="7726680" y="4745736"/>
            <a:ext cx="3824935" cy="1325880"/>
          </a:xfrm>
          <a:prstGeom prst="roundRect">
            <a:avLst>
              <a:gd name="adj" fmla="val 6207"/>
            </a:avLst>
          </a:prstGeom>
          <a:solidFill>
            <a:srgbClr val="E7F5EF"/>
          </a:solidFill>
          <a:ln w="12700">
            <a:solidFill>
              <a:srgbClr val="D8E1EA"/>
            </a:solidFill>
            <a:prstDash val="solid"/>
          </a:ln>
        </p:spPr>
      </p:sp>
      <p:sp>
        <p:nvSpPr>
          <p:cNvPr id="56" name="Text 53"/>
          <p:cNvSpPr txBox="1"/>
          <p:nvPr/>
        </p:nvSpPr>
        <p:spPr>
          <a:xfrm>
            <a:off x="7982712" y="4892040"/>
            <a:ext cx="3312871" cy="27432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The test</a:t>
            </a:r>
            <a:endParaRPr lang="en-US" sz="1700" dirty="0"/>
          </a:p>
        </p:txBody>
      </p:sp>
      <p:sp>
        <p:nvSpPr>
          <p:cNvPr id="57" name="Text 54"/>
          <p:cNvSpPr txBox="1"/>
          <p:nvPr/>
        </p:nvSpPr>
        <p:spPr>
          <a:xfrm>
            <a:off x="7982712" y="5202936"/>
            <a:ext cx="3312871" cy="777240"/>
          </a:xfrm>
          <a:prstGeom prst="rect">
            <a:avLst/>
          </a:prstGeom>
          <a:noFill/>
          <a:ln/>
        </p:spPr>
        <p:txBody>
          <a:bodyPr wrap="square" lIns="0" tIns="0" rIns="0" bIns="0" rtlCol="0" anchor="ctr"/>
          <a:lstStyle/>
          <a:p>
            <a:pPr indent="0" marL="0">
              <a:lnSpc>
                <a:spcPts val="1500"/>
              </a:lnSpc>
              <a:buNone/>
            </a:pPr>
            <a:r>
              <a:rPr lang="en-US" sz="1100" dirty="0">
                <a:solidFill>
                  <a:srgbClr val="5A6672"/>
                </a:solidFill>
                <a:latin typeface="Calibri" pitchFamily="34" charset="0"/>
                <a:ea typeface="Calibri" pitchFamily="34" charset="-122"/>
                <a:cs typeface="Calibri" pitchFamily="34" charset="-120"/>
              </a:rPr>
              <a:t>Delete the whole ui package and VancoEngine still compiles and its tests still pass. That is what proves the layering is real and not just folder names.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04 · THE UI LAYER</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Layer 1 — Presentation, built entirely in Compose</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There is not a single XML layout file in the project. Every pixel is a Kotlin function.</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9</a:t>
            </a:r>
            <a:endParaRPr lang="en-US" sz="900" dirty="0"/>
          </a:p>
        </p:txBody>
      </p:sp>
      <p:sp>
        <p:nvSpPr>
          <p:cNvPr id="8" name="Shape 5"/>
          <p:cNvSpPr/>
          <p:nvPr/>
        </p:nvSpPr>
        <p:spPr>
          <a:xfrm>
            <a:off x="640080" y="1691640"/>
            <a:ext cx="6400800" cy="2514600"/>
          </a:xfrm>
          <a:prstGeom prst="roundRect">
            <a:avLst>
              <a:gd name="adj" fmla="val 3273"/>
            </a:avLst>
          </a:prstGeom>
          <a:solidFill>
            <a:srgbClr val="0F2237"/>
          </a:solidFill>
          <a:ln w="12700">
            <a:solidFill>
              <a:srgbClr val="0F2237"/>
            </a:solidFill>
            <a:prstDash val="solid"/>
          </a:ln>
        </p:spPr>
      </p:sp>
      <p:sp>
        <p:nvSpPr>
          <p:cNvPr id="9" name="Text 6"/>
          <p:cNvSpPr txBox="1"/>
          <p:nvPr/>
        </p:nvSpPr>
        <p:spPr>
          <a:xfrm>
            <a:off x="804672" y="1828800"/>
            <a:ext cx="6071616" cy="2240280"/>
          </a:xfrm>
          <a:prstGeom prst="rect">
            <a:avLst/>
          </a:prstGeom>
          <a:noFill/>
          <a:ln/>
        </p:spPr>
        <p:txBody>
          <a:bodyPr wrap="square" lIns="0" tIns="0" rIns="0" bIns="0" rtlCol="0" anchor="t"/>
          <a:lstStyle/>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@Composable</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fun ResultsScreen(</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navController: NavController,</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vm: CaseViewModel,</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val state by vm.uiState.collectAsState()   // observe</a:t>
            </a:r>
            <a:endParaRPr lang="en-US" sz="1050" dirty="0"/>
          </a:p>
          <a:p>
            <a:pPr indent="0" marL="0">
              <a:lnSpc>
                <a:spcPts val="1470"/>
              </a:lnSpc>
              <a:buNone/>
            </a:pP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Column(modifier = Modifier.padding(16.dp)) {</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AucRing(value = state.result?.auc24)   // recompose</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PkParameterGrid(state.result)</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a:t>
            </a:r>
            <a:endParaRPr lang="en-US" sz="1050" dirty="0"/>
          </a:p>
        </p:txBody>
      </p:sp>
      <p:sp>
        <p:nvSpPr>
          <p:cNvPr id="10" name="Text 7"/>
          <p:cNvSpPr txBox="1"/>
          <p:nvPr/>
        </p:nvSpPr>
        <p:spPr>
          <a:xfrm>
            <a:off x="640080" y="4206240"/>
            <a:ext cx="6400800" cy="274320"/>
          </a:xfrm>
          <a:prstGeom prst="rect">
            <a:avLst/>
          </a:prstGeom>
          <a:noFill/>
          <a:ln/>
        </p:spPr>
        <p:txBody>
          <a:bodyPr wrap="square" lIns="0" tIns="0" rIns="0" bIns="0" rtlCol="0" anchor="ctr"/>
          <a:lstStyle/>
          <a:p>
            <a:pPr indent="0" marL="0">
              <a:buNone/>
            </a:pPr>
            <a:r>
              <a:rPr lang="en-US" sz="1300" b="1" dirty="0">
                <a:solidFill>
                  <a:srgbClr val="1464A8"/>
                </a:solidFill>
                <a:latin typeface="Calibri" pitchFamily="34" charset="0"/>
                <a:ea typeface="Calibri" pitchFamily="34" charset="-122"/>
                <a:cs typeface="Calibri" pitchFamily="34" charset="-120"/>
              </a:rPr>
              <a:t>How to read this</a:t>
            </a:r>
            <a:endParaRPr lang="en-US" sz="1300" dirty="0"/>
          </a:p>
        </p:txBody>
      </p:sp>
      <p:sp>
        <p:nvSpPr>
          <p:cNvPr id="11" name="Text 8"/>
          <p:cNvSpPr txBox="1"/>
          <p:nvPr/>
        </p:nvSpPr>
        <p:spPr>
          <a:xfrm>
            <a:off x="640080" y="4526280"/>
            <a:ext cx="6400800" cy="155448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26323F"/>
                </a:solidFill>
                <a:latin typeface="Calibri" pitchFamily="34" charset="0"/>
                <a:ea typeface="Calibri" pitchFamily="34" charset="-122"/>
                <a:cs typeface="Calibri" pitchFamily="34" charset="-120"/>
              </a:rPr>
              <a:t>@Composable marks a function that emits UI — it describes what the screen should look like for the current state.</a:t>
            </a:r>
            <a:endParaRPr lang="en-US" sz="1250" dirty="0"/>
          </a:p>
          <a:p>
            <a:pPr marL="342900" indent="-342900">
              <a:spcAft>
                <a:spcPts val="700"/>
              </a:spcAft>
              <a:buSzPct val="100000"/>
              <a:buChar char="•"/>
            </a:pPr>
            <a:r>
              <a:rPr lang="en-US" sz="1250" dirty="0">
                <a:solidFill>
                  <a:srgbClr val="26323F"/>
                </a:solidFill>
                <a:latin typeface="Calibri" pitchFamily="34" charset="0"/>
                <a:ea typeface="Calibri" pitchFamily="34" charset="-122"/>
                <a:cs typeface="Calibri" pitchFamily="34" charset="-120"/>
              </a:rPr>
              <a:t>collectAsState() subscribes the screen to the ViewModel's StateFlow.</a:t>
            </a:r>
            <a:endParaRPr lang="en-US" sz="1250" dirty="0"/>
          </a:p>
          <a:p>
            <a:pPr marL="342900" indent="-342900">
              <a:spcAft>
                <a:spcPts val="700"/>
              </a:spcAft>
              <a:buSzPct val="100000"/>
              <a:buChar char="•"/>
            </a:pPr>
            <a:r>
              <a:rPr lang="en-US" sz="1250" dirty="0">
                <a:solidFill>
                  <a:srgbClr val="26323F"/>
                </a:solidFill>
                <a:latin typeface="Calibri" pitchFamily="34" charset="0"/>
                <a:ea typeface="Calibri" pitchFamily="34" charset="-122"/>
                <a:cs typeface="Calibri" pitchFamily="34" charset="-120"/>
              </a:rPr>
              <a:t>When state changes, Compose recomposes only the parts that read it.</a:t>
            </a:r>
            <a:endParaRPr lang="en-US" sz="1250" dirty="0"/>
          </a:p>
        </p:txBody>
      </p:sp>
      <p:sp>
        <p:nvSpPr>
          <p:cNvPr id="12" name="Shape 9"/>
          <p:cNvSpPr/>
          <p:nvPr/>
        </p:nvSpPr>
        <p:spPr>
          <a:xfrm>
            <a:off x="7360920" y="1691640"/>
            <a:ext cx="4190695" cy="4389120"/>
          </a:xfrm>
          <a:prstGeom prst="roundRect">
            <a:avLst>
              <a:gd name="adj" fmla="val 1964"/>
            </a:avLst>
          </a:prstGeom>
          <a:solidFill>
            <a:srgbClr val="EAF2FA"/>
          </a:solidFill>
          <a:ln w="12700">
            <a:solidFill>
              <a:srgbClr val="EAF2FA"/>
            </a:solidFill>
            <a:prstDash val="solid"/>
          </a:ln>
        </p:spPr>
      </p:sp>
      <p:sp>
        <p:nvSpPr>
          <p:cNvPr id="13" name="Text 10"/>
          <p:cNvSpPr txBox="1"/>
          <p:nvPr/>
        </p:nvSpPr>
        <p:spPr>
          <a:xfrm>
            <a:off x="7635240" y="1856232"/>
            <a:ext cx="3642055" cy="292608"/>
          </a:xfrm>
          <a:prstGeom prst="rect">
            <a:avLst/>
          </a:prstGeom>
          <a:noFill/>
          <a:ln/>
        </p:spPr>
        <p:txBody>
          <a:bodyPr wrap="square" lIns="0" tIns="0" rIns="0" bIns="0" rtlCol="0" anchor="ctr"/>
          <a:lstStyle/>
          <a:p>
            <a:pPr indent="0" marL="0">
              <a:buNone/>
            </a:pPr>
            <a:r>
              <a:rPr lang="en-US" sz="1900" b="1" dirty="0">
                <a:solidFill>
                  <a:srgbClr val="073A6B"/>
                </a:solidFill>
                <a:latin typeface="Cambria" pitchFamily="34" charset="0"/>
                <a:ea typeface="Cambria" pitchFamily="34" charset="-122"/>
                <a:cs typeface="Cambria" pitchFamily="34" charset="-120"/>
              </a:rPr>
              <a:t>Screen inventory</a:t>
            </a:r>
            <a:endParaRPr lang="en-US" sz="1900" dirty="0"/>
          </a:p>
        </p:txBody>
      </p:sp>
      <p:sp>
        <p:nvSpPr>
          <p:cNvPr id="14" name="Text 11"/>
          <p:cNvSpPr txBox="1"/>
          <p:nvPr/>
        </p:nvSpPr>
        <p:spPr>
          <a:xfrm>
            <a:off x="7635240" y="2286000"/>
            <a:ext cx="214884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Splash &amp; Disclaimer</a:t>
            </a:r>
            <a:endParaRPr lang="en-US" sz="1200" dirty="0"/>
          </a:p>
        </p:txBody>
      </p:sp>
      <p:sp>
        <p:nvSpPr>
          <p:cNvPr id="15" name="Text 12"/>
          <p:cNvSpPr txBox="1"/>
          <p:nvPr/>
        </p:nvSpPr>
        <p:spPr>
          <a:xfrm>
            <a:off x="9784080" y="2286000"/>
            <a:ext cx="1493215" cy="384048"/>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entry gate</a:t>
            </a:r>
            <a:endParaRPr lang="en-US" sz="1100" dirty="0"/>
          </a:p>
        </p:txBody>
      </p:sp>
      <p:sp>
        <p:nvSpPr>
          <p:cNvPr id="16" name="Text 13"/>
          <p:cNvSpPr txBox="1"/>
          <p:nvPr/>
        </p:nvSpPr>
        <p:spPr>
          <a:xfrm>
            <a:off x="7635240" y="2743200"/>
            <a:ext cx="214884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AuthScreens</a:t>
            </a:r>
            <a:endParaRPr lang="en-US" sz="1200" dirty="0"/>
          </a:p>
        </p:txBody>
      </p:sp>
      <p:sp>
        <p:nvSpPr>
          <p:cNvPr id="17" name="Text 14"/>
          <p:cNvSpPr txBox="1"/>
          <p:nvPr/>
        </p:nvSpPr>
        <p:spPr>
          <a:xfrm>
            <a:off x="9784080" y="2743200"/>
            <a:ext cx="1493215" cy="384048"/>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sign in / sign up / verify code</a:t>
            </a:r>
            <a:endParaRPr lang="en-US" sz="1100" dirty="0"/>
          </a:p>
        </p:txBody>
      </p:sp>
      <p:sp>
        <p:nvSpPr>
          <p:cNvPr id="18" name="Text 15"/>
          <p:cNvSpPr txBox="1"/>
          <p:nvPr/>
        </p:nvSpPr>
        <p:spPr>
          <a:xfrm>
            <a:off x="7635240" y="3200400"/>
            <a:ext cx="214884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HomeScreen</a:t>
            </a:r>
            <a:endParaRPr lang="en-US" sz="1200" dirty="0"/>
          </a:p>
        </p:txBody>
      </p:sp>
      <p:sp>
        <p:nvSpPr>
          <p:cNvPr id="19" name="Text 16"/>
          <p:cNvSpPr txBox="1"/>
          <p:nvPr/>
        </p:nvSpPr>
        <p:spPr>
          <a:xfrm>
            <a:off x="9784080" y="3200400"/>
            <a:ext cx="1493215" cy="384048"/>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dashboard + recent cases</a:t>
            </a:r>
            <a:endParaRPr lang="en-US" sz="1100" dirty="0"/>
          </a:p>
        </p:txBody>
      </p:sp>
      <p:sp>
        <p:nvSpPr>
          <p:cNvPr id="20" name="Text 17"/>
          <p:cNvSpPr txBox="1"/>
          <p:nvPr/>
        </p:nvSpPr>
        <p:spPr>
          <a:xfrm>
            <a:off x="7635240" y="3657600"/>
            <a:ext cx="214884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CaseWizardScreens</a:t>
            </a:r>
            <a:endParaRPr lang="en-US" sz="1200" dirty="0"/>
          </a:p>
        </p:txBody>
      </p:sp>
      <p:sp>
        <p:nvSpPr>
          <p:cNvPr id="21" name="Text 18"/>
          <p:cNvSpPr txBox="1"/>
          <p:nvPr/>
        </p:nvSpPr>
        <p:spPr>
          <a:xfrm>
            <a:off x="9784080" y="3657600"/>
            <a:ext cx="1493215" cy="384048"/>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medication → workflow → inputs → review</a:t>
            </a:r>
            <a:endParaRPr lang="en-US" sz="1100" dirty="0"/>
          </a:p>
        </p:txBody>
      </p:sp>
      <p:sp>
        <p:nvSpPr>
          <p:cNvPr id="22" name="Text 19"/>
          <p:cNvSpPr txBox="1"/>
          <p:nvPr/>
        </p:nvSpPr>
        <p:spPr>
          <a:xfrm>
            <a:off x="7635240" y="4114800"/>
            <a:ext cx="214884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CalculatingScreen</a:t>
            </a:r>
            <a:endParaRPr lang="en-US" sz="1200" dirty="0"/>
          </a:p>
        </p:txBody>
      </p:sp>
      <p:sp>
        <p:nvSpPr>
          <p:cNvPr id="23" name="Text 20"/>
          <p:cNvSpPr txBox="1"/>
          <p:nvPr/>
        </p:nvSpPr>
        <p:spPr>
          <a:xfrm>
            <a:off x="9784080" y="4114800"/>
            <a:ext cx="1493215" cy="384048"/>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progress while the engine runs</a:t>
            </a:r>
            <a:endParaRPr lang="en-US" sz="1100" dirty="0"/>
          </a:p>
        </p:txBody>
      </p:sp>
      <p:sp>
        <p:nvSpPr>
          <p:cNvPr id="24" name="Text 21"/>
          <p:cNvSpPr txBox="1"/>
          <p:nvPr/>
        </p:nvSpPr>
        <p:spPr>
          <a:xfrm>
            <a:off x="7635240" y="4572000"/>
            <a:ext cx="214884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ResultScreens</a:t>
            </a:r>
            <a:endParaRPr lang="en-US" sz="1200" dirty="0"/>
          </a:p>
        </p:txBody>
      </p:sp>
      <p:sp>
        <p:nvSpPr>
          <p:cNvPr id="25" name="Text 22"/>
          <p:cNvSpPr txBox="1"/>
          <p:nvPr/>
        </p:nvSpPr>
        <p:spPr>
          <a:xfrm>
            <a:off x="9784080" y="4572000"/>
            <a:ext cx="1493215" cy="384048"/>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AUC ring, PK grid, explanation</a:t>
            </a:r>
            <a:endParaRPr lang="en-US" sz="1100" dirty="0"/>
          </a:p>
        </p:txBody>
      </p:sp>
      <p:sp>
        <p:nvSpPr>
          <p:cNvPr id="26" name="Text 23"/>
          <p:cNvSpPr txBox="1"/>
          <p:nvPr/>
        </p:nvSpPr>
        <p:spPr>
          <a:xfrm>
            <a:off x="7635240" y="5029200"/>
            <a:ext cx="214884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HistoryScreen</a:t>
            </a:r>
            <a:endParaRPr lang="en-US" sz="1200" dirty="0"/>
          </a:p>
        </p:txBody>
      </p:sp>
      <p:sp>
        <p:nvSpPr>
          <p:cNvPr id="27" name="Text 24"/>
          <p:cNvSpPr txBox="1"/>
          <p:nvPr/>
        </p:nvSpPr>
        <p:spPr>
          <a:xfrm>
            <a:off x="9784080" y="5029200"/>
            <a:ext cx="1493215" cy="384048"/>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cases reloaded from Supabase</a:t>
            </a:r>
            <a:endParaRPr lang="en-US" sz="1100" dirty="0"/>
          </a:p>
        </p:txBody>
      </p:sp>
      <p:sp>
        <p:nvSpPr>
          <p:cNvPr id="28" name="Text 25"/>
          <p:cNvSpPr txBox="1"/>
          <p:nvPr/>
        </p:nvSpPr>
        <p:spPr>
          <a:xfrm>
            <a:off x="7635240" y="5486400"/>
            <a:ext cx="2148840" cy="384048"/>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Profile &amp; Settings</a:t>
            </a:r>
            <a:endParaRPr lang="en-US" sz="1200" dirty="0"/>
          </a:p>
        </p:txBody>
      </p:sp>
      <p:sp>
        <p:nvSpPr>
          <p:cNvPr id="29" name="Text 26"/>
          <p:cNvSpPr txBox="1"/>
          <p:nvPr/>
        </p:nvSpPr>
        <p:spPr>
          <a:xfrm>
            <a:off x="9784080" y="5486400"/>
            <a:ext cx="1493215" cy="384048"/>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account, data, about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04 · THE UI LAYER</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Jetpack Compose — the concepts I applied</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Compose is declarative: I never mutate a view, I describe the UI as a function of state and let the framework redraw.</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10</a:t>
            </a:r>
            <a:endParaRPr lang="en-US" sz="900" dirty="0"/>
          </a:p>
        </p:txBody>
      </p:sp>
      <p:sp>
        <p:nvSpPr>
          <p:cNvPr id="8" name="Shape 5"/>
          <p:cNvSpPr/>
          <p:nvPr/>
        </p:nvSpPr>
        <p:spPr>
          <a:xfrm>
            <a:off x="640080" y="1691640"/>
            <a:ext cx="3484778" cy="2084832"/>
          </a:xfrm>
          <a:prstGeom prst="roundRect">
            <a:avLst>
              <a:gd name="adj" fmla="val 3947"/>
            </a:avLst>
          </a:prstGeom>
          <a:solidFill>
            <a:srgbClr val="EAF2FA"/>
          </a:solidFill>
          <a:ln w="12700">
            <a:solidFill>
              <a:srgbClr val="D8E1EA"/>
            </a:solidFill>
            <a:prstDash val="solid"/>
          </a:ln>
        </p:spPr>
      </p:sp>
      <p:sp>
        <p:nvSpPr>
          <p:cNvPr id="9" name="Shape 6"/>
          <p:cNvSpPr/>
          <p:nvPr/>
        </p:nvSpPr>
        <p:spPr>
          <a:xfrm>
            <a:off x="859536" y="1911096"/>
            <a:ext cx="365760" cy="365760"/>
          </a:xfrm>
          <a:prstGeom prst="ellipse">
            <a:avLst/>
          </a:prstGeom>
          <a:solidFill>
            <a:srgbClr val="1464A8"/>
          </a:solidFill>
          <a:ln w="12700">
            <a:solidFill>
              <a:srgbClr val="1464A8"/>
            </a:solidFill>
            <a:prstDash val="solid"/>
          </a:ln>
        </p:spPr>
      </p:sp>
      <p:sp>
        <p:nvSpPr>
          <p:cNvPr id="10" name="Text 7"/>
          <p:cNvSpPr txBox="1"/>
          <p:nvPr/>
        </p:nvSpPr>
        <p:spPr>
          <a:xfrm>
            <a:off x="859536" y="19110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859536" y="2386584"/>
            <a:ext cx="3045866" cy="310896"/>
          </a:xfrm>
          <a:prstGeom prst="rect">
            <a:avLst/>
          </a:prstGeom>
          <a:noFill/>
          <a:ln/>
        </p:spPr>
        <p:txBody>
          <a:bodyPr wrap="square" lIns="0" tIns="0" rIns="0" bIns="0" rtlCol="0" anchor="ctr"/>
          <a:lstStyle/>
          <a:p>
            <a:pPr indent="0" marL="0">
              <a:buNone/>
            </a:pPr>
            <a:r>
              <a:rPr lang="en-US" sz="1650" b="1" dirty="0">
                <a:solidFill>
                  <a:srgbClr val="0B2545"/>
                </a:solidFill>
                <a:latin typeface="Cambria" pitchFamily="34" charset="0"/>
                <a:ea typeface="Cambria" pitchFamily="34" charset="-122"/>
                <a:cs typeface="Cambria" pitchFamily="34" charset="-120"/>
              </a:rPr>
              <a:t>Composable functions</a:t>
            </a:r>
            <a:endParaRPr lang="en-US" sz="1650" dirty="0"/>
          </a:p>
        </p:txBody>
      </p:sp>
      <p:sp>
        <p:nvSpPr>
          <p:cNvPr id="12" name="Text 9"/>
          <p:cNvSpPr txBox="1"/>
          <p:nvPr/>
        </p:nvSpPr>
        <p:spPr>
          <a:xfrm>
            <a:off x="859536" y="2715768"/>
            <a:ext cx="3045866" cy="960120"/>
          </a:xfrm>
          <a:prstGeom prst="rect">
            <a:avLst/>
          </a:prstGeom>
          <a:noFill/>
          <a:ln/>
        </p:spPr>
        <p:txBody>
          <a:bodyPr wrap="square" lIns="0" tIns="0" rIns="0" bIns="0" rtlCol="0" anchor="ctr"/>
          <a:lstStyle/>
          <a:p>
            <a:pPr indent="0" marL="0">
              <a:lnSpc>
                <a:spcPts val="1600"/>
              </a:lnSpc>
              <a:buNone/>
            </a:pPr>
            <a:r>
              <a:rPr lang="en-US" sz="1150" dirty="0">
                <a:solidFill>
                  <a:srgbClr val="5A6672"/>
                </a:solidFill>
                <a:latin typeface="Calibri" pitchFamily="34" charset="0"/>
                <a:ea typeface="Calibri" pitchFamily="34" charset="-122"/>
                <a:cs typeface="Calibri" pitchFamily="34" charset="-120"/>
              </a:rPr>
              <a:t>UI is written as functions annotated @Composable. They take data in and emit UI — no findViewById, no view references.</a:t>
            </a:r>
            <a:endParaRPr lang="en-US" sz="1150" dirty="0"/>
          </a:p>
        </p:txBody>
      </p:sp>
      <p:sp>
        <p:nvSpPr>
          <p:cNvPr id="13" name="Shape 10"/>
          <p:cNvSpPr/>
          <p:nvPr/>
        </p:nvSpPr>
        <p:spPr>
          <a:xfrm>
            <a:off x="4353458" y="1691640"/>
            <a:ext cx="3484778" cy="2084832"/>
          </a:xfrm>
          <a:prstGeom prst="roundRect">
            <a:avLst>
              <a:gd name="adj" fmla="val 3947"/>
            </a:avLst>
          </a:prstGeom>
          <a:solidFill>
            <a:srgbClr val="EAF2FA"/>
          </a:solidFill>
          <a:ln w="12700">
            <a:solidFill>
              <a:srgbClr val="D8E1EA"/>
            </a:solidFill>
            <a:prstDash val="solid"/>
          </a:ln>
        </p:spPr>
      </p:sp>
      <p:sp>
        <p:nvSpPr>
          <p:cNvPr id="14" name="Shape 11"/>
          <p:cNvSpPr/>
          <p:nvPr/>
        </p:nvSpPr>
        <p:spPr>
          <a:xfrm>
            <a:off x="4572914" y="1911096"/>
            <a:ext cx="365760" cy="365760"/>
          </a:xfrm>
          <a:prstGeom prst="ellipse">
            <a:avLst/>
          </a:prstGeom>
          <a:solidFill>
            <a:srgbClr val="1464A8"/>
          </a:solidFill>
          <a:ln w="12700">
            <a:solidFill>
              <a:srgbClr val="1464A8"/>
            </a:solidFill>
            <a:prstDash val="solid"/>
          </a:ln>
        </p:spPr>
      </p:sp>
      <p:sp>
        <p:nvSpPr>
          <p:cNvPr id="15" name="Text 12"/>
          <p:cNvSpPr txBox="1"/>
          <p:nvPr/>
        </p:nvSpPr>
        <p:spPr>
          <a:xfrm>
            <a:off x="4572914" y="19110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3"/>
          <p:cNvSpPr txBox="1"/>
          <p:nvPr/>
        </p:nvSpPr>
        <p:spPr>
          <a:xfrm>
            <a:off x="4572914" y="2386584"/>
            <a:ext cx="3045866" cy="310896"/>
          </a:xfrm>
          <a:prstGeom prst="rect">
            <a:avLst/>
          </a:prstGeom>
          <a:noFill/>
          <a:ln/>
        </p:spPr>
        <p:txBody>
          <a:bodyPr wrap="square" lIns="0" tIns="0" rIns="0" bIns="0" rtlCol="0" anchor="ctr"/>
          <a:lstStyle/>
          <a:p>
            <a:pPr indent="0" marL="0">
              <a:buNone/>
            </a:pPr>
            <a:r>
              <a:rPr lang="en-US" sz="1650" b="1" dirty="0">
                <a:solidFill>
                  <a:srgbClr val="0B2545"/>
                </a:solidFill>
                <a:latin typeface="Cambria" pitchFamily="34" charset="0"/>
                <a:ea typeface="Cambria" pitchFamily="34" charset="-122"/>
                <a:cs typeface="Cambria" pitchFamily="34" charset="-120"/>
              </a:rPr>
              <a:t>Recomposition</a:t>
            </a:r>
            <a:endParaRPr lang="en-US" sz="1650" dirty="0"/>
          </a:p>
        </p:txBody>
      </p:sp>
      <p:sp>
        <p:nvSpPr>
          <p:cNvPr id="17" name="Text 14"/>
          <p:cNvSpPr txBox="1"/>
          <p:nvPr/>
        </p:nvSpPr>
        <p:spPr>
          <a:xfrm>
            <a:off x="4572914" y="2715768"/>
            <a:ext cx="3045866" cy="960120"/>
          </a:xfrm>
          <a:prstGeom prst="rect">
            <a:avLst/>
          </a:prstGeom>
          <a:noFill/>
          <a:ln/>
        </p:spPr>
        <p:txBody>
          <a:bodyPr wrap="square" lIns="0" tIns="0" rIns="0" bIns="0" rtlCol="0" anchor="ctr"/>
          <a:lstStyle/>
          <a:p>
            <a:pPr indent="0" marL="0">
              <a:lnSpc>
                <a:spcPts val="1600"/>
              </a:lnSpc>
              <a:buNone/>
            </a:pPr>
            <a:r>
              <a:rPr lang="en-US" sz="1150" dirty="0">
                <a:solidFill>
                  <a:srgbClr val="5A6672"/>
                </a:solidFill>
                <a:latin typeface="Calibri" pitchFamily="34" charset="0"/>
                <a:ea typeface="Calibri" pitchFamily="34" charset="-122"/>
                <a:cs typeface="Calibri" pitchFamily="34" charset="-120"/>
              </a:rPr>
              <a:t>When a value a composable reads changes, Compose re-runs only that function. This is why the AUC ring updates the instant a field changes.</a:t>
            </a:r>
            <a:endParaRPr lang="en-US" sz="1150" dirty="0"/>
          </a:p>
        </p:txBody>
      </p:sp>
      <p:sp>
        <p:nvSpPr>
          <p:cNvPr id="18" name="Shape 15"/>
          <p:cNvSpPr/>
          <p:nvPr/>
        </p:nvSpPr>
        <p:spPr>
          <a:xfrm>
            <a:off x="8066837" y="1691640"/>
            <a:ext cx="3484778" cy="2084832"/>
          </a:xfrm>
          <a:prstGeom prst="roundRect">
            <a:avLst>
              <a:gd name="adj" fmla="val 3947"/>
            </a:avLst>
          </a:prstGeom>
          <a:solidFill>
            <a:srgbClr val="EAF2FA"/>
          </a:solidFill>
          <a:ln w="12700">
            <a:solidFill>
              <a:srgbClr val="D8E1EA"/>
            </a:solidFill>
            <a:prstDash val="solid"/>
          </a:ln>
        </p:spPr>
      </p:sp>
      <p:sp>
        <p:nvSpPr>
          <p:cNvPr id="19" name="Shape 16"/>
          <p:cNvSpPr/>
          <p:nvPr/>
        </p:nvSpPr>
        <p:spPr>
          <a:xfrm>
            <a:off x="8286293" y="1911096"/>
            <a:ext cx="365760" cy="365760"/>
          </a:xfrm>
          <a:prstGeom prst="ellipse">
            <a:avLst/>
          </a:prstGeom>
          <a:solidFill>
            <a:srgbClr val="1464A8"/>
          </a:solidFill>
          <a:ln w="12700">
            <a:solidFill>
              <a:srgbClr val="1464A8"/>
            </a:solidFill>
            <a:prstDash val="solid"/>
          </a:ln>
        </p:spPr>
      </p:sp>
      <p:sp>
        <p:nvSpPr>
          <p:cNvPr id="20" name="Text 17"/>
          <p:cNvSpPr txBox="1"/>
          <p:nvPr/>
        </p:nvSpPr>
        <p:spPr>
          <a:xfrm>
            <a:off x="8286293" y="19110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8"/>
          <p:cNvSpPr txBox="1"/>
          <p:nvPr/>
        </p:nvSpPr>
        <p:spPr>
          <a:xfrm>
            <a:off x="8286293" y="2386584"/>
            <a:ext cx="3045866" cy="310896"/>
          </a:xfrm>
          <a:prstGeom prst="rect">
            <a:avLst/>
          </a:prstGeom>
          <a:noFill/>
          <a:ln/>
        </p:spPr>
        <p:txBody>
          <a:bodyPr wrap="square" lIns="0" tIns="0" rIns="0" bIns="0" rtlCol="0" anchor="ctr"/>
          <a:lstStyle/>
          <a:p>
            <a:pPr indent="0" marL="0">
              <a:buNone/>
            </a:pPr>
            <a:r>
              <a:rPr lang="en-US" sz="1650" b="1" dirty="0">
                <a:solidFill>
                  <a:srgbClr val="0B2545"/>
                </a:solidFill>
                <a:latin typeface="Cambria" pitchFamily="34" charset="0"/>
                <a:ea typeface="Cambria" pitchFamily="34" charset="-122"/>
                <a:cs typeface="Cambria" pitchFamily="34" charset="-120"/>
              </a:rPr>
              <a:t>State &amp; remember</a:t>
            </a:r>
            <a:endParaRPr lang="en-US" sz="1650" dirty="0"/>
          </a:p>
        </p:txBody>
      </p:sp>
      <p:sp>
        <p:nvSpPr>
          <p:cNvPr id="22" name="Text 19"/>
          <p:cNvSpPr txBox="1"/>
          <p:nvPr/>
        </p:nvSpPr>
        <p:spPr>
          <a:xfrm>
            <a:off x="8286293" y="2715768"/>
            <a:ext cx="3045866" cy="960120"/>
          </a:xfrm>
          <a:prstGeom prst="rect">
            <a:avLst/>
          </a:prstGeom>
          <a:noFill/>
          <a:ln/>
        </p:spPr>
        <p:txBody>
          <a:bodyPr wrap="square" lIns="0" tIns="0" rIns="0" bIns="0" rtlCol="0" anchor="ctr"/>
          <a:lstStyle/>
          <a:p>
            <a:pPr indent="0" marL="0">
              <a:lnSpc>
                <a:spcPts val="1600"/>
              </a:lnSpc>
              <a:buNone/>
            </a:pPr>
            <a:r>
              <a:rPr lang="en-US" sz="1150" dirty="0">
                <a:solidFill>
                  <a:srgbClr val="5A6672"/>
                </a:solidFill>
                <a:latin typeface="Calibri" pitchFamily="34" charset="0"/>
                <a:ea typeface="Calibri" pitchFamily="34" charset="-122"/>
                <a:cs typeface="Calibri" pitchFamily="34" charset="-120"/>
              </a:rPr>
              <a:t>mutableStateOf() creates observable state; remember keeps it across recompositions; rememberSaveable survives rotation.</a:t>
            </a:r>
            <a:endParaRPr lang="en-US" sz="1150" dirty="0"/>
          </a:p>
        </p:txBody>
      </p:sp>
      <p:sp>
        <p:nvSpPr>
          <p:cNvPr id="23" name="Shape 20"/>
          <p:cNvSpPr/>
          <p:nvPr/>
        </p:nvSpPr>
        <p:spPr>
          <a:xfrm>
            <a:off x="640080" y="4032504"/>
            <a:ext cx="3484778" cy="2084832"/>
          </a:xfrm>
          <a:prstGeom prst="roundRect">
            <a:avLst>
              <a:gd name="adj" fmla="val 3947"/>
            </a:avLst>
          </a:prstGeom>
          <a:solidFill>
            <a:srgbClr val="F4F6F8"/>
          </a:solidFill>
          <a:ln w="12700">
            <a:solidFill>
              <a:srgbClr val="D8E1EA"/>
            </a:solidFill>
            <a:prstDash val="solid"/>
          </a:ln>
        </p:spPr>
      </p:sp>
      <p:sp>
        <p:nvSpPr>
          <p:cNvPr id="24" name="Shape 21"/>
          <p:cNvSpPr/>
          <p:nvPr/>
        </p:nvSpPr>
        <p:spPr>
          <a:xfrm>
            <a:off x="859536" y="4251960"/>
            <a:ext cx="365760" cy="365760"/>
          </a:xfrm>
          <a:prstGeom prst="ellipse">
            <a:avLst/>
          </a:prstGeom>
          <a:solidFill>
            <a:srgbClr val="1464A8"/>
          </a:solidFill>
          <a:ln w="12700">
            <a:solidFill>
              <a:srgbClr val="1464A8"/>
            </a:solidFill>
            <a:prstDash val="solid"/>
          </a:ln>
        </p:spPr>
      </p:sp>
      <p:sp>
        <p:nvSpPr>
          <p:cNvPr id="25" name="Text 22"/>
          <p:cNvSpPr txBox="1"/>
          <p:nvPr/>
        </p:nvSpPr>
        <p:spPr>
          <a:xfrm>
            <a:off x="859536" y="4251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3"/>
          <p:cNvSpPr txBox="1"/>
          <p:nvPr/>
        </p:nvSpPr>
        <p:spPr>
          <a:xfrm>
            <a:off x="859536" y="4727448"/>
            <a:ext cx="3045866" cy="310896"/>
          </a:xfrm>
          <a:prstGeom prst="rect">
            <a:avLst/>
          </a:prstGeom>
          <a:noFill/>
          <a:ln/>
        </p:spPr>
        <p:txBody>
          <a:bodyPr wrap="square" lIns="0" tIns="0" rIns="0" bIns="0" rtlCol="0" anchor="ctr"/>
          <a:lstStyle/>
          <a:p>
            <a:pPr indent="0" marL="0">
              <a:buNone/>
            </a:pPr>
            <a:r>
              <a:rPr lang="en-US" sz="1650" b="1" dirty="0">
                <a:solidFill>
                  <a:srgbClr val="0B2545"/>
                </a:solidFill>
                <a:latin typeface="Cambria" pitchFamily="34" charset="0"/>
                <a:ea typeface="Cambria" pitchFamily="34" charset="-122"/>
                <a:cs typeface="Cambria" pitchFamily="34" charset="-120"/>
              </a:rPr>
              <a:t>State hoisting</a:t>
            </a:r>
            <a:endParaRPr lang="en-US" sz="1650" dirty="0"/>
          </a:p>
        </p:txBody>
      </p:sp>
      <p:sp>
        <p:nvSpPr>
          <p:cNvPr id="27" name="Text 24"/>
          <p:cNvSpPr txBox="1"/>
          <p:nvPr/>
        </p:nvSpPr>
        <p:spPr>
          <a:xfrm>
            <a:off x="859536" y="5056632"/>
            <a:ext cx="3045866" cy="960120"/>
          </a:xfrm>
          <a:prstGeom prst="rect">
            <a:avLst/>
          </a:prstGeom>
          <a:noFill/>
          <a:ln/>
        </p:spPr>
        <p:txBody>
          <a:bodyPr wrap="square" lIns="0" tIns="0" rIns="0" bIns="0" rtlCol="0" anchor="ctr"/>
          <a:lstStyle/>
          <a:p>
            <a:pPr indent="0" marL="0">
              <a:lnSpc>
                <a:spcPts val="1600"/>
              </a:lnSpc>
              <a:buNone/>
            </a:pPr>
            <a:r>
              <a:rPr lang="en-US" sz="1150" dirty="0">
                <a:solidFill>
                  <a:srgbClr val="5A6672"/>
                </a:solidFill>
                <a:latin typeface="Calibri" pitchFamily="34" charset="0"/>
                <a:ea typeface="Calibri" pitchFamily="34" charset="-122"/>
                <a:cs typeface="Calibri" pitchFamily="34" charset="-120"/>
              </a:rPr>
              <a:t>Child composables hold no state of their own — they receive value + onValueChange. State lives in the ViewModel, so it is testable and shareable.</a:t>
            </a:r>
            <a:endParaRPr lang="en-US" sz="1150" dirty="0"/>
          </a:p>
        </p:txBody>
      </p:sp>
      <p:sp>
        <p:nvSpPr>
          <p:cNvPr id="28" name="Shape 25"/>
          <p:cNvSpPr/>
          <p:nvPr/>
        </p:nvSpPr>
        <p:spPr>
          <a:xfrm>
            <a:off x="4353458" y="4032504"/>
            <a:ext cx="3484778" cy="2084832"/>
          </a:xfrm>
          <a:prstGeom prst="roundRect">
            <a:avLst>
              <a:gd name="adj" fmla="val 3947"/>
            </a:avLst>
          </a:prstGeom>
          <a:solidFill>
            <a:srgbClr val="F4F6F8"/>
          </a:solidFill>
          <a:ln w="12700">
            <a:solidFill>
              <a:srgbClr val="D8E1EA"/>
            </a:solidFill>
            <a:prstDash val="solid"/>
          </a:ln>
        </p:spPr>
      </p:sp>
      <p:sp>
        <p:nvSpPr>
          <p:cNvPr id="29" name="Shape 26"/>
          <p:cNvSpPr/>
          <p:nvPr/>
        </p:nvSpPr>
        <p:spPr>
          <a:xfrm>
            <a:off x="4572914" y="4251960"/>
            <a:ext cx="365760" cy="365760"/>
          </a:xfrm>
          <a:prstGeom prst="ellipse">
            <a:avLst/>
          </a:prstGeom>
          <a:solidFill>
            <a:srgbClr val="1464A8"/>
          </a:solidFill>
          <a:ln w="12700">
            <a:solidFill>
              <a:srgbClr val="1464A8"/>
            </a:solidFill>
            <a:prstDash val="solid"/>
          </a:ln>
        </p:spPr>
      </p:sp>
      <p:sp>
        <p:nvSpPr>
          <p:cNvPr id="30" name="Text 27"/>
          <p:cNvSpPr txBox="1"/>
          <p:nvPr/>
        </p:nvSpPr>
        <p:spPr>
          <a:xfrm>
            <a:off x="4572914" y="4251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8"/>
          <p:cNvSpPr txBox="1"/>
          <p:nvPr/>
        </p:nvSpPr>
        <p:spPr>
          <a:xfrm>
            <a:off x="4572914" y="4727448"/>
            <a:ext cx="3045866" cy="310896"/>
          </a:xfrm>
          <a:prstGeom prst="rect">
            <a:avLst/>
          </a:prstGeom>
          <a:noFill/>
          <a:ln/>
        </p:spPr>
        <p:txBody>
          <a:bodyPr wrap="square" lIns="0" tIns="0" rIns="0" bIns="0" rtlCol="0" anchor="ctr"/>
          <a:lstStyle/>
          <a:p>
            <a:pPr indent="0" marL="0">
              <a:buNone/>
            </a:pPr>
            <a:r>
              <a:rPr lang="en-US" sz="1650" b="1" dirty="0">
                <a:solidFill>
                  <a:srgbClr val="0B2545"/>
                </a:solidFill>
                <a:latin typeface="Cambria" pitchFamily="34" charset="0"/>
                <a:ea typeface="Cambria" pitchFamily="34" charset="-122"/>
                <a:cs typeface="Cambria" pitchFamily="34" charset="-120"/>
              </a:rPr>
              <a:t>Modifier chain</a:t>
            </a:r>
            <a:endParaRPr lang="en-US" sz="1650" dirty="0"/>
          </a:p>
        </p:txBody>
      </p:sp>
      <p:sp>
        <p:nvSpPr>
          <p:cNvPr id="32" name="Text 29"/>
          <p:cNvSpPr txBox="1"/>
          <p:nvPr/>
        </p:nvSpPr>
        <p:spPr>
          <a:xfrm>
            <a:off x="4572914" y="5056632"/>
            <a:ext cx="3045866" cy="960120"/>
          </a:xfrm>
          <a:prstGeom prst="rect">
            <a:avLst/>
          </a:prstGeom>
          <a:noFill/>
          <a:ln/>
        </p:spPr>
        <p:txBody>
          <a:bodyPr wrap="square" lIns="0" tIns="0" rIns="0" bIns="0" rtlCol="0" anchor="ctr"/>
          <a:lstStyle/>
          <a:p>
            <a:pPr indent="0" marL="0">
              <a:lnSpc>
                <a:spcPts val="1600"/>
              </a:lnSpc>
              <a:buNone/>
            </a:pPr>
            <a:r>
              <a:rPr lang="en-US" sz="1150" dirty="0">
                <a:solidFill>
                  <a:srgbClr val="5A6672"/>
                </a:solidFill>
                <a:latin typeface="Calibri" pitchFamily="34" charset="0"/>
                <a:ea typeface="Calibri" pitchFamily="34" charset="-122"/>
                <a:cs typeface="Calibri" pitchFamily="34" charset="-120"/>
              </a:rPr>
              <a:t>Layout, padding, size, click behaviour and styling are composed as an ordered Modifier chain instead of XML attributes.</a:t>
            </a:r>
            <a:endParaRPr lang="en-US" sz="1150" dirty="0"/>
          </a:p>
        </p:txBody>
      </p:sp>
      <p:sp>
        <p:nvSpPr>
          <p:cNvPr id="33" name="Shape 30"/>
          <p:cNvSpPr/>
          <p:nvPr/>
        </p:nvSpPr>
        <p:spPr>
          <a:xfrm>
            <a:off x="8066837" y="4032504"/>
            <a:ext cx="3484778" cy="2084832"/>
          </a:xfrm>
          <a:prstGeom prst="roundRect">
            <a:avLst>
              <a:gd name="adj" fmla="val 3947"/>
            </a:avLst>
          </a:prstGeom>
          <a:solidFill>
            <a:srgbClr val="F4F6F8"/>
          </a:solidFill>
          <a:ln w="12700">
            <a:solidFill>
              <a:srgbClr val="D8E1EA"/>
            </a:solidFill>
            <a:prstDash val="solid"/>
          </a:ln>
        </p:spPr>
      </p:sp>
      <p:sp>
        <p:nvSpPr>
          <p:cNvPr id="34" name="Shape 31"/>
          <p:cNvSpPr/>
          <p:nvPr/>
        </p:nvSpPr>
        <p:spPr>
          <a:xfrm>
            <a:off x="8286293" y="4251960"/>
            <a:ext cx="365760" cy="365760"/>
          </a:xfrm>
          <a:prstGeom prst="ellipse">
            <a:avLst/>
          </a:prstGeom>
          <a:solidFill>
            <a:srgbClr val="1464A8"/>
          </a:solidFill>
          <a:ln w="12700">
            <a:solidFill>
              <a:srgbClr val="1464A8"/>
            </a:solidFill>
            <a:prstDash val="solid"/>
          </a:ln>
        </p:spPr>
      </p:sp>
      <p:sp>
        <p:nvSpPr>
          <p:cNvPr id="35" name="Text 32"/>
          <p:cNvSpPr txBox="1"/>
          <p:nvPr/>
        </p:nvSpPr>
        <p:spPr>
          <a:xfrm>
            <a:off x="8286293" y="4251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6" name="Text 33"/>
          <p:cNvSpPr txBox="1"/>
          <p:nvPr/>
        </p:nvSpPr>
        <p:spPr>
          <a:xfrm>
            <a:off x="8286293" y="4727448"/>
            <a:ext cx="3045866" cy="310896"/>
          </a:xfrm>
          <a:prstGeom prst="rect">
            <a:avLst/>
          </a:prstGeom>
          <a:noFill/>
          <a:ln/>
        </p:spPr>
        <p:txBody>
          <a:bodyPr wrap="square" lIns="0" tIns="0" rIns="0" bIns="0" rtlCol="0" anchor="ctr"/>
          <a:lstStyle/>
          <a:p>
            <a:pPr indent="0" marL="0">
              <a:buNone/>
            </a:pPr>
            <a:r>
              <a:rPr lang="en-US" sz="1650" b="1" dirty="0">
                <a:solidFill>
                  <a:srgbClr val="0B2545"/>
                </a:solidFill>
                <a:latin typeface="Cambria" pitchFamily="34" charset="0"/>
                <a:ea typeface="Cambria" pitchFamily="34" charset="-122"/>
                <a:cs typeface="Cambria" pitchFamily="34" charset="-120"/>
              </a:rPr>
              <a:t>Layouts &amp; lists</a:t>
            </a:r>
            <a:endParaRPr lang="en-US" sz="1650" dirty="0"/>
          </a:p>
        </p:txBody>
      </p:sp>
      <p:sp>
        <p:nvSpPr>
          <p:cNvPr id="37" name="Text 34"/>
          <p:cNvSpPr txBox="1"/>
          <p:nvPr/>
        </p:nvSpPr>
        <p:spPr>
          <a:xfrm>
            <a:off x="8286293" y="5056632"/>
            <a:ext cx="3045866" cy="960120"/>
          </a:xfrm>
          <a:prstGeom prst="rect">
            <a:avLst/>
          </a:prstGeom>
          <a:noFill/>
          <a:ln/>
        </p:spPr>
        <p:txBody>
          <a:bodyPr wrap="square" lIns="0" tIns="0" rIns="0" bIns="0" rtlCol="0" anchor="ctr"/>
          <a:lstStyle/>
          <a:p>
            <a:pPr indent="0" marL="0">
              <a:lnSpc>
                <a:spcPts val="1600"/>
              </a:lnSpc>
              <a:buNone/>
            </a:pPr>
            <a:r>
              <a:rPr lang="en-US" sz="1150" dirty="0">
                <a:solidFill>
                  <a:srgbClr val="5A6672"/>
                </a:solidFill>
                <a:latin typeface="Calibri" pitchFamily="34" charset="0"/>
                <a:ea typeface="Calibri" pitchFamily="34" charset="-122"/>
                <a:cs typeface="Calibri" pitchFamily="34" charset="-120"/>
              </a:rPr>
              <a:t>Column, Row and Box replace LinearLayout/RelativeLayout; LazyColumn replaces RecyclerView with no adapter or ViewHolder.</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04 · THE UI LAYER</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Unidirectional data flow — state down, events up</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One immutable state object describes the whole wizard. The UI never changes it directly; it only sends events.</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11</a:t>
            </a:r>
            <a:endParaRPr lang="en-US" sz="900" dirty="0"/>
          </a:p>
        </p:txBody>
      </p:sp>
      <p:sp>
        <p:nvSpPr>
          <p:cNvPr id="8" name="Shape 5"/>
          <p:cNvSpPr/>
          <p:nvPr/>
        </p:nvSpPr>
        <p:spPr>
          <a:xfrm>
            <a:off x="640080" y="1783080"/>
            <a:ext cx="3246120" cy="1691640"/>
          </a:xfrm>
          <a:prstGeom prst="roundRect">
            <a:avLst>
              <a:gd name="adj" fmla="val 4865"/>
            </a:avLst>
          </a:prstGeom>
          <a:solidFill>
            <a:srgbClr val="073A6B"/>
          </a:solidFill>
          <a:ln w="12700">
            <a:solidFill>
              <a:srgbClr val="073A6B"/>
            </a:solidFill>
            <a:prstDash val="solid"/>
          </a:ln>
        </p:spPr>
      </p:sp>
      <p:sp>
        <p:nvSpPr>
          <p:cNvPr id="9" name="Text 6"/>
          <p:cNvSpPr txBox="1"/>
          <p:nvPr/>
        </p:nvSpPr>
        <p:spPr>
          <a:xfrm>
            <a:off x="868680" y="1938528"/>
            <a:ext cx="2788920" cy="310896"/>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CaseUiState</a:t>
            </a:r>
            <a:endParaRPr lang="en-US" sz="1800" dirty="0"/>
          </a:p>
        </p:txBody>
      </p:sp>
      <p:sp>
        <p:nvSpPr>
          <p:cNvPr id="10" name="Text 7"/>
          <p:cNvSpPr txBox="1"/>
          <p:nvPr/>
        </p:nvSpPr>
        <p:spPr>
          <a:xfrm>
            <a:off x="868680" y="2304288"/>
            <a:ext cx="2788920" cy="1051560"/>
          </a:xfrm>
          <a:prstGeom prst="rect">
            <a:avLst/>
          </a:prstGeom>
          <a:noFill/>
          <a:ln/>
        </p:spPr>
        <p:txBody>
          <a:bodyPr wrap="square" lIns="0" tIns="0" rIns="0" bIns="0" rtlCol="0" anchor="ctr"/>
          <a:lstStyle/>
          <a:p>
            <a:pPr indent="0" marL="0">
              <a:lnSpc>
                <a:spcPts val="1600"/>
              </a:lnSpc>
              <a:buNone/>
            </a:pPr>
            <a:r>
              <a:rPr lang="en-US" sz="1150" dirty="0">
                <a:solidFill>
                  <a:srgbClr val="D2E2F0"/>
                </a:solidFill>
                <a:latin typeface="Calibri" pitchFamily="34" charset="0"/>
                <a:ea typeface="Calibri" pitchFamily="34" charset="-122"/>
                <a:cs typeface="Calibri" pitchFamily="34" charset="-120"/>
              </a:rPr>
              <a:t>patient · dosing · pre · post</a:t>
            </a:r>
            <a:endParaRPr lang="en-US" sz="1150" dirty="0"/>
          </a:p>
          <a:p>
            <a:pPr indent="0" marL="0">
              <a:lnSpc>
                <a:spcPts val="1600"/>
              </a:lnSpc>
              <a:buNone/>
            </a:pPr>
            <a:r>
              <a:rPr lang="en-US" sz="1150" dirty="0">
                <a:solidFill>
                  <a:srgbClr val="D2E2F0"/>
                </a:solidFill>
                <a:latin typeface="Calibri" pitchFamily="34" charset="0"/>
                <a:ea typeface="Calibri" pitchFamily="34" charset="-122"/>
                <a:cs typeface="Calibri" pitchFamily="34" charset="-120"/>
              </a:rPr>
              <a:t>selectedWorkflow · validationReport</a:t>
            </a:r>
            <a:endParaRPr lang="en-US" sz="1150" dirty="0"/>
          </a:p>
          <a:p>
            <a:pPr indent="0" marL="0">
              <a:lnSpc>
                <a:spcPts val="1600"/>
              </a:lnSpc>
              <a:buNone/>
            </a:pPr>
            <a:r>
              <a:rPr lang="en-US" sz="1150" dirty="0">
                <a:solidFill>
                  <a:srgbClr val="D2E2F0"/>
                </a:solidFill>
                <a:latin typeface="Calibri" pitchFamily="34" charset="0"/>
                <a:ea typeface="Calibri" pitchFamily="34" charset="-122"/>
                <a:cs typeface="Calibri" pitchFamily="34" charset="-120"/>
              </a:rPr>
              <a:t>result · isCalculating</a:t>
            </a:r>
            <a:endParaRPr lang="en-US" sz="1150" dirty="0"/>
          </a:p>
        </p:txBody>
      </p:sp>
      <p:sp>
        <p:nvSpPr>
          <p:cNvPr id="11" name="Shape 8"/>
          <p:cNvSpPr/>
          <p:nvPr/>
        </p:nvSpPr>
        <p:spPr>
          <a:xfrm>
            <a:off x="3959352" y="2633472"/>
            <a:ext cx="440284" cy="0"/>
          </a:xfrm>
          <a:prstGeom prst="line">
            <a:avLst/>
          </a:prstGeom>
          <a:noFill/>
          <a:ln w="25400">
            <a:solidFill>
              <a:srgbClr val="8A96A3"/>
            </a:solidFill>
            <a:prstDash val="solid"/>
            <a:tailEnd type="triangle"/>
          </a:ln>
        </p:spPr>
      </p:sp>
      <p:sp>
        <p:nvSpPr>
          <p:cNvPr id="12" name="Shape 9"/>
          <p:cNvSpPr/>
          <p:nvPr/>
        </p:nvSpPr>
        <p:spPr>
          <a:xfrm>
            <a:off x="4472788" y="1783080"/>
            <a:ext cx="3246120" cy="1691640"/>
          </a:xfrm>
          <a:prstGeom prst="roundRect">
            <a:avLst>
              <a:gd name="adj" fmla="val 4865"/>
            </a:avLst>
          </a:prstGeom>
          <a:solidFill>
            <a:srgbClr val="1464A8"/>
          </a:solidFill>
          <a:ln w="12700">
            <a:solidFill>
              <a:srgbClr val="1464A8"/>
            </a:solidFill>
            <a:prstDash val="solid"/>
          </a:ln>
        </p:spPr>
      </p:sp>
      <p:sp>
        <p:nvSpPr>
          <p:cNvPr id="13" name="Text 10"/>
          <p:cNvSpPr txBox="1"/>
          <p:nvPr/>
        </p:nvSpPr>
        <p:spPr>
          <a:xfrm>
            <a:off x="4701388" y="1938528"/>
            <a:ext cx="2788920" cy="310896"/>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Compose UI</a:t>
            </a:r>
            <a:endParaRPr lang="en-US" sz="1800" dirty="0"/>
          </a:p>
        </p:txBody>
      </p:sp>
      <p:sp>
        <p:nvSpPr>
          <p:cNvPr id="14" name="Text 11"/>
          <p:cNvSpPr txBox="1"/>
          <p:nvPr/>
        </p:nvSpPr>
        <p:spPr>
          <a:xfrm>
            <a:off x="4701388" y="2304288"/>
            <a:ext cx="2788920" cy="1051560"/>
          </a:xfrm>
          <a:prstGeom prst="rect">
            <a:avLst/>
          </a:prstGeom>
          <a:noFill/>
          <a:ln/>
        </p:spPr>
        <p:txBody>
          <a:bodyPr wrap="square" lIns="0" tIns="0" rIns="0" bIns="0" rtlCol="0" anchor="ctr"/>
          <a:lstStyle/>
          <a:p>
            <a:pPr indent="0" marL="0">
              <a:lnSpc>
                <a:spcPts val="1600"/>
              </a:lnSpc>
              <a:buNone/>
            </a:pPr>
            <a:r>
              <a:rPr lang="en-US" sz="1150" dirty="0">
                <a:solidFill>
                  <a:srgbClr val="D2E2F0"/>
                </a:solidFill>
                <a:latin typeface="Calibri" pitchFamily="34" charset="0"/>
                <a:ea typeface="Calibri" pitchFamily="34" charset="-122"/>
                <a:cs typeface="Calibri" pitchFamily="34" charset="-120"/>
              </a:rPr>
              <a:t>collectAsState() reads the state</a:t>
            </a:r>
            <a:endParaRPr lang="en-US" sz="1150" dirty="0"/>
          </a:p>
          <a:p>
            <a:pPr indent="0" marL="0">
              <a:lnSpc>
                <a:spcPts val="1600"/>
              </a:lnSpc>
              <a:buNone/>
            </a:pPr>
            <a:r>
              <a:rPr lang="en-US" sz="1150" dirty="0">
                <a:solidFill>
                  <a:srgbClr val="D2E2F0"/>
                </a:solidFill>
                <a:latin typeface="Calibri" pitchFamily="34" charset="0"/>
                <a:ea typeface="Calibri" pitchFamily="34" charset="-122"/>
                <a:cs typeface="Calibri" pitchFamily="34" charset="-120"/>
              </a:rPr>
              <a:t>and renders the current screen</a:t>
            </a:r>
            <a:endParaRPr lang="en-US" sz="1150" dirty="0"/>
          </a:p>
        </p:txBody>
      </p:sp>
      <p:sp>
        <p:nvSpPr>
          <p:cNvPr id="15" name="Shape 12"/>
          <p:cNvSpPr/>
          <p:nvPr/>
        </p:nvSpPr>
        <p:spPr>
          <a:xfrm>
            <a:off x="7792060" y="2633472"/>
            <a:ext cx="440284" cy="0"/>
          </a:xfrm>
          <a:prstGeom prst="line">
            <a:avLst/>
          </a:prstGeom>
          <a:noFill/>
          <a:ln w="25400">
            <a:solidFill>
              <a:srgbClr val="8A96A3"/>
            </a:solidFill>
            <a:prstDash val="solid"/>
            <a:tailEnd type="triangle"/>
          </a:ln>
        </p:spPr>
      </p:sp>
      <p:sp>
        <p:nvSpPr>
          <p:cNvPr id="16" name="Shape 13"/>
          <p:cNvSpPr/>
          <p:nvPr/>
        </p:nvSpPr>
        <p:spPr>
          <a:xfrm>
            <a:off x="8305495" y="1783080"/>
            <a:ext cx="3246120" cy="1691640"/>
          </a:xfrm>
          <a:prstGeom prst="roundRect">
            <a:avLst>
              <a:gd name="adj" fmla="val 4865"/>
            </a:avLst>
          </a:prstGeom>
          <a:solidFill>
            <a:srgbClr val="0F6B6B"/>
          </a:solidFill>
          <a:ln w="12700">
            <a:solidFill>
              <a:srgbClr val="0F6B6B"/>
            </a:solidFill>
            <a:prstDash val="solid"/>
          </a:ln>
        </p:spPr>
      </p:sp>
      <p:sp>
        <p:nvSpPr>
          <p:cNvPr id="17" name="Text 14"/>
          <p:cNvSpPr txBox="1"/>
          <p:nvPr/>
        </p:nvSpPr>
        <p:spPr>
          <a:xfrm>
            <a:off x="8534095" y="1938528"/>
            <a:ext cx="2788920" cy="310896"/>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User event</a:t>
            </a:r>
            <a:endParaRPr lang="en-US" sz="1800" dirty="0"/>
          </a:p>
        </p:txBody>
      </p:sp>
      <p:sp>
        <p:nvSpPr>
          <p:cNvPr id="18" name="Text 15"/>
          <p:cNvSpPr txBox="1"/>
          <p:nvPr/>
        </p:nvSpPr>
        <p:spPr>
          <a:xfrm>
            <a:off x="8534095" y="2304288"/>
            <a:ext cx="2788920" cy="1051560"/>
          </a:xfrm>
          <a:prstGeom prst="rect">
            <a:avLst/>
          </a:prstGeom>
          <a:noFill/>
          <a:ln/>
        </p:spPr>
        <p:txBody>
          <a:bodyPr wrap="square" lIns="0" tIns="0" rIns="0" bIns="0" rtlCol="0" anchor="ctr"/>
          <a:lstStyle/>
          <a:p>
            <a:pPr indent="0" marL="0">
              <a:lnSpc>
                <a:spcPts val="1600"/>
              </a:lnSpc>
              <a:buNone/>
            </a:pPr>
            <a:r>
              <a:rPr lang="en-US" sz="1150" dirty="0">
                <a:solidFill>
                  <a:srgbClr val="D2E2F0"/>
                </a:solidFill>
                <a:latin typeface="Calibri" pitchFamily="34" charset="0"/>
                <a:ea typeface="Calibri" pitchFamily="34" charset="-122"/>
                <a:cs typeface="Calibri" pitchFamily="34" charset="-120"/>
              </a:rPr>
              <a:t>onValueChange → vm.updatePatient()</a:t>
            </a:r>
            <a:endParaRPr lang="en-US" sz="1150" dirty="0"/>
          </a:p>
          <a:p>
            <a:pPr indent="0" marL="0">
              <a:lnSpc>
                <a:spcPts val="1600"/>
              </a:lnSpc>
              <a:buNone/>
            </a:pPr>
            <a:r>
              <a:rPr lang="en-US" sz="1150" dirty="0">
                <a:solidFill>
                  <a:srgbClr val="D2E2F0"/>
                </a:solidFill>
                <a:latin typeface="Calibri" pitchFamily="34" charset="0"/>
                <a:ea typeface="Calibri" pitchFamily="34" charset="-122"/>
                <a:cs typeface="Calibri" pitchFamily="34" charset="-120"/>
              </a:rPr>
              <a:t>onClick → vm.runCalculation()</a:t>
            </a:r>
            <a:endParaRPr lang="en-US" sz="1150" dirty="0"/>
          </a:p>
        </p:txBody>
      </p:sp>
      <p:sp>
        <p:nvSpPr>
          <p:cNvPr id="19" name="Shape 16"/>
          <p:cNvSpPr/>
          <p:nvPr/>
        </p:nvSpPr>
        <p:spPr>
          <a:xfrm>
            <a:off x="1463040" y="3749040"/>
            <a:ext cx="9265615" cy="0"/>
          </a:xfrm>
          <a:prstGeom prst="line">
            <a:avLst/>
          </a:prstGeom>
          <a:noFill/>
          <a:ln w="25400">
            <a:solidFill>
              <a:srgbClr val="8A96A3"/>
            </a:solidFill>
            <a:prstDash val="dash"/>
            <a:headEnd type="triangle"/>
          </a:ln>
        </p:spPr>
      </p:sp>
      <p:sp>
        <p:nvSpPr>
          <p:cNvPr id="20" name="Text 17"/>
          <p:cNvSpPr txBox="1"/>
          <p:nvPr/>
        </p:nvSpPr>
        <p:spPr>
          <a:xfrm>
            <a:off x="640080" y="3803904"/>
            <a:ext cx="10911535" cy="274320"/>
          </a:xfrm>
          <a:prstGeom prst="rect">
            <a:avLst/>
          </a:prstGeom>
          <a:noFill/>
          <a:ln/>
        </p:spPr>
        <p:txBody>
          <a:bodyPr wrap="square" lIns="0" tIns="0" rIns="0" bIns="0" rtlCol="0" anchor="ctr"/>
          <a:lstStyle/>
          <a:p>
            <a:pPr algn="ctr" indent="0" marL="0">
              <a:buNone/>
            </a:pPr>
            <a:r>
              <a:rPr lang="en-US" sz="1150" i="1" dirty="0">
                <a:solidFill>
                  <a:srgbClr val="5A6672"/>
                </a:solidFill>
                <a:latin typeface="Calibri" pitchFamily="34" charset="0"/>
                <a:ea typeface="Calibri" pitchFamily="34" charset="-122"/>
                <a:cs typeface="Calibri" pitchFamily="34" charset="-120"/>
              </a:rPr>
              <a:t>the ViewModel produces a NEW state object — it is never mutated in place</a:t>
            </a:r>
            <a:endParaRPr lang="en-US" sz="1150" dirty="0"/>
          </a:p>
        </p:txBody>
      </p:sp>
      <p:sp>
        <p:nvSpPr>
          <p:cNvPr id="21" name="Shape 18"/>
          <p:cNvSpPr/>
          <p:nvPr/>
        </p:nvSpPr>
        <p:spPr>
          <a:xfrm>
            <a:off x="640080" y="4224528"/>
            <a:ext cx="6766560" cy="1828800"/>
          </a:xfrm>
          <a:prstGeom prst="roundRect">
            <a:avLst>
              <a:gd name="adj" fmla="val 4500"/>
            </a:avLst>
          </a:prstGeom>
          <a:solidFill>
            <a:srgbClr val="0F2237"/>
          </a:solidFill>
          <a:ln w="12700">
            <a:solidFill>
              <a:srgbClr val="0F2237"/>
            </a:solidFill>
            <a:prstDash val="solid"/>
          </a:ln>
        </p:spPr>
      </p:sp>
      <p:sp>
        <p:nvSpPr>
          <p:cNvPr id="22" name="Text 19"/>
          <p:cNvSpPr txBox="1"/>
          <p:nvPr/>
        </p:nvSpPr>
        <p:spPr>
          <a:xfrm>
            <a:off x="804672" y="4361688"/>
            <a:ext cx="6437376" cy="1554480"/>
          </a:xfrm>
          <a:prstGeom prst="rect">
            <a:avLst/>
          </a:prstGeom>
          <a:noFill/>
          <a:ln/>
        </p:spPr>
        <p:txBody>
          <a:bodyPr wrap="square" lIns="0" tIns="0" rIns="0" bIns="0" rtlCol="0" anchor="t"/>
          <a:lstStyle/>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private val _uiState = MutableStateFlow(CaseUiState())</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val uiState: StateFlow&lt;CaseUiState&gt; = _uiState.asStateFlow()</a:t>
            </a:r>
            <a:endParaRPr lang="en-US" sz="1050" dirty="0"/>
          </a:p>
          <a:p>
            <a:pPr indent="0" marL="0">
              <a:lnSpc>
                <a:spcPts val="1470"/>
              </a:lnSpc>
              <a:buNone/>
            </a:pP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fun updatePatient(patient: PatientInput) {</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_uiState.update { it.copy(patient = patient) }   // immutable</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a:t>
            </a:r>
            <a:endParaRPr lang="en-US" sz="1050" dirty="0"/>
          </a:p>
        </p:txBody>
      </p:sp>
      <p:sp>
        <p:nvSpPr>
          <p:cNvPr id="23" name="Shape 20"/>
          <p:cNvSpPr/>
          <p:nvPr/>
        </p:nvSpPr>
        <p:spPr>
          <a:xfrm>
            <a:off x="7726680" y="4224528"/>
            <a:ext cx="3824935" cy="1828800"/>
          </a:xfrm>
          <a:prstGeom prst="roundRect">
            <a:avLst>
              <a:gd name="adj" fmla="val 4500"/>
            </a:avLst>
          </a:prstGeom>
          <a:solidFill>
            <a:srgbClr val="EAF2FA"/>
          </a:solidFill>
          <a:ln w="12700">
            <a:solidFill>
              <a:srgbClr val="D8E1EA"/>
            </a:solidFill>
            <a:prstDash val="solid"/>
          </a:ln>
        </p:spPr>
      </p:sp>
      <p:sp>
        <p:nvSpPr>
          <p:cNvPr id="24" name="Text 21"/>
          <p:cNvSpPr txBox="1"/>
          <p:nvPr/>
        </p:nvSpPr>
        <p:spPr>
          <a:xfrm>
            <a:off x="7982712" y="4370832"/>
            <a:ext cx="3312871" cy="274320"/>
          </a:xfrm>
          <a:prstGeom prst="rect">
            <a:avLst/>
          </a:prstGeom>
          <a:noFill/>
          <a:ln/>
        </p:spPr>
        <p:txBody>
          <a:bodyPr wrap="square" lIns="0" tIns="0" rIns="0" bIns="0" rtlCol="0" anchor="ctr"/>
          <a:lstStyle/>
          <a:p>
            <a:pPr indent="0" marL="0">
              <a:buNone/>
            </a:pPr>
            <a:r>
              <a:rPr lang="en-US" sz="1300" b="1" dirty="0">
                <a:solidFill>
                  <a:srgbClr val="073A6B"/>
                </a:solidFill>
                <a:latin typeface="Calibri" pitchFamily="34" charset="0"/>
                <a:ea typeface="Calibri" pitchFamily="34" charset="-122"/>
                <a:cs typeface="Calibri" pitchFamily="34" charset="-120"/>
              </a:rPr>
              <a:t>Why this matters</a:t>
            </a:r>
            <a:endParaRPr lang="en-US" sz="1300" dirty="0"/>
          </a:p>
        </p:txBody>
      </p:sp>
      <p:sp>
        <p:nvSpPr>
          <p:cNvPr id="25" name="Text 22"/>
          <p:cNvSpPr txBox="1"/>
          <p:nvPr/>
        </p:nvSpPr>
        <p:spPr>
          <a:xfrm>
            <a:off x="7982712" y="4681728"/>
            <a:ext cx="3312871" cy="128016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073A6B"/>
                </a:solidFill>
                <a:latin typeface="Calibri" pitchFamily="34" charset="0"/>
                <a:ea typeface="Calibri" pitchFamily="34" charset="-122"/>
                <a:cs typeface="Calibri" pitchFamily="34" charset="-120"/>
              </a:rPr>
              <a:t>Only one source of truth — no desynchronised widgets</a:t>
            </a:r>
            <a:endParaRPr lang="en-US" sz="1150" dirty="0"/>
          </a:p>
          <a:p>
            <a:pPr marL="342900" indent="-342900">
              <a:spcAft>
                <a:spcPts val="700"/>
              </a:spcAft>
              <a:buSzPct val="100000"/>
              <a:buChar char="•"/>
            </a:pPr>
            <a:r>
              <a:rPr lang="en-US" sz="1150" dirty="0">
                <a:solidFill>
                  <a:srgbClr val="073A6B"/>
                </a:solidFill>
                <a:latin typeface="Calibri" pitchFamily="34" charset="0"/>
                <a:ea typeface="Calibri" pitchFamily="34" charset="-122"/>
                <a:cs typeface="Calibri" pitchFamily="34" charset="-120"/>
              </a:rPr>
              <a:t>Survives screen rotation with the ViewModel</a:t>
            </a:r>
            <a:endParaRPr lang="en-US" sz="1150" dirty="0"/>
          </a:p>
          <a:p>
            <a:pPr marL="342900" indent="-342900">
              <a:spcAft>
                <a:spcPts val="700"/>
              </a:spcAft>
              <a:buSzPct val="100000"/>
              <a:buChar char="•"/>
            </a:pPr>
            <a:r>
              <a:rPr lang="en-US" sz="1150" dirty="0">
                <a:solidFill>
                  <a:srgbClr val="073A6B"/>
                </a:solidFill>
                <a:latin typeface="Calibri" pitchFamily="34" charset="0"/>
                <a:ea typeface="Calibri" pitchFamily="34" charset="-122"/>
                <a:cs typeface="Calibri" pitchFamily="34" charset="-120"/>
              </a:rPr>
              <a:t>State is a data class, so it is trivial to test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04 · THE UI LAYER</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Material 3 — one design system, applied everywhere</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Colour, typography and shape are defined once in ui/theme/ and inherited by every screen.</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12</a:t>
            </a:r>
            <a:endParaRPr lang="en-US" sz="900" dirty="0"/>
          </a:p>
        </p:txBody>
      </p:sp>
      <p:sp>
        <p:nvSpPr>
          <p:cNvPr id="8" name="Text 5"/>
          <p:cNvSpPr txBox="1"/>
          <p:nvPr/>
        </p:nvSpPr>
        <p:spPr>
          <a:xfrm>
            <a:off x="640080" y="1691640"/>
            <a:ext cx="6035040" cy="274320"/>
          </a:xfrm>
          <a:prstGeom prst="rect">
            <a:avLst/>
          </a:prstGeom>
          <a:noFill/>
          <a:ln/>
        </p:spPr>
        <p:txBody>
          <a:bodyPr wrap="square" lIns="0" tIns="0" rIns="0" bIns="0" rtlCol="0" anchor="ctr"/>
          <a:lstStyle/>
          <a:p>
            <a:pPr indent="0" marL="0">
              <a:buNone/>
            </a:pPr>
            <a:r>
              <a:rPr lang="en-US" sz="1300" b="1" dirty="0">
                <a:solidFill>
                  <a:srgbClr val="1464A8"/>
                </a:solidFill>
                <a:latin typeface="Calibri" pitchFamily="34" charset="0"/>
                <a:ea typeface="Calibri" pitchFamily="34" charset="-122"/>
                <a:cs typeface="Calibri" pitchFamily="34" charset="-120"/>
              </a:rPr>
              <a:t>Colour scheme — ui/theme/Color.kt</a:t>
            </a:r>
            <a:endParaRPr lang="en-US" sz="1300" dirty="0"/>
          </a:p>
        </p:txBody>
      </p:sp>
      <p:sp>
        <p:nvSpPr>
          <p:cNvPr id="9" name="Shape 6"/>
          <p:cNvSpPr/>
          <p:nvPr/>
        </p:nvSpPr>
        <p:spPr>
          <a:xfrm>
            <a:off x="640080" y="2057400"/>
            <a:ext cx="777240" cy="457200"/>
          </a:xfrm>
          <a:prstGeom prst="roundRect">
            <a:avLst>
              <a:gd name="adj" fmla="val 14000"/>
            </a:avLst>
          </a:prstGeom>
          <a:solidFill>
            <a:srgbClr val="1464A8"/>
          </a:solidFill>
          <a:ln w="12700">
            <a:solidFill>
              <a:srgbClr val="D8E1EA"/>
            </a:solidFill>
            <a:prstDash val="solid"/>
          </a:ln>
        </p:spPr>
      </p:sp>
      <p:sp>
        <p:nvSpPr>
          <p:cNvPr id="10" name="Text 7"/>
          <p:cNvSpPr txBox="1"/>
          <p:nvPr/>
        </p:nvSpPr>
        <p:spPr>
          <a:xfrm>
            <a:off x="1600200" y="2057400"/>
            <a:ext cx="2194560" cy="45720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Primary</a:t>
            </a:r>
            <a:endParaRPr lang="en-US" sz="1250" dirty="0"/>
          </a:p>
        </p:txBody>
      </p:sp>
      <p:sp>
        <p:nvSpPr>
          <p:cNvPr id="11" name="Text 8"/>
          <p:cNvSpPr txBox="1"/>
          <p:nvPr/>
        </p:nvSpPr>
        <p:spPr>
          <a:xfrm>
            <a:off x="3794760" y="2057400"/>
            <a:ext cx="2834640" cy="457200"/>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#1464A8  —  clinical blue</a:t>
            </a:r>
            <a:endParaRPr lang="en-US" sz="1100" dirty="0"/>
          </a:p>
        </p:txBody>
      </p:sp>
      <p:sp>
        <p:nvSpPr>
          <p:cNvPr id="12" name="Shape 9"/>
          <p:cNvSpPr/>
          <p:nvPr/>
        </p:nvSpPr>
        <p:spPr>
          <a:xfrm>
            <a:off x="640080" y="2624328"/>
            <a:ext cx="777240" cy="457200"/>
          </a:xfrm>
          <a:prstGeom prst="roundRect">
            <a:avLst>
              <a:gd name="adj" fmla="val 14000"/>
            </a:avLst>
          </a:prstGeom>
          <a:solidFill>
            <a:srgbClr val="E3F0FF"/>
          </a:solidFill>
          <a:ln w="12700">
            <a:solidFill>
              <a:srgbClr val="D8E1EA"/>
            </a:solidFill>
            <a:prstDash val="solid"/>
          </a:ln>
        </p:spPr>
      </p:sp>
      <p:sp>
        <p:nvSpPr>
          <p:cNvPr id="13" name="Text 10"/>
          <p:cNvSpPr txBox="1"/>
          <p:nvPr/>
        </p:nvSpPr>
        <p:spPr>
          <a:xfrm>
            <a:off x="1600200" y="2624328"/>
            <a:ext cx="2194560" cy="45720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PrimaryContainer</a:t>
            </a:r>
            <a:endParaRPr lang="en-US" sz="1250" dirty="0"/>
          </a:p>
        </p:txBody>
      </p:sp>
      <p:sp>
        <p:nvSpPr>
          <p:cNvPr id="14" name="Text 11"/>
          <p:cNvSpPr txBox="1"/>
          <p:nvPr/>
        </p:nvSpPr>
        <p:spPr>
          <a:xfrm>
            <a:off x="3794760" y="2624328"/>
            <a:ext cx="2834640" cy="457200"/>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#E3F0FF  —  tinted surfaces</a:t>
            </a:r>
            <a:endParaRPr lang="en-US" sz="1100" dirty="0"/>
          </a:p>
        </p:txBody>
      </p:sp>
      <p:sp>
        <p:nvSpPr>
          <p:cNvPr id="15" name="Shape 12"/>
          <p:cNvSpPr/>
          <p:nvPr/>
        </p:nvSpPr>
        <p:spPr>
          <a:xfrm>
            <a:off x="640080" y="3191256"/>
            <a:ext cx="777240" cy="457200"/>
          </a:xfrm>
          <a:prstGeom prst="roundRect">
            <a:avLst>
              <a:gd name="adj" fmla="val 14000"/>
            </a:avLst>
          </a:prstGeom>
          <a:solidFill>
            <a:srgbClr val="0F0F0F"/>
          </a:solidFill>
          <a:ln w="12700">
            <a:solidFill>
              <a:srgbClr val="D8E1EA"/>
            </a:solidFill>
            <a:prstDash val="solid"/>
          </a:ln>
        </p:spPr>
      </p:sp>
      <p:sp>
        <p:nvSpPr>
          <p:cNvPr id="16" name="Text 13"/>
          <p:cNvSpPr txBox="1"/>
          <p:nvPr/>
        </p:nvSpPr>
        <p:spPr>
          <a:xfrm>
            <a:off x="1600200" y="3191256"/>
            <a:ext cx="2194560" cy="45720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OnSurface</a:t>
            </a:r>
            <a:endParaRPr lang="en-US" sz="1250" dirty="0"/>
          </a:p>
        </p:txBody>
      </p:sp>
      <p:sp>
        <p:nvSpPr>
          <p:cNvPr id="17" name="Text 14"/>
          <p:cNvSpPr txBox="1"/>
          <p:nvPr/>
        </p:nvSpPr>
        <p:spPr>
          <a:xfrm>
            <a:off x="3794760" y="3191256"/>
            <a:ext cx="2834640" cy="457200"/>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#0F0F0F  —  near-black text</a:t>
            </a:r>
            <a:endParaRPr lang="en-US" sz="1100" dirty="0"/>
          </a:p>
        </p:txBody>
      </p:sp>
      <p:sp>
        <p:nvSpPr>
          <p:cNvPr id="18" name="Shape 15"/>
          <p:cNvSpPr/>
          <p:nvPr/>
        </p:nvSpPr>
        <p:spPr>
          <a:xfrm>
            <a:off x="640080" y="3758184"/>
            <a:ext cx="777240" cy="457200"/>
          </a:xfrm>
          <a:prstGeom prst="roundRect">
            <a:avLst>
              <a:gd name="adj" fmla="val 14000"/>
            </a:avLst>
          </a:prstGeom>
          <a:solidFill>
            <a:srgbClr val="6B6B6B"/>
          </a:solidFill>
          <a:ln w="12700">
            <a:solidFill>
              <a:srgbClr val="D8E1EA"/>
            </a:solidFill>
            <a:prstDash val="solid"/>
          </a:ln>
        </p:spPr>
      </p:sp>
      <p:sp>
        <p:nvSpPr>
          <p:cNvPr id="19" name="Text 16"/>
          <p:cNvSpPr txBox="1"/>
          <p:nvPr/>
        </p:nvSpPr>
        <p:spPr>
          <a:xfrm>
            <a:off x="1600200" y="3758184"/>
            <a:ext cx="2194560" cy="45720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OnSurfaceVariant</a:t>
            </a:r>
            <a:endParaRPr lang="en-US" sz="1250" dirty="0"/>
          </a:p>
        </p:txBody>
      </p:sp>
      <p:sp>
        <p:nvSpPr>
          <p:cNvPr id="20" name="Text 17"/>
          <p:cNvSpPr txBox="1"/>
          <p:nvPr/>
        </p:nvSpPr>
        <p:spPr>
          <a:xfrm>
            <a:off x="3794760" y="3758184"/>
            <a:ext cx="2834640" cy="457200"/>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#6B6B6B  —  secondary text</a:t>
            </a:r>
            <a:endParaRPr lang="en-US" sz="1100" dirty="0"/>
          </a:p>
        </p:txBody>
      </p:sp>
      <p:sp>
        <p:nvSpPr>
          <p:cNvPr id="21" name="Shape 18"/>
          <p:cNvSpPr/>
          <p:nvPr/>
        </p:nvSpPr>
        <p:spPr>
          <a:xfrm>
            <a:off x="640080" y="4325112"/>
            <a:ext cx="777240" cy="457200"/>
          </a:xfrm>
          <a:prstGeom prst="roundRect">
            <a:avLst>
              <a:gd name="adj" fmla="val 14000"/>
            </a:avLst>
          </a:prstGeom>
          <a:solidFill>
            <a:srgbClr val="E2E2E2"/>
          </a:solidFill>
          <a:ln w="12700">
            <a:solidFill>
              <a:srgbClr val="D8E1EA"/>
            </a:solidFill>
            <a:prstDash val="solid"/>
          </a:ln>
        </p:spPr>
      </p:sp>
      <p:sp>
        <p:nvSpPr>
          <p:cNvPr id="22" name="Text 19"/>
          <p:cNvSpPr txBox="1"/>
          <p:nvPr/>
        </p:nvSpPr>
        <p:spPr>
          <a:xfrm>
            <a:off x="1600200" y="4325112"/>
            <a:ext cx="2194560" cy="45720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Outline</a:t>
            </a:r>
            <a:endParaRPr lang="en-US" sz="1250" dirty="0"/>
          </a:p>
        </p:txBody>
      </p:sp>
      <p:sp>
        <p:nvSpPr>
          <p:cNvPr id="23" name="Text 20"/>
          <p:cNvSpPr txBox="1"/>
          <p:nvPr/>
        </p:nvSpPr>
        <p:spPr>
          <a:xfrm>
            <a:off x="3794760" y="4325112"/>
            <a:ext cx="2834640" cy="457200"/>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#E2E2E2  —  card borders</a:t>
            </a:r>
            <a:endParaRPr lang="en-US" sz="1100" dirty="0"/>
          </a:p>
        </p:txBody>
      </p:sp>
      <p:sp>
        <p:nvSpPr>
          <p:cNvPr id="24" name="Shape 21"/>
          <p:cNvSpPr/>
          <p:nvPr/>
        </p:nvSpPr>
        <p:spPr>
          <a:xfrm>
            <a:off x="640080" y="4892040"/>
            <a:ext cx="777240" cy="457200"/>
          </a:xfrm>
          <a:prstGeom prst="roundRect">
            <a:avLst>
              <a:gd name="adj" fmla="val 14000"/>
            </a:avLst>
          </a:prstGeom>
          <a:solidFill>
            <a:srgbClr val="CC2929"/>
          </a:solidFill>
          <a:ln w="12700">
            <a:solidFill>
              <a:srgbClr val="D8E1EA"/>
            </a:solidFill>
            <a:prstDash val="solid"/>
          </a:ln>
        </p:spPr>
      </p:sp>
      <p:sp>
        <p:nvSpPr>
          <p:cNvPr id="25" name="Text 22"/>
          <p:cNvSpPr txBox="1"/>
          <p:nvPr/>
        </p:nvSpPr>
        <p:spPr>
          <a:xfrm>
            <a:off x="1600200" y="4892040"/>
            <a:ext cx="2194560" cy="45720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Error</a:t>
            </a:r>
            <a:endParaRPr lang="en-US" sz="1250" dirty="0"/>
          </a:p>
        </p:txBody>
      </p:sp>
      <p:sp>
        <p:nvSpPr>
          <p:cNvPr id="26" name="Text 23"/>
          <p:cNvSpPr txBox="1"/>
          <p:nvPr/>
        </p:nvSpPr>
        <p:spPr>
          <a:xfrm>
            <a:off x="3794760" y="4892040"/>
            <a:ext cx="2834640" cy="457200"/>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#CC2929  —  validation errors</a:t>
            </a:r>
            <a:endParaRPr lang="en-US" sz="1100" dirty="0"/>
          </a:p>
        </p:txBody>
      </p:sp>
      <p:sp>
        <p:nvSpPr>
          <p:cNvPr id="27" name="Shape 24"/>
          <p:cNvSpPr/>
          <p:nvPr/>
        </p:nvSpPr>
        <p:spPr>
          <a:xfrm>
            <a:off x="7040880" y="1691640"/>
            <a:ext cx="4510735" cy="987552"/>
          </a:xfrm>
          <a:prstGeom prst="roundRect">
            <a:avLst>
              <a:gd name="adj" fmla="val 8333"/>
            </a:avLst>
          </a:prstGeom>
          <a:solidFill>
            <a:srgbClr val="EAF2FA"/>
          </a:solidFill>
          <a:ln w="12700">
            <a:solidFill>
              <a:srgbClr val="D8E1EA"/>
            </a:solidFill>
            <a:prstDash val="solid"/>
          </a:ln>
        </p:spPr>
      </p:sp>
      <p:sp>
        <p:nvSpPr>
          <p:cNvPr id="28" name="Text 25"/>
          <p:cNvSpPr txBox="1"/>
          <p:nvPr/>
        </p:nvSpPr>
        <p:spPr>
          <a:xfrm>
            <a:off x="7296912" y="1819656"/>
            <a:ext cx="3998671" cy="274320"/>
          </a:xfrm>
          <a:prstGeom prst="rect">
            <a:avLst/>
          </a:prstGeom>
          <a:noFill/>
          <a:ln/>
        </p:spPr>
        <p:txBody>
          <a:bodyPr wrap="square" lIns="0" tIns="0" rIns="0" bIns="0"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Typography</a:t>
            </a:r>
            <a:endParaRPr lang="en-US" sz="1600" dirty="0"/>
          </a:p>
        </p:txBody>
      </p:sp>
      <p:sp>
        <p:nvSpPr>
          <p:cNvPr id="29" name="Text 26"/>
          <p:cNvSpPr txBox="1"/>
          <p:nvPr/>
        </p:nvSpPr>
        <p:spPr>
          <a:xfrm>
            <a:off x="7296912" y="2112264"/>
            <a:ext cx="3998671" cy="502920"/>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Type.kt defines the Material 3 type scale — displayLarge down to labelSmall. Results use monospace-style figures so digits line up in the PK grid.</a:t>
            </a:r>
            <a:endParaRPr lang="en-US" sz="1150" dirty="0"/>
          </a:p>
        </p:txBody>
      </p:sp>
      <p:sp>
        <p:nvSpPr>
          <p:cNvPr id="30" name="Shape 27"/>
          <p:cNvSpPr/>
          <p:nvPr/>
        </p:nvSpPr>
        <p:spPr>
          <a:xfrm>
            <a:off x="7040880" y="2816352"/>
            <a:ext cx="4510735" cy="987552"/>
          </a:xfrm>
          <a:prstGeom prst="roundRect">
            <a:avLst>
              <a:gd name="adj" fmla="val 8333"/>
            </a:avLst>
          </a:prstGeom>
          <a:solidFill>
            <a:srgbClr val="F4F6F8"/>
          </a:solidFill>
          <a:ln w="12700">
            <a:solidFill>
              <a:srgbClr val="D8E1EA"/>
            </a:solidFill>
            <a:prstDash val="solid"/>
          </a:ln>
        </p:spPr>
      </p:sp>
      <p:sp>
        <p:nvSpPr>
          <p:cNvPr id="31" name="Text 28"/>
          <p:cNvSpPr txBox="1"/>
          <p:nvPr/>
        </p:nvSpPr>
        <p:spPr>
          <a:xfrm>
            <a:off x="7296912" y="2944368"/>
            <a:ext cx="3998671" cy="274320"/>
          </a:xfrm>
          <a:prstGeom prst="rect">
            <a:avLst/>
          </a:prstGeom>
          <a:noFill/>
          <a:ln/>
        </p:spPr>
        <p:txBody>
          <a:bodyPr wrap="square" lIns="0" tIns="0" rIns="0" bIns="0"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Shape</a:t>
            </a:r>
            <a:endParaRPr lang="en-US" sz="1600" dirty="0"/>
          </a:p>
        </p:txBody>
      </p:sp>
      <p:sp>
        <p:nvSpPr>
          <p:cNvPr id="32" name="Text 29"/>
          <p:cNvSpPr txBox="1"/>
          <p:nvPr/>
        </p:nvSpPr>
        <p:spPr>
          <a:xfrm>
            <a:off x="7296912" y="3236976"/>
            <a:ext cx="3998671" cy="502920"/>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Shape.kt sets the corner radii used by every card, chip and button, so the whole app shares one geometry.</a:t>
            </a:r>
            <a:endParaRPr lang="en-US" sz="1150" dirty="0"/>
          </a:p>
        </p:txBody>
      </p:sp>
      <p:sp>
        <p:nvSpPr>
          <p:cNvPr id="33" name="Shape 30"/>
          <p:cNvSpPr/>
          <p:nvPr/>
        </p:nvSpPr>
        <p:spPr>
          <a:xfrm>
            <a:off x="7040880" y="3941064"/>
            <a:ext cx="4510735" cy="987552"/>
          </a:xfrm>
          <a:prstGeom prst="roundRect">
            <a:avLst>
              <a:gd name="adj" fmla="val 8333"/>
            </a:avLst>
          </a:prstGeom>
          <a:solidFill>
            <a:srgbClr val="EAF2FA"/>
          </a:solidFill>
          <a:ln w="12700">
            <a:solidFill>
              <a:srgbClr val="D8E1EA"/>
            </a:solidFill>
            <a:prstDash val="solid"/>
          </a:ln>
        </p:spPr>
      </p:sp>
      <p:sp>
        <p:nvSpPr>
          <p:cNvPr id="34" name="Text 31"/>
          <p:cNvSpPr txBox="1"/>
          <p:nvPr/>
        </p:nvSpPr>
        <p:spPr>
          <a:xfrm>
            <a:off x="7296912" y="4069080"/>
            <a:ext cx="3998671" cy="274320"/>
          </a:xfrm>
          <a:prstGeom prst="rect">
            <a:avLst/>
          </a:prstGeom>
          <a:noFill/>
          <a:ln/>
        </p:spPr>
        <p:txBody>
          <a:bodyPr wrap="square" lIns="0" tIns="0" rIns="0" bIns="0"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Light &amp; dark</a:t>
            </a:r>
            <a:endParaRPr lang="en-US" sz="1600" dirty="0"/>
          </a:p>
        </p:txBody>
      </p:sp>
      <p:sp>
        <p:nvSpPr>
          <p:cNvPr id="35" name="Text 32"/>
          <p:cNvSpPr txBox="1"/>
          <p:nvPr/>
        </p:nvSpPr>
        <p:spPr>
          <a:xfrm>
            <a:off x="7296912" y="4361688"/>
            <a:ext cx="3998671" cy="502920"/>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Theme.kt builds a lightColorScheme() and a darkColorScheme() from the same tokens. Switching theme changes no screen code.</a:t>
            </a:r>
            <a:endParaRPr lang="en-US" sz="1150" dirty="0"/>
          </a:p>
        </p:txBody>
      </p:sp>
      <p:sp>
        <p:nvSpPr>
          <p:cNvPr id="36" name="Shape 33"/>
          <p:cNvSpPr/>
          <p:nvPr/>
        </p:nvSpPr>
        <p:spPr>
          <a:xfrm>
            <a:off x="7040880" y="5065776"/>
            <a:ext cx="4510735" cy="987552"/>
          </a:xfrm>
          <a:prstGeom prst="roundRect">
            <a:avLst>
              <a:gd name="adj" fmla="val 8333"/>
            </a:avLst>
          </a:prstGeom>
          <a:solidFill>
            <a:srgbClr val="F4F6F8"/>
          </a:solidFill>
          <a:ln w="12700">
            <a:solidFill>
              <a:srgbClr val="D8E1EA"/>
            </a:solidFill>
            <a:prstDash val="solid"/>
          </a:ln>
        </p:spPr>
      </p:sp>
      <p:sp>
        <p:nvSpPr>
          <p:cNvPr id="37" name="Text 34"/>
          <p:cNvSpPr txBox="1"/>
          <p:nvPr/>
        </p:nvSpPr>
        <p:spPr>
          <a:xfrm>
            <a:off x="7296912" y="5193792"/>
            <a:ext cx="3998671" cy="274320"/>
          </a:xfrm>
          <a:prstGeom prst="rect">
            <a:avLst/>
          </a:prstGeom>
          <a:noFill/>
          <a:ln/>
        </p:spPr>
        <p:txBody>
          <a:bodyPr wrap="square" lIns="0" tIns="0" rIns="0" bIns="0"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Components</a:t>
            </a:r>
            <a:endParaRPr lang="en-US" sz="1600" dirty="0"/>
          </a:p>
        </p:txBody>
      </p:sp>
      <p:sp>
        <p:nvSpPr>
          <p:cNvPr id="38" name="Text 35"/>
          <p:cNvSpPr txBox="1"/>
          <p:nvPr/>
        </p:nvSpPr>
        <p:spPr>
          <a:xfrm>
            <a:off x="7296912" y="5486400"/>
            <a:ext cx="3998671" cy="502920"/>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Scaffold, TopAppBar, Card, Button, OutlinedTextField, LinearProgressIndicator — all Material 3, all reading the theme.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04 · THE UI LAYER</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Navigation — one Activity, a graph of routes</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MainActivity hosts a single NavHost. Every screen is a destination identified by a String route.</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13</a:t>
            </a:r>
            <a:endParaRPr lang="en-US" sz="900" dirty="0"/>
          </a:p>
        </p:txBody>
      </p:sp>
      <p:sp>
        <p:nvSpPr>
          <p:cNvPr id="8" name="Shape 5"/>
          <p:cNvSpPr/>
          <p:nvPr/>
        </p:nvSpPr>
        <p:spPr>
          <a:xfrm>
            <a:off x="640080" y="1691640"/>
            <a:ext cx="6309360" cy="2230120"/>
          </a:xfrm>
          <a:prstGeom prst="roundRect">
            <a:avLst>
              <a:gd name="adj" fmla="val 3690"/>
            </a:avLst>
          </a:prstGeom>
          <a:solidFill>
            <a:srgbClr val="0F2237"/>
          </a:solidFill>
          <a:ln w="12700">
            <a:solidFill>
              <a:srgbClr val="0F2237"/>
            </a:solidFill>
            <a:prstDash val="solid"/>
          </a:ln>
        </p:spPr>
      </p:sp>
      <p:sp>
        <p:nvSpPr>
          <p:cNvPr id="9" name="Text 6"/>
          <p:cNvSpPr txBox="1"/>
          <p:nvPr/>
        </p:nvSpPr>
        <p:spPr>
          <a:xfrm>
            <a:off x="804672" y="1828800"/>
            <a:ext cx="5980176" cy="1955800"/>
          </a:xfrm>
          <a:prstGeom prst="rect">
            <a:avLst/>
          </a:prstGeom>
          <a:noFill/>
          <a:ln/>
        </p:spPr>
        <p:txBody>
          <a:bodyPr wrap="square" lIns="0" tIns="0" rIns="0" bIns="0" rtlCol="0" anchor="t"/>
          <a:lstStyle/>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object Routes {</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const val HOME        = "home"</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const val WORKFLOW_SELECT = "workflow_select"</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const val INPUT_FORM  = "input_form"   // {workflow} arg</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const val RESULTS     = "results"</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const val HISTORY     = "history"</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a:t>
            </a:r>
            <a:endParaRPr lang="en-US" sz="1000" dirty="0"/>
          </a:p>
          <a:p>
            <a:pPr indent="0" marL="0">
              <a:lnSpc>
                <a:spcPts val="1400"/>
              </a:lnSpc>
              <a:buNone/>
            </a:pP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composable("${Routes.INPUT_FORM}/{workflow}") { entry -&gt;</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InputFormScreen(nav, entry.arguments?.getString("workflow"))</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a:t>
            </a:r>
            <a:endParaRPr lang="en-US" sz="1000" dirty="0"/>
          </a:p>
        </p:txBody>
      </p:sp>
      <p:sp>
        <p:nvSpPr>
          <p:cNvPr id="10" name="Text 7"/>
          <p:cNvSpPr txBox="1"/>
          <p:nvPr/>
        </p:nvSpPr>
        <p:spPr>
          <a:xfrm>
            <a:off x="640080" y="4069080"/>
            <a:ext cx="6309360" cy="155448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26323F"/>
                </a:solidFill>
                <a:latin typeface="Calibri" pitchFamily="34" charset="0"/>
                <a:ea typeface="Calibri" pitchFamily="34" charset="-122"/>
                <a:cs typeface="Calibri" pitchFamily="34" charset="-120"/>
              </a:rPr>
              <a:t>Single-activity architecture — no Fragments, no Intents between screens.</a:t>
            </a:r>
            <a:endParaRPr lang="en-US" sz="1250" dirty="0"/>
          </a:p>
          <a:p>
            <a:pPr marL="342900" indent="-342900">
              <a:spcAft>
                <a:spcPts val="700"/>
              </a:spcAft>
              <a:buSzPct val="100000"/>
              <a:buChar char="•"/>
            </a:pPr>
            <a:r>
              <a:rPr lang="en-US" sz="1250" dirty="0">
                <a:solidFill>
                  <a:srgbClr val="26323F"/>
                </a:solidFill>
                <a:latin typeface="Calibri" pitchFamily="34" charset="0"/>
                <a:ea typeface="Calibri" pitchFamily="34" charset="-122"/>
                <a:cs typeface="Calibri" pitchFamily="34" charset="-120"/>
              </a:rPr>
              <a:t>The workflow (PRE / POST / PRE_POST) is passed as a navigation argument.</a:t>
            </a:r>
            <a:endParaRPr lang="en-US" sz="1250" dirty="0"/>
          </a:p>
          <a:p>
            <a:pPr marL="342900" indent="-342900">
              <a:spcAft>
                <a:spcPts val="700"/>
              </a:spcAft>
              <a:buSzPct val="100000"/>
              <a:buChar char="•"/>
            </a:pPr>
            <a:r>
              <a:rPr lang="en-US" sz="1250" dirty="0">
                <a:solidFill>
                  <a:srgbClr val="26323F"/>
                </a:solidFill>
                <a:latin typeface="Calibri" pitchFamily="34" charset="0"/>
                <a:ea typeface="Calibri" pitchFamily="34" charset="-122"/>
                <a:cs typeface="Calibri" pitchFamily="34" charset="-120"/>
              </a:rPr>
              <a:t>An auth gate in NavGraph sends unauthenticated users to the sign-in route before the graph is even reachable.</a:t>
            </a:r>
            <a:endParaRPr lang="en-US" sz="1250" dirty="0"/>
          </a:p>
        </p:txBody>
      </p:sp>
      <p:sp>
        <p:nvSpPr>
          <p:cNvPr id="11" name="Shape 8"/>
          <p:cNvSpPr/>
          <p:nvPr/>
        </p:nvSpPr>
        <p:spPr>
          <a:xfrm>
            <a:off x="7269480" y="1691640"/>
            <a:ext cx="4282135" cy="4389120"/>
          </a:xfrm>
          <a:prstGeom prst="roundRect">
            <a:avLst>
              <a:gd name="adj" fmla="val 1922"/>
            </a:avLst>
          </a:prstGeom>
          <a:solidFill>
            <a:srgbClr val="EAF2FA"/>
          </a:solidFill>
          <a:ln w="12700">
            <a:solidFill>
              <a:srgbClr val="EAF2FA"/>
            </a:solidFill>
            <a:prstDash val="solid"/>
          </a:ln>
        </p:spPr>
      </p:sp>
      <p:sp>
        <p:nvSpPr>
          <p:cNvPr id="12" name="Text 9"/>
          <p:cNvSpPr txBox="1"/>
          <p:nvPr/>
        </p:nvSpPr>
        <p:spPr>
          <a:xfrm>
            <a:off x="7543800" y="1856232"/>
            <a:ext cx="3733495" cy="292608"/>
          </a:xfrm>
          <a:prstGeom prst="rect">
            <a:avLst/>
          </a:prstGeom>
          <a:noFill/>
          <a:ln/>
        </p:spPr>
        <p:txBody>
          <a:bodyPr wrap="square" lIns="0" tIns="0" rIns="0" bIns="0" rtlCol="0" anchor="ctr"/>
          <a:lstStyle/>
          <a:p>
            <a:pPr indent="0" marL="0">
              <a:buNone/>
            </a:pPr>
            <a:r>
              <a:rPr lang="en-US" sz="1900" b="1" dirty="0">
                <a:solidFill>
                  <a:srgbClr val="073A6B"/>
                </a:solidFill>
                <a:latin typeface="Cambria" pitchFamily="34" charset="0"/>
                <a:ea typeface="Cambria" pitchFamily="34" charset="-122"/>
                <a:cs typeface="Cambria" pitchFamily="34" charset="-120"/>
              </a:rPr>
              <a:t>The case flow</a:t>
            </a:r>
            <a:endParaRPr lang="en-US" sz="1900" dirty="0"/>
          </a:p>
        </p:txBody>
      </p:sp>
      <p:sp>
        <p:nvSpPr>
          <p:cNvPr id="13" name="Shape 10"/>
          <p:cNvSpPr/>
          <p:nvPr/>
        </p:nvSpPr>
        <p:spPr>
          <a:xfrm>
            <a:off x="7598664" y="2368296"/>
            <a:ext cx="118872" cy="118872"/>
          </a:xfrm>
          <a:prstGeom prst="ellipse">
            <a:avLst/>
          </a:prstGeom>
          <a:solidFill>
            <a:srgbClr val="1464A8"/>
          </a:solidFill>
          <a:ln w="12700">
            <a:solidFill>
              <a:srgbClr val="FFFFFF"/>
            </a:solidFill>
            <a:prstDash val="solid"/>
          </a:ln>
        </p:spPr>
      </p:sp>
      <p:sp>
        <p:nvSpPr>
          <p:cNvPr id="14" name="Shape 11"/>
          <p:cNvSpPr/>
          <p:nvPr/>
        </p:nvSpPr>
        <p:spPr>
          <a:xfrm>
            <a:off x="7658100" y="2487168"/>
            <a:ext cx="0" cy="233172"/>
          </a:xfrm>
          <a:prstGeom prst="line">
            <a:avLst/>
          </a:prstGeom>
          <a:noFill/>
          <a:ln w="19050">
            <a:solidFill>
              <a:srgbClr val="B8CBDD"/>
            </a:solidFill>
            <a:prstDash val="solid"/>
          </a:ln>
        </p:spPr>
      </p:sp>
      <p:sp>
        <p:nvSpPr>
          <p:cNvPr id="15" name="Text 12"/>
          <p:cNvSpPr txBox="1"/>
          <p:nvPr/>
        </p:nvSpPr>
        <p:spPr>
          <a:xfrm>
            <a:off x="7863840" y="2286000"/>
            <a:ext cx="3413455" cy="292608"/>
          </a:xfrm>
          <a:prstGeom prst="rect">
            <a:avLst/>
          </a:prstGeom>
          <a:noFill/>
          <a:ln/>
        </p:spPr>
        <p:txBody>
          <a:bodyPr wrap="square" lIns="0" tIns="0" rIns="0" bIns="0" rtlCol="0" anchor="ctr"/>
          <a:lstStyle/>
          <a:p>
            <a:pPr indent="0" marL="0">
              <a:buNone/>
            </a:pPr>
            <a:r>
              <a:rPr lang="en-US" sz="1250" dirty="0">
                <a:solidFill>
                  <a:srgbClr val="0B2545"/>
                </a:solidFill>
                <a:latin typeface="Calibri" pitchFamily="34" charset="0"/>
                <a:ea typeface="Calibri" pitchFamily="34" charset="-122"/>
                <a:cs typeface="Calibri" pitchFamily="34" charset="-120"/>
              </a:rPr>
              <a:t>Splash</a:t>
            </a:r>
            <a:endParaRPr lang="en-US" sz="1250" dirty="0"/>
          </a:p>
        </p:txBody>
      </p:sp>
      <p:sp>
        <p:nvSpPr>
          <p:cNvPr id="16" name="Shape 13"/>
          <p:cNvSpPr/>
          <p:nvPr/>
        </p:nvSpPr>
        <p:spPr>
          <a:xfrm>
            <a:off x="7598664" y="2711196"/>
            <a:ext cx="118872" cy="118872"/>
          </a:xfrm>
          <a:prstGeom prst="ellipse">
            <a:avLst/>
          </a:prstGeom>
          <a:solidFill>
            <a:srgbClr val="1464A8"/>
          </a:solidFill>
          <a:ln w="12700">
            <a:solidFill>
              <a:srgbClr val="FFFFFF"/>
            </a:solidFill>
            <a:prstDash val="solid"/>
          </a:ln>
        </p:spPr>
      </p:sp>
      <p:sp>
        <p:nvSpPr>
          <p:cNvPr id="17" name="Shape 14"/>
          <p:cNvSpPr/>
          <p:nvPr/>
        </p:nvSpPr>
        <p:spPr>
          <a:xfrm>
            <a:off x="7658100" y="2830068"/>
            <a:ext cx="0" cy="233172"/>
          </a:xfrm>
          <a:prstGeom prst="line">
            <a:avLst/>
          </a:prstGeom>
          <a:noFill/>
          <a:ln w="19050">
            <a:solidFill>
              <a:srgbClr val="B8CBDD"/>
            </a:solidFill>
            <a:prstDash val="solid"/>
          </a:ln>
        </p:spPr>
      </p:sp>
      <p:sp>
        <p:nvSpPr>
          <p:cNvPr id="18" name="Text 15"/>
          <p:cNvSpPr txBox="1"/>
          <p:nvPr/>
        </p:nvSpPr>
        <p:spPr>
          <a:xfrm>
            <a:off x="7863840" y="2628900"/>
            <a:ext cx="3413455" cy="292608"/>
          </a:xfrm>
          <a:prstGeom prst="rect">
            <a:avLst/>
          </a:prstGeom>
          <a:noFill/>
          <a:ln/>
        </p:spPr>
        <p:txBody>
          <a:bodyPr wrap="square" lIns="0" tIns="0" rIns="0" bIns="0" rtlCol="0" anchor="ctr"/>
          <a:lstStyle/>
          <a:p>
            <a:pPr indent="0" marL="0">
              <a:buNone/>
            </a:pPr>
            <a:r>
              <a:rPr lang="en-US" sz="1250" dirty="0">
                <a:solidFill>
                  <a:srgbClr val="0B2545"/>
                </a:solidFill>
                <a:latin typeface="Calibri" pitchFamily="34" charset="0"/>
                <a:ea typeface="Calibri" pitchFamily="34" charset="-122"/>
                <a:cs typeface="Calibri" pitchFamily="34" charset="-120"/>
              </a:rPr>
              <a:t>Disclaimer</a:t>
            </a:r>
            <a:endParaRPr lang="en-US" sz="1250" dirty="0"/>
          </a:p>
        </p:txBody>
      </p:sp>
      <p:sp>
        <p:nvSpPr>
          <p:cNvPr id="19" name="Shape 16"/>
          <p:cNvSpPr/>
          <p:nvPr/>
        </p:nvSpPr>
        <p:spPr>
          <a:xfrm>
            <a:off x="7598664" y="3054096"/>
            <a:ext cx="118872" cy="118872"/>
          </a:xfrm>
          <a:prstGeom prst="ellipse">
            <a:avLst/>
          </a:prstGeom>
          <a:solidFill>
            <a:srgbClr val="1464A8"/>
          </a:solidFill>
          <a:ln w="12700">
            <a:solidFill>
              <a:srgbClr val="FFFFFF"/>
            </a:solidFill>
            <a:prstDash val="solid"/>
          </a:ln>
        </p:spPr>
      </p:sp>
      <p:sp>
        <p:nvSpPr>
          <p:cNvPr id="20" name="Shape 17"/>
          <p:cNvSpPr/>
          <p:nvPr/>
        </p:nvSpPr>
        <p:spPr>
          <a:xfrm>
            <a:off x="7658100" y="3172968"/>
            <a:ext cx="0" cy="233172"/>
          </a:xfrm>
          <a:prstGeom prst="line">
            <a:avLst/>
          </a:prstGeom>
          <a:noFill/>
          <a:ln w="19050">
            <a:solidFill>
              <a:srgbClr val="B8CBDD"/>
            </a:solidFill>
            <a:prstDash val="solid"/>
          </a:ln>
        </p:spPr>
      </p:sp>
      <p:sp>
        <p:nvSpPr>
          <p:cNvPr id="21" name="Text 18"/>
          <p:cNvSpPr txBox="1"/>
          <p:nvPr/>
        </p:nvSpPr>
        <p:spPr>
          <a:xfrm>
            <a:off x="7863840" y="2971800"/>
            <a:ext cx="3413455" cy="292608"/>
          </a:xfrm>
          <a:prstGeom prst="rect">
            <a:avLst/>
          </a:prstGeom>
          <a:noFill/>
          <a:ln/>
        </p:spPr>
        <p:txBody>
          <a:bodyPr wrap="square" lIns="0" tIns="0" rIns="0" bIns="0" rtlCol="0" anchor="ctr"/>
          <a:lstStyle/>
          <a:p>
            <a:pPr indent="0" marL="0">
              <a:buNone/>
            </a:pPr>
            <a:r>
              <a:rPr lang="en-US" sz="1250" dirty="0">
                <a:solidFill>
                  <a:srgbClr val="0B2545"/>
                </a:solidFill>
                <a:latin typeface="Calibri" pitchFamily="34" charset="0"/>
                <a:ea typeface="Calibri" pitchFamily="34" charset="-122"/>
                <a:cs typeface="Calibri" pitchFamily="34" charset="-120"/>
              </a:rPr>
              <a:t>Sign in (Clerk)</a:t>
            </a:r>
            <a:endParaRPr lang="en-US" sz="1250" dirty="0"/>
          </a:p>
        </p:txBody>
      </p:sp>
      <p:sp>
        <p:nvSpPr>
          <p:cNvPr id="22" name="Shape 19"/>
          <p:cNvSpPr/>
          <p:nvPr/>
        </p:nvSpPr>
        <p:spPr>
          <a:xfrm>
            <a:off x="7598664" y="3396996"/>
            <a:ext cx="118872" cy="118872"/>
          </a:xfrm>
          <a:prstGeom prst="ellipse">
            <a:avLst/>
          </a:prstGeom>
          <a:solidFill>
            <a:srgbClr val="1464A8"/>
          </a:solidFill>
          <a:ln w="12700">
            <a:solidFill>
              <a:srgbClr val="FFFFFF"/>
            </a:solidFill>
            <a:prstDash val="solid"/>
          </a:ln>
        </p:spPr>
      </p:sp>
      <p:sp>
        <p:nvSpPr>
          <p:cNvPr id="23" name="Shape 20"/>
          <p:cNvSpPr/>
          <p:nvPr/>
        </p:nvSpPr>
        <p:spPr>
          <a:xfrm>
            <a:off x="7658100" y="3515868"/>
            <a:ext cx="0" cy="233172"/>
          </a:xfrm>
          <a:prstGeom prst="line">
            <a:avLst/>
          </a:prstGeom>
          <a:noFill/>
          <a:ln w="19050">
            <a:solidFill>
              <a:srgbClr val="B8CBDD"/>
            </a:solidFill>
            <a:prstDash val="solid"/>
          </a:ln>
        </p:spPr>
      </p:sp>
      <p:sp>
        <p:nvSpPr>
          <p:cNvPr id="24" name="Text 21"/>
          <p:cNvSpPr txBox="1"/>
          <p:nvPr/>
        </p:nvSpPr>
        <p:spPr>
          <a:xfrm>
            <a:off x="7863840" y="3314700"/>
            <a:ext cx="3413455" cy="292608"/>
          </a:xfrm>
          <a:prstGeom prst="rect">
            <a:avLst/>
          </a:prstGeom>
          <a:noFill/>
          <a:ln/>
        </p:spPr>
        <p:txBody>
          <a:bodyPr wrap="square" lIns="0" tIns="0" rIns="0" bIns="0" rtlCol="0" anchor="ctr"/>
          <a:lstStyle/>
          <a:p>
            <a:pPr indent="0" marL="0">
              <a:buNone/>
            </a:pPr>
            <a:r>
              <a:rPr lang="en-US" sz="1250" dirty="0">
                <a:solidFill>
                  <a:srgbClr val="0B2545"/>
                </a:solidFill>
                <a:latin typeface="Calibri" pitchFamily="34" charset="0"/>
                <a:ea typeface="Calibri" pitchFamily="34" charset="-122"/>
                <a:cs typeface="Calibri" pitchFamily="34" charset="-120"/>
              </a:rPr>
              <a:t>Home</a:t>
            </a:r>
            <a:endParaRPr lang="en-US" sz="1250" dirty="0"/>
          </a:p>
        </p:txBody>
      </p:sp>
      <p:sp>
        <p:nvSpPr>
          <p:cNvPr id="25" name="Shape 22"/>
          <p:cNvSpPr/>
          <p:nvPr/>
        </p:nvSpPr>
        <p:spPr>
          <a:xfrm>
            <a:off x="7598664" y="3739896"/>
            <a:ext cx="118872" cy="118872"/>
          </a:xfrm>
          <a:prstGeom prst="ellipse">
            <a:avLst/>
          </a:prstGeom>
          <a:solidFill>
            <a:srgbClr val="1464A8"/>
          </a:solidFill>
          <a:ln w="12700">
            <a:solidFill>
              <a:srgbClr val="FFFFFF"/>
            </a:solidFill>
            <a:prstDash val="solid"/>
          </a:ln>
        </p:spPr>
      </p:sp>
      <p:sp>
        <p:nvSpPr>
          <p:cNvPr id="26" name="Shape 23"/>
          <p:cNvSpPr/>
          <p:nvPr/>
        </p:nvSpPr>
        <p:spPr>
          <a:xfrm>
            <a:off x="7658100" y="3858768"/>
            <a:ext cx="0" cy="233172"/>
          </a:xfrm>
          <a:prstGeom prst="line">
            <a:avLst/>
          </a:prstGeom>
          <a:noFill/>
          <a:ln w="19050">
            <a:solidFill>
              <a:srgbClr val="B8CBDD"/>
            </a:solidFill>
            <a:prstDash val="solid"/>
          </a:ln>
        </p:spPr>
      </p:sp>
      <p:sp>
        <p:nvSpPr>
          <p:cNvPr id="27" name="Text 24"/>
          <p:cNvSpPr txBox="1"/>
          <p:nvPr/>
        </p:nvSpPr>
        <p:spPr>
          <a:xfrm>
            <a:off x="7863840" y="3657600"/>
            <a:ext cx="3413455" cy="292608"/>
          </a:xfrm>
          <a:prstGeom prst="rect">
            <a:avLst/>
          </a:prstGeom>
          <a:noFill/>
          <a:ln/>
        </p:spPr>
        <p:txBody>
          <a:bodyPr wrap="square" lIns="0" tIns="0" rIns="0" bIns="0" rtlCol="0" anchor="ctr"/>
          <a:lstStyle/>
          <a:p>
            <a:pPr indent="0" marL="0">
              <a:buNone/>
            </a:pPr>
            <a:r>
              <a:rPr lang="en-US" sz="1250" dirty="0">
                <a:solidFill>
                  <a:srgbClr val="0B2545"/>
                </a:solidFill>
                <a:latin typeface="Calibri" pitchFamily="34" charset="0"/>
                <a:ea typeface="Calibri" pitchFamily="34" charset="-122"/>
                <a:cs typeface="Calibri" pitchFamily="34" charset="-120"/>
              </a:rPr>
              <a:t>New case</a:t>
            </a:r>
            <a:endParaRPr lang="en-US" sz="1250" dirty="0"/>
          </a:p>
        </p:txBody>
      </p:sp>
      <p:sp>
        <p:nvSpPr>
          <p:cNvPr id="28" name="Shape 25"/>
          <p:cNvSpPr/>
          <p:nvPr/>
        </p:nvSpPr>
        <p:spPr>
          <a:xfrm>
            <a:off x="7598664" y="4082796"/>
            <a:ext cx="118872" cy="118872"/>
          </a:xfrm>
          <a:prstGeom prst="ellipse">
            <a:avLst/>
          </a:prstGeom>
          <a:solidFill>
            <a:srgbClr val="1464A8"/>
          </a:solidFill>
          <a:ln w="12700">
            <a:solidFill>
              <a:srgbClr val="FFFFFF"/>
            </a:solidFill>
            <a:prstDash val="solid"/>
          </a:ln>
        </p:spPr>
      </p:sp>
      <p:sp>
        <p:nvSpPr>
          <p:cNvPr id="29" name="Shape 26"/>
          <p:cNvSpPr/>
          <p:nvPr/>
        </p:nvSpPr>
        <p:spPr>
          <a:xfrm>
            <a:off x="7658100" y="4201668"/>
            <a:ext cx="0" cy="233172"/>
          </a:xfrm>
          <a:prstGeom prst="line">
            <a:avLst/>
          </a:prstGeom>
          <a:noFill/>
          <a:ln w="19050">
            <a:solidFill>
              <a:srgbClr val="B8CBDD"/>
            </a:solidFill>
            <a:prstDash val="solid"/>
          </a:ln>
        </p:spPr>
      </p:sp>
      <p:sp>
        <p:nvSpPr>
          <p:cNvPr id="30" name="Text 27"/>
          <p:cNvSpPr txBox="1"/>
          <p:nvPr/>
        </p:nvSpPr>
        <p:spPr>
          <a:xfrm>
            <a:off x="7863840" y="4000500"/>
            <a:ext cx="3413455" cy="292608"/>
          </a:xfrm>
          <a:prstGeom prst="rect">
            <a:avLst/>
          </a:prstGeom>
          <a:noFill/>
          <a:ln/>
        </p:spPr>
        <p:txBody>
          <a:bodyPr wrap="square" lIns="0" tIns="0" rIns="0" bIns="0" rtlCol="0" anchor="ctr"/>
          <a:lstStyle/>
          <a:p>
            <a:pPr indent="0" marL="0">
              <a:buNone/>
            </a:pPr>
            <a:r>
              <a:rPr lang="en-US" sz="1250" dirty="0">
                <a:solidFill>
                  <a:srgbClr val="0B2545"/>
                </a:solidFill>
                <a:latin typeface="Calibri" pitchFamily="34" charset="0"/>
                <a:ea typeface="Calibri" pitchFamily="34" charset="-122"/>
                <a:cs typeface="Calibri" pitchFamily="34" charset="-120"/>
              </a:rPr>
              <a:t>Workflow select</a:t>
            </a:r>
            <a:endParaRPr lang="en-US" sz="1250" dirty="0"/>
          </a:p>
        </p:txBody>
      </p:sp>
      <p:sp>
        <p:nvSpPr>
          <p:cNvPr id="31" name="Shape 28"/>
          <p:cNvSpPr/>
          <p:nvPr/>
        </p:nvSpPr>
        <p:spPr>
          <a:xfrm>
            <a:off x="7598664" y="4425696"/>
            <a:ext cx="118872" cy="118872"/>
          </a:xfrm>
          <a:prstGeom prst="ellipse">
            <a:avLst/>
          </a:prstGeom>
          <a:solidFill>
            <a:srgbClr val="1464A8"/>
          </a:solidFill>
          <a:ln w="12700">
            <a:solidFill>
              <a:srgbClr val="FFFFFF"/>
            </a:solidFill>
            <a:prstDash val="solid"/>
          </a:ln>
        </p:spPr>
      </p:sp>
      <p:sp>
        <p:nvSpPr>
          <p:cNvPr id="32" name="Shape 29"/>
          <p:cNvSpPr/>
          <p:nvPr/>
        </p:nvSpPr>
        <p:spPr>
          <a:xfrm>
            <a:off x="7658100" y="4544568"/>
            <a:ext cx="0" cy="233172"/>
          </a:xfrm>
          <a:prstGeom prst="line">
            <a:avLst/>
          </a:prstGeom>
          <a:noFill/>
          <a:ln w="19050">
            <a:solidFill>
              <a:srgbClr val="B8CBDD"/>
            </a:solidFill>
            <a:prstDash val="solid"/>
          </a:ln>
        </p:spPr>
      </p:sp>
      <p:sp>
        <p:nvSpPr>
          <p:cNvPr id="33" name="Text 30"/>
          <p:cNvSpPr txBox="1"/>
          <p:nvPr/>
        </p:nvSpPr>
        <p:spPr>
          <a:xfrm>
            <a:off x="7863840" y="4343400"/>
            <a:ext cx="3413455" cy="292608"/>
          </a:xfrm>
          <a:prstGeom prst="rect">
            <a:avLst/>
          </a:prstGeom>
          <a:noFill/>
          <a:ln/>
        </p:spPr>
        <p:txBody>
          <a:bodyPr wrap="square" lIns="0" tIns="0" rIns="0" bIns="0" rtlCol="0" anchor="ctr"/>
          <a:lstStyle/>
          <a:p>
            <a:pPr indent="0" marL="0">
              <a:buNone/>
            </a:pPr>
            <a:r>
              <a:rPr lang="en-US" sz="1250" dirty="0">
                <a:solidFill>
                  <a:srgbClr val="0B2545"/>
                </a:solidFill>
                <a:latin typeface="Calibri" pitchFamily="34" charset="0"/>
                <a:ea typeface="Calibri" pitchFamily="34" charset="-122"/>
                <a:cs typeface="Calibri" pitchFamily="34" charset="-120"/>
              </a:rPr>
              <a:t>Input form</a:t>
            </a:r>
            <a:endParaRPr lang="en-US" sz="1250" dirty="0"/>
          </a:p>
        </p:txBody>
      </p:sp>
      <p:sp>
        <p:nvSpPr>
          <p:cNvPr id="34" name="Shape 31"/>
          <p:cNvSpPr/>
          <p:nvPr/>
        </p:nvSpPr>
        <p:spPr>
          <a:xfrm>
            <a:off x="7598664" y="4768596"/>
            <a:ext cx="118872" cy="118872"/>
          </a:xfrm>
          <a:prstGeom prst="ellipse">
            <a:avLst/>
          </a:prstGeom>
          <a:solidFill>
            <a:srgbClr val="1464A8"/>
          </a:solidFill>
          <a:ln w="12700">
            <a:solidFill>
              <a:srgbClr val="FFFFFF"/>
            </a:solidFill>
            <a:prstDash val="solid"/>
          </a:ln>
        </p:spPr>
      </p:sp>
      <p:sp>
        <p:nvSpPr>
          <p:cNvPr id="35" name="Shape 32"/>
          <p:cNvSpPr/>
          <p:nvPr/>
        </p:nvSpPr>
        <p:spPr>
          <a:xfrm>
            <a:off x="7658100" y="4887468"/>
            <a:ext cx="0" cy="233172"/>
          </a:xfrm>
          <a:prstGeom prst="line">
            <a:avLst/>
          </a:prstGeom>
          <a:noFill/>
          <a:ln w="19050">
            <a:solidFill>
              <a:srgbClr val="B8CBDD"/>
            </a:solidFill>
            <a:prstDash val="solid"/>
          </a:ln>
        </p:spPr>
      </p:sp>
      <p:sp>
        <p:nvSpPr>
          <p:cNvPr id="36" name="Text 33"/>
          <p:cNvSpPr txBox="1"/>
          <p:nvPr/>
        </p:nvSpPr>
        <p:spPr>
          <a:xfrm>
            <a:off x="7863840" y="4686300"/>
            <a:ext cx="3413455" cy="292608"/>
          </a:xfrm>
          <a:prstGeom prst="rect">
            <a:avLst/>
          </a:prstGeom>
          <a:noFill/>
          <a:ln/>
        </p:spPr>
        <p:txBody>
          <a:bodyPr wrap="square" lIns="0" tIns="0" rIns="0" bIns="0" rtlCol="0" anchor="ctr"/>
          <a:lstStyle/>
          <a:p>
            <a:pPr indent="0" marL="0">
              <a:buNone/>
            </a:pPr>
            <a:r>
              <a:rPr lang="en-US" sz="1250" dirty="0">
                <a:solidFill>
                  <a:srgbClr val="0B2545"/>
                </a:solidFill>
                <a:latin typeface="Calibri" pitchFamily="34" charset="0"/>
                <a:ea typeface="Calibri" pitchFamily="34" charset="-122"/>
                <a:cs typeface="Calibri" pitchFamily="34" charset="-120"/>
              </a:rPr>
              <a:t>Review</a:t>
            </a:r>
            <a:endParaRPr lang="en-US" sz="1250" dirty="0"/>
          </a:p>
        </p:txBody>
      </p:sp>
      <p:sp>
        <p:nvSpPr>
          <p:cNvPr id="37" name="Shape 34"/>
          <p:cNvSpPr/>
          <p:nvPr/>
        </p:nvSpPr>
        <p:spPr>
          <a:xfrm>
            <a:off x="7598664" y="5111496"/>
            <a:ext cx="118872" cy="118872"/>
          </a:xfrm>
          <a:prstGeom prst="ellipse">
            <a:avLst/>
          </a:prstGeom>
          <a:solidFill>
            <a:srgbClr val="00A896"/>
          </a:solidFill>
          <a:ln w="12700">
            <a:solidFill>
              <a:srgbClr val="FFFFFF"/>
            </a:solidFill>
            <a:prstDash val="solid"/>
          </a:ln>
        </p:spPr>
      </p:sp>
      <p:sp>
        <p:nvSpPr>
          <p:cNvPr id="38" name="Shape 35"/>
          <p:cNvSpPr/>
          <p:nvPr/>
        </p:nvSpPr>
        <p:spPr>
          <a:xfrm>
            <a:off x="7658100" y="5230368"/>
            <a:ext cx="0" cy="233172"/>
          </a:xfrm>
          <a:prstGeom prst="line">
            <a:avLst/>
          </a:prstGeom>
          <a:noFill/>
          <a:ln w="19050">
            <a:solidFill>
              <a:srgbClr val="B8CBDD"/>
            </a:solidFill>
            <a:prstDash val="solid"/>
          </a:ln>
        </p:spPr>
      </p:sp>
      <p:sp>
        <p:nvSpPr>
          <p:cNvPr id="39" name="Text 36"/>
          <p:cNvSpPr txBox="1"/>
          <p:nvPr/>
        </p:nvSpPr>
        <p:spPr>
          <a:xfrm>
            <a:off x="7863840" y="5029200"/>
            <a:ext cx="3413455" cy="292608"/>
          </a:xfrm>
          <a:prstGeom prst="rect">
            <a:avLst/>
          </a:prstGeom>
          <a:noFill/>
          <a:ln/>
        </p:spPr>
        <p:txBody>
          <a:bodyPr wrap="square" lIns="0" tIns="0" rIns="0" bIns="0" rtlCol="0" anchor="ctr"/>
          <a:lstStyle/>
          <a:p>
            <a:pPr indent="0" marL="0">
              <a:buNone/>
            </a:pPr>
            <a:r>
              <a:rPr lang="en-US" sz="1250" b="1" dirty="0">
                <a:solidFill>
                  <a:srgbClr val="073A6B"/>
                </a:solidFill>
                <a:latin typeface="Calibri" pitchFamily="34" charset="0"/>
                <a:ea typeface="Calibri" pitchFamily="34" charset="-122"/>
                <a:cs typeface="Calibri" pitchFamily="34" charset="-120"/>
              </a:rPr>
              <a:t>Calculating</a:t>
            </a:r>
            <a:endParaRPr lang="en-US" sz="1250" dirty="0"/>
          </a:p>
        </p:txBody>
      </p:sp>
      <p:sp>
        <p:nvSpPr>
          <p:cNvPr id="40" name="Shape 37"/>
          <p:cNvSpPr/>
          <p:nvPr/>
        </p:nvSpPr>
        <p:spPr>
          <a:xfrm>
            <a:off x="7598664" y="5454396"/>
            <a:ext cx="118872" cy="118872"/>
          </a:xfrm>
          <a:prstGeom prst="ellipse">
            <a:avLst/>
          </a:prstGeom>
          <a:solidFill>
            <a:srgbClr val="00A896"/>
          </a:solidFill>
          <a:ln w="12700">
            <a:solidFill>
              <a:srgbClr val="FFFFFF"/>
            </a:solidFill>
            <a:prstDash val="solid"/>
          </a:ln>
        </p:spPr>
      </p:sp>
      <p:sp>
        <p:nvSpPr>
          <p:cNvPr id="41" name="Shape 38"/>
          <p:cNvSpPr/>
          <p:nvPr/>
        </p:nvSpPr>
        <p:spPr>
          <a:xfrm>
            <a:off x="7658100" y="5573268"/>
            <a:ext cx="0" cy="233172"/>
          </a:xfrm>
          <a:prstGeom prst="line">
            <a:avLst/>
          </a:prstGeom>
          <a:noFill/>
          <a:ln w="19050">
            <a:solidFill>
              <a:srgbClr val="B8CBDD"/>
            </a:solidFill>
            <a:prstDash val="solid"/>
          </a:ln>
        </p:spPr>
      </p:sp>
      <p:sp>
        <p:nvSpPr>
          <p:cNvPr id="42" name="Text 39"/>
          <p:cNvSpPr txBox="1"/>
          <p:nvPr/>
        </p:nvSpPr>
        <p:spPr>
          <a:xfrm>
            <a:off x="7863840" y="5372100"/>
            <a:ext cx="3413455" cy="292608"/>
          </a:xfrm>
          <a:prstGeom prst="rect">
            <a:avLst/>
          </a:prstGeom>
          <a:noFill/>
          <a:ln/>
        </p:spPr>
        <p:txBody>
          <a:bodyPr wrap="square" lIns="0" tIns="0" rIns="0" bIns="0" rtlCol="0" anchor="ctr"/>
          <a:lstStyle/>
          <a:p>
            <a:pPr indent="0" marL="0">
              <a:buNone/>
            </a:pPr>
            <a:r>
              <a:rPr lang="en-US" sz="1250" b="1" dirty="0">
                <a:solidFill>
                  <a:srgbClr val="073A6B"/>
                </a:solidFill>
                <a:latin typeface="Calibri" pitchFamily="34" charset="0"/>
                <a:ea typeface="Calibri" pitchFamily="34" charset="-122"/>
                <a:cs typeface="Calibri" pitchFamily="34" charset="-120"/>
              </a:rPr>
              <a:t>Results</a:t>
            </a:r>
            <a:endParaRPr lang="en-US" sz="1250" dirty="0"/>
          </a:p>
        </p:txBody>
      </p:sp>
      <p:sp>
        <p:nvSpPr>
          <p:cNvPr id="43" name="Shape 40"/>
          <p:cNvSpPr/>
          <p:nvPr/>
        </p:nvSpPr>
        <p:spPr>
          <a:xfrm>
            <a:off x="7598664" y="5797296"/>
            <a:ext cx="118872" cy="118872"/>
          </a:xfrm>
          <a:prstGeom prst="ellipse">
            <a:avLst/>
          </a:prstGeom>
          <a:solidFill>
            <a:srgbClr val="00A896"/>
          </a:solidFill>
          <a:ln w="12700">
            <a:solidFill>
              <a:srgbClr val="FFFFFF"/>
            </a:solidFill>
            <a:prstDash val="solid"/>
          </a:ln>
        </p:spPr>
      </p:sp>
      <p:sp>
        <p:nvSpPr>
          <p:cNvPr id="44" name="Text 41"/>
          <p:cNvSpPr txBox="1"/>
          <p:nvPr/>
        </p:nvSpPr>
        <p:spPr>
          <a:xfrm>
            <a:off x="7863840" y="5715000"/>
            <a:ext cx="3413455" cy="292608"/>
          </a:xfrm>
          <a:prstGeom prst="rect">
            <a:avLst/>
          </a:prstGeom>
          <a:noFill/>
          <a:ln/>
        </p:spPr>
        <p:txBody>
          <a:bodyPr wrap="square" lIns="0" tIns="0" rIns="0" bIns="0" rtlCol="0" anchor="ctr"/>
          <a:lstStyle/>
          <a:p>
            <a:pPr indent="0" marL="0">
              <a:buNone/>
            </a:pPr>
            <a:r>
              <a:rPr lang="en-US" sz="1250" b="1" dirty="0">
                <a:solidFill>
                  <a:srgbClr val="073A6B"/>
                </a:solidFill>
                <a:latin typeface="Calibri" pitchFamily="34" charset="0"/>
                <a:ea typeface="Calibri" pitchFamily="34" charset="-122"/>
                <a:cs typeface="Calibri" pitchFamily="34" charset="-120"/>
              </a:rPr>
              <a:t>Explanation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04 · THE UI LAYER</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Screen flow — the path a user takes</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Two gates protect the app: the disclaimer, and the authentication check. The dashed arrows are the failure loops.</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14</a:t>
            </a:r>
            <a:endParaRPr lang="en-US" sz="900" dirty="0"/>
          </a:p>
        </p:txBody>
      </p:sp>
      <p:sp>
        <p:nvSpPr>
          <p:cNvPr id="8" name="Shape 5"/>
          <p:cNvSpPr/>
          <p:nvPr/>
        </p:nvSpPr>
        <p:spPr>
          <a:xfrm>
            <a:off x="640080" y="1783080"/>
            <a:ext cx="2331720" cy="420624"/>
          </a:xfrm>
          <a:prstGeom prst="roundRect">
            <a:avLst>
              <a:gd name="adj" fmla="val 17391"/>
            </a:avLst>
          </a:prstGeom>
          <a:solidFill>
            <a:srgbClr val="0B2545"/>
          </a:solidFill>
          <a:ln w="12700">
            <a:solidFill>
              <a:srgbClr val="0B2545"/>
            </a:solidFill>
            <a:prstDash val="solid"/>
          </a:ln>
        </p:spPr>
      </p:sp>
      <p:sp>
        <p:nvSpPr>
          <p:cNvPr id="9" name="Text 6"/>
          <p:cNvSpPr txBox="1"/>
          <p:nvPr/>
        </p:nvSpPr>
        <p:spPr>
          <a:xfrm>
            <a:off x="731520" y="1783080"/>
            <a:ext cx="21488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 launch</a:t>
            </a:r>
            <a:endParaRPr lang="en-US" sz="1100" dirty="0"/>
          </a:p>
        </p:txBody>
      </p:sp>
      <p:sp>
        <p:nvSpPr>
          <p:cNvPr id="10" name="Shape 7"/>
          <p:cNvSpPr/>
          <p:nvPr/>
        </p:nvSpPr>
        <p:spPr>
          <a:xfrm>
            <a:off x="1805940" y="2203704"/>
            <a:ext cx="0" cy="146304"/>
          </a:xfrm>
          <a:prstGeom prst="line">
            <a:avLst/>
          </a:prstGeom>
          <a:noFill/>
          <a:ln w="22225">
            <a:solidFill>
              <a:srgbClr val="8A96A3"/>
            </a:solidFill>
            <a:prstDash val="solid"/>
            <a:tailEnd type="triangle"/>
          </a:ln>
        </p:spPr>
      </p:sp>
      <p:sp>
        <p:nvSpPr>
          <p:cNvPr id="11" name="Shape 8"/>
          <p:cNvSpPr/>
          <p:nvPr/>
        </p:nvSpPr>
        <p:spPr>
          <a:xfrm>
            <a:off x="640080" y="2368296"/>
            <a:ext cx="2331720" cy="420624"/>
          </a:xfrm>
          <a:prstGeom prst="roundRect">
            <a:avLst>
              <a:gd name="adj" fmla="val 17391"/>
            </a:avLst>
          </a:prstGeom>
          <a:solidFill>
            <a:srgbClr val="1E5C96"/>
          </a:solidFill>
          <a:ln w="12700">
            <a:solidFill>
              <a:srgbClr val="1E5C96"/>
            </a:solidFill>
            <a:prstDash val="solid"/>
          </a:ln>
        </p:spPr>
      </p:sp>
      <p:sp>
        <p:nvSpPr>
          <p:cNvPr id="12" name="Text 9"/>
          <p:cNvSpPr txBox="1"/>
          <p:nvPr/>
        </p:nvSpPr>
        <p:spPr>
          <a:xfrm>
            <a:off x="731520" y="2368296"/>
            <a:ext cx="21488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Splash screen</a:t>
            </a:r>
            <a:endParaRPr lang="en-US" sz="1100" dirty="0"/>
          </a:p>
        </p:txBody>
      </p:sp>
      <p:sp>
        <p:nvSpPr>
          <p:cNvPr id="13" name="Shape 10"/>
          <p:cNvSpPr/>
          <p:nvPr/>
        </p:nvSpPr>
        <p:spPr>
          <a:xfrm>
            <a:off x="1805940" y="2788920"/>
            <a:ext cx="0" cy="146304"/>
          </a:xfrm>
          <a:prstGeom prst="line">
            <a:avLst/>
          </a:prstGeom>
          <a:noFill/>
          <a:ln w="22225">
            <a:solidFill>
              <a:srgbClr val="8A96A3"/>
            </a:solidFill>
            <a:prstDash val="solid"/>
            <a:tailEnd type="triangle"/>
          </a:ln>
        </p:spPr>
      </p:sp>
      <p:sp>
        <p:nvSpPr>
          <p:cNvPr id="14" name="Shape 11"/>
          <p:cNvSpPr/>
          <p:nvPr/>
        </p:nvSpPr>
        <p:spPr>
          <a:xfrm>
            <a:off x="640080" y="2953512"/>
            <a:ext cx="2331720" cy="822960"/>
          </a:xfrm>
          <a:prstGeom prst="diamond">
            <a:avLst/>
          </a:prstGeom>
          <a:solidFill>
            <a:srgbClr val="FFF3DC"/>
          </a:solidFill>
          <a:ln w="12700">
            <a:solidFill>
              <a:srgbClr val="E3C88A"/>
            </a:solidFill>
            <a:prstDash val="solid"/>
          </a:ln>
        </p:spPr>
      </p:sp>
      <p:sp>
        <p:nvSpPr>
          <p:cNvPr id="15" name="Text 12"/>
          <p:cNvSpPr txBox="1"/>
          <p:nvPr/>
        </p:nvSpPr>
        <p:spPr>
          <a:xfrm>
            <a:off x="943204" y="2953512"/>
            <a:ext cx="1725473" cy="822960"/>
          </a:xfrm>
          <a:prstGeom prst="rect">
            <a:avLst/>
          </a:prstGeom>
          <a:noFill/>
          <a:ln/>
        </p:spPr>
        <p:txBody>
          <a:bodyPr wrap="square" lIns="0" tIns="0" rIns="0" bIns="0" rtlCol="0" anchor="ctr"/>
          <a:lstStyle/>
          <a:p>
            <a:pPr algn="ctr" indent="0" marL="0">
              <a:buNone/>
            </a:pPr>
            <a:r>
              <a:rPr lang="en-US" sz="950" b="1" dirty="0">
                <a:solidFill>
                  <a:srgbClr val="7A5510"/>
                </a:solidFill>
                <a:latin typeface="Calibri" pitchFamily="34" charset="0"/>
                <a:ea typeface="Calibri" pitchFamily="34" charset="-122"/>
                <a:cs typeface="Calibri" pitchFamily="34" charset="-120"/>
              </a:rPr>
              <a:t>Disclaimer accepted?</a:t>
            </a:r>
            <a:endParaRPr lang="en-US" sz="950" dirty="0"/>
          </a:p>
        </p:txBody>
      </p:sp>
      <p:sp>
        <p:nvSpPr>
          <p:cNvPr id="16" name="Shape 13"/>
          <p:cNvSpPr/>
          <p:nvPr/>
        </p:nvSpPr>
        <p:spPr>
          <a:xfrm>
            <a:off x="1805940" y="3776472"/>
            <a:ext cx="0" cy="146304"/>
          </a:xfrm>
          <a:prstGeom prst="line">
            <a:avLst/>
          </a:prstGeom>
          <a:noFill/>
          <a:ln w="22225">
            <a:solidFill>
              <a:srgbClr val="8A96A3"/>
            </a:solidFill>
            <a:prstDash val="solid"/>
            <a:tailEnd type="triangle"/>
          </a:ln>
        </p:spPr>
      </p:sp>
      <p:sp>
        <p:nvSpPr>
          <p:cNvPr id="17" name="Shape 14"/>
          <p:cNvSpPr/>
          <p:nvPr/>
        </p:nvSpPr>
        <p:spPr>
          <a:xfrm>
            <a:off x="640080" y="3941064"/>
            <a:ext cx="2331720" cy="420624"/>
          </a:xfrm>
          <a:prstGeom prst="roundRect">
            <a:avLst>
              <a:gd name="adj" fmla="val 17391"/>
            </a:avLst>
          </a:prstGeom>
          <a:solidFill>
            <a:srgbClr val="8A96A3"/>
          </a:solidFill>
          <a:ln w="12700">
            <a:solidFill>
              <a:srgbClr val="8A96A3"/>
            </a:solidFill>
            <a:prstDash val="solid"/>
          </a:ln>
        </p:spPr>
      </p:sp>
      <p:sp>
        <p:nvSpPr>
          <p:cNvPr id="18" name="Text 15"/>
          <p:cNvSpPr txBox="1"/>
          <p:nvPr/>
        </p:nvSpPr>
        <p:spPr>
          <a:xfrm>
            <a:off x="731520" y="3941064"/>
            <a:ext cx="21488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Disclaimer screen</a:t>
            </a:r>
            <a:endParaRPr lang="en-US" sz="1100" dirty="0"/>
          </a:p>
        </p:txBody>
      </p:sp>
      <p:sp>
        <p:nvSpPr>
          <p:cNvPr id="19" name="Text 16"/>
          <p:cNvSpPr txBox="1"/>
          <p:nvPr/>
        </p:nvSpPr>
        <p:spPr>
          <a:xfrm>
            <a:off x="1879092" y="3776472"/>
            <a:ext cx="457200" cy="219456"/>
          </a:xfrm>
          <a:prstGeom prst="rect">
            <a:avLst/>
          </a:prstGeom>
          <a:noFill/>
          <a:ln/>
        </p:spPr>
        <p:txBody>
          <a:bodyPr wrap="square" lIns="0" tIns="0" rIns="0" bIns="0" rtlCol="0" anchor="ctr"/>
          <a:lstStyle/>
          <a:p>
            <a:pPr algn="ctr" indent="0" marL="0">
              <a:buNone/>
            </a:pPr>
            <a:r>
              <a:rPr lang="en-US" sz="900" dirty="0">
                <a:solidFill>
                  <a:srgbClr val="B26B00"/>
                </a:solidFill>
                <a:latin typeface="Calibri" pitchFamily="34" charset="0"/>
                <a:ea typeface="Calibri" pitchFamily="34" charset="-122"/>
                <a:cs typeface="Calibri" pitchFamily="34" charset="-120"/>
              </a:rPr>
              <a:t>No</a:t>
            </a:r>
            <a:endParaRPr lang="en-US" sz="900" dirty="0"/>
          </a:p>
        </p:txBody>
      </p:sp>
      <p:sp>
        <p:nvSpPr>
          <p:cNvPr id="20" name="Shape 17"/>
          <p:cNvSpPr/>
          <p:nvPr/>
        </p:nvSpPr>
        <p:spPr>
          <a:xfrm>
            <a:off x="2971800" y="4151376"/>
            <a:ext cx="320040" cy="0"/>
          </a:xfrm>
          <a:prstGeom prst="line">
            <a:avLst/>
          </a:prstGeom>
          <a:noFill/>
          <a:ln w="22225">
            <a:solidFill>
              <a:srgbClr val="B8C6D4"/>
            </a:solidFill>
            <a:prstDash val="dash"/>
            <a:tailEnd type="triangle"/>
          </a:ln>
        </p:spPr>
      </p:sp>
      <p:sp>
        <p:nvSpPr>
          <p:cNvPr id="21" name="Shape 18"/>
          <p:cNvSpPr/>
          <p:nvPr/>
        </p:nvSpPr>
        <p:spPr>
          <a:xfrm flipV="1">
            <a:off x="3291840" y="3364992"/>
            <a:ext cx="0" cy="786384"/>
          </a:xfrm>
          <a:prstGeom prst="line">
            <a:avLst/>
          </a:prstGeom>
          <a:noFill/>
          <a:ln w="22225">
            <a:solidFill>
              <a:srgbClr val="B8C6D4"/>
            </a:solidFill>
            <a:prstDash val="dash"/>
            <a:tailEnd type="triangle"/>
          </a:ln>
        </p:spPr>
      </p:sp>
      <p:sp>
        <p:nvSpPr>
          <p:cNvPr id="22" name="Shape 19"/>
          <p:cNvSpPr/>
          <p:nvPr/>
        </p:nvSpPr>
        <p:spPr>
          <a:xfrm flipH="1">
            <a:off x="2971800" y="3364992"/>
            <a:ext cx="320040" cy="0"/>
          </a:xfrm>
          <a:prstGeom prst="line">
            <a:avLst/>
          </a:prstGeom>
          <a:noFill/>
          <a:ln w="22225">
            <a:solidFill>
              <a:srgbClr val="B8C6D4"/>
            </a:solidFill>
            <a:prstDash val="dash"/>
            <a:tailEnd type="triangle"/>
          </a:ln>
        </p:spPr>
      </p:sp>
      <p:sp>
        <p:nvSpPr>
          <p:cNvPr id="23" name="Shape 20"/>
          <p:cNvSpPr/>
          <p:nvPr/>
        </p:nvSpPr>
        <p:spPr>
          <a:xfrm>
            <a:off x="2971800" y="3163824"/>
            <a:ext cx="548640" cy="0"/>
          </a:xfrm>
          <a:prstGeom prst="line">
            <a:avLst/>
          </a:prstGeom>
          <a:noFill/>
          <a:ln w="22225">
            <a:solidFill>
              <a:srgbClr val="00A896"/>
            </a:solidFill>
            <a:prstDash val="solid"/>
            <a:tailEnd type="triangle"/>
          </a:ln>
        </p:spPr>
      </p:sp>
      <p:sp>
        <p:nvSpPr>
          <p:cNvPr id="24" name="Text 21"/>
          <p:cNvSpPr txBox="1"/>
          <p:nvPr/>
        </p:nvSpPr>
        <p:spPr>
          <a:xfrm>
            <a:off x="2834640" y="2907792"/>
            <a:ext cx="822960" cy="219456"/>
          </a:xfrm>
          <a:prstGeom prst="rect">
            <a:avLst/>
          </a:prstGeom>
          <a:noFill/>
          <a:ln/>
        </p:spPr>
        <p:txBody>
          <a:bodyPr wrap="square" lIns="0" tIns="0" rIns="0" bIns="0" rtlCol="0" anchor="ctr"/>
          <a:lstStyle/>
          <a:p>
            <a:pPr algn="ctr" indent="0" marL="0">
              <a:buNone/>
            </a:pPr>
            <a:r>
              <a:rPr lang="en-US" sz="900" dirty="0">
                <a:solidFill>
                  <a:srgbClr val="1B7A4B"/>
                </a:solidFill>
                <a:latin typeface="Calibri" pitchFamily="34" charset="0"/>
                <a:ea typeface="Calibri" pitchFamily="34" charset="-122"/>
                <a:cs typeface="Calibri" pitchFamily="34" charset="-120"/>
              </a:rPr>
              <a:t>Yes</a:t>
            </a:r>
            <a:endParaRPr lang="en-US" sz="900" dirty="0"/>
          </a:p>
        </p:txBody>
      </p:sp>
      <p:sp>
        <p:nvSpPr>
          <p:cNvPr id="25" name="Shape 22"/>
          <p:cNvSpPr/>
          <p:nvPr/>
        </p:nvSpPr>
        <p:spPr>
          <a:xfrm>
            <a:off x="3520440" y="2752344"/>
            <a:ext cx="2331720" cy="822960"/>
          </a:xfrm>
          <a:prstGeom prst="diamond">
            <a:avLst/>
          </a:prstGeom>
          <a:solidFill>
            <a:srgbClr val="FFF3DC"/>
          </a:solidFill>
          <a:ln w="12700">
            <a:solidFill>
              <a:srgbClr val="E3C88A"/>
            </a:solidFill>
            <a:prstDash val="solid"/>
          </a:ln>
        </p:spPr>
      </p:sp>
      <p:sp>
        <p:nvSpPr>
          <p:cNvPr id="26" name="Text 23"/>
          <p:cNvSpPr txBox="1"/>
          <p:nvPr/>
        </p:nvSpPr>
        <p:spPr>
          <a:xfrm>
            <a:off x="3823564" y="2752344"/>
            <a:ext cx="1725473" cy="822960"/>
          </a:xfrm>
          <a:prstGeom prst="rect">
            <a:avLst/>
          </a:prstGeom>
          <a:noFill/>
          <a:ln/>
        </p:spPr>
        <p:txBody>
          <a:bodyPr wrap="square" lIns="0" tIns="0" rIns="0" bIns="0" rtlCol="0" anchor="ctr"/>
          <a:lstStyle/>
          <a:p>
            <a:pPr algn="ctr" indent="0" marL="0">
              <a:buNone/>
            </a:pPr>
            <a:r>
              <a:rPr lang="en-US" sz="950" b="1" dirty="0">
                <a:solidFill>
                  <a:srgbClr val="7A5510"/>
                </a:solidFill>
                <a:latin typeface="Calibri" pitchFamily="34" charset="0"/>
                <a:ea typeface="Calibri" pitchFamily="34" charset="-122"/>
                <a:cs typeface="Calibri" pitchFamily="34" charset="-120"/>
              </a:rPr>
              <a:t>Signed in?</a:t>
            </a:r>
            <a:endParaRPr lang="en-US" sz="950" dirty="0"/>
          </a:p>
        </p:txBody>
      </p:sp>
      <p:sp>
        <p:nvSpPr>
          <p:cNvPr id="27" name="Shape 24"/>
          <p:cNvSpPr/>
          <p:nvPr/>
        </p:nvSpPr>
        <p:spPr>
          <a:xfrm>
            <a:off x="4686300" y="3575304"/>
            <a:ext cx="0" cy="146304"/>
          </a:xfrm>
          <a:prstGeom prst="line">
            <a:avLst/>
          </a:prstGeom>
          <a:noFill/>
          <a:ln w="22225">
            <a:solidFill>
              <a:srgbClr val="8A96A3"/>
            </a:solidFill>
            <a:prstDash val="solid"/>
            <a:tailEnd type="triangle"/>
          </a:ln>
        </p:spPr>
      </p:sp>
      <p:sp>
        <p:nvSpPr>
          <p:cNvPr id="28" name="Text 25"/>
          <p:cNvSpPr txBox="1"/>
          <p:nvPr/>
        </p:nvSpPr>
        <p:spPr>
          <a:xfrm>
            <a:off x="4759452" y="3566160"/>
            <a:ext cx="457200" cy="219456"/>
          </a:xfrm>
          <a:prstGeom prst="rect">
            <a:avLst/>
          </a:prstGeom>
          <a:noFill/>
          <a:ln/>
        </p:spPr>
        <p:txBody>
          <a:bodyPr wrap="square" lIns="0" tIns="0" rIns="0" bIns="0" rtlCol="0" anchor="ctr"/>
          <a:lstStyle/>
          <a:p>
            <a:pPr algn="ctr" indent="0" marL="0">
              <a:buNone/>
            </a:pPr>
            <a:r>
              <a:rPr lang="en-US" sz="900" dirty="0">
                <a:solidFill>
                  <a:srgbClr val="B26B00"/>
                </a:solidFill>
                <a:latin typeface="Calibri" pitchFamily="34" charset="0"/>
                <a:ea typeface="Calibri" pitchFamily="34" charset="-122"/>
                <a:cs typeface="Calibri" pitchFamily="34" charset="-120"/>
              </a:rPr>
              <a:t>No</a:t>
            </a:r>
            <a:endParaRPr lang="en-US" sz="900" dirty="0"/>
          </a:p>
        </p:txBody>
      </p:sp>
      <p:sp>
        <p:nvSpPr>
          <p:cNvPr id="29" name="Shape 26"/>
          <p:cNvSpPr/>
          <p:nvPr/>
        </p:nvSpPr>
        <p:spPr>
          <a:xfrm>
            <a:off x="3520440" y="3739896"/>
            <a:ext cx="2331720" cy="420624"/>
          </a:xfrm>
          <a:prstGeom prst="roundRect">
            <a:avLst>
              <a:gd name="adj" fmla="val 17391"/>
            </a:avLst>
          </a:prstGeom>
          <a:solidFill>
            <a:srgbClr val="073A6B"/>
          </a:solidFill>
          <a:ln w="12700">
            <a:solidFill>
              <a:srgbClr val="073A6B"/>
            </a:solidFill>
            <a:prstDash val="solid"/>
          </a:ln>
        </p:spPr>
      </p:sp>
      <p:sp>
        <p:nvSpPr>
          <p:cNvPr id="30" name="Text 27"/>
          <p:cNvSpPr txBox="1"/>
          <p:nvPr/>
        </p:nvSpPr>
        <p:spPr>
          <a:xfrm>
            <a:off x="3611880" y="3739896"/>
            <a:ext cx="214884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Sign in / Sign up  (Clerk)</a:t>
            </a:r>
            <a:endParaRPr lang="en-US" sz="1050" dirty="0"/>
          </a:p>
        </p:txBody>
      </p:sp>
      <p:sp>
        <p:nvSpPr>
          <p:cNvPr id="31" name="Shape 28"/>
          <p:cNvSpPr/>
          <p:nvPr/>
        </p:nvSpPr>
        <p:spPr>
          <a:xfrm>
            <a:off x="4686300" y="4160520"/>
            <a:ext cx="0" cy="146304"/>
          </a:xfrm>
          <a:prstGeom prst="line">
            <a:avLst/>
          </a:prstGeom>
          <a:noFill/>
          <a:ln w="22225">
            <a:solidFill>
              <a:srgbClr val="8A96A3"/>
            </a:solidFill>
            <a:prstDash val="solid"/>
            <a:tailEnd type="triangle"/>
          </a:ln>
        </p:spPr>
      </p:sp>
      <p:sp>
        <p:nvSpPr>
          <p:cNvPr id="32" name="Shape 29"/>
          <p:cNvSpPr/>
          <p:nvPr/>
        </p:nvSpPr>
        <p:spPr>
          <a:xfrm>
            <a:off x="3520440" y="4325112"/>
            <a:ext cx="2331720" cy="420624"/>
          </a:xfrm>
          <a:prstGeom prst="roundRect">
            <a:avLst>
              <a:gd name="adj" fmla="val 17391"/>
            </a:avLst>
          </a:prstGeom>
          <a:solidFill>
            <a:srgbClr val="073A6B"/>
          </a:solidFill>
          <a:ln w="12700">
            <a:solidFill>
              <a:srgbClr val="073A6B"/>
            </a:solidFill>
            <a:prstDash val="solid"/>
          </a:ln>
        </p:spPr>
      </p:sp>
      <p:sp>
        <p:nvSpPr>
          <p:cNvPr id="33" name="Text 30"/>
          <p:cNvSpPr txBox="1"/>
          <p:nvPr/>
        </p:nvSpPr>
        <p:spPr>
          <a:xfrm>
            <a:off x="3611880" y="4325112"/>
            <a:ext cx="214884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Verify email code</a:t>
            </a:r>
            <a:endParaRPr lang="en-US" sz="1050" dirty="0"/>
          </a:p>
        </p:txBody>
      </p:sp>
      <p:sp>
        <p:nvSpPr>
          <p:cNvPr id="34" name="Shape 31"/>
          <p:cNvSpPr/>
          <p:nvPr/>
        </p:nvSpPr>
        <p:spPr>
          <a:xfrm>
            <a:off x="5852160" y="4535424"/>
            <a:ext cx="274320" cy="0"/>
          </a:xfrm>
          <a:prstGeom prst="line">
            <a:avLst/>
          </a:prstGeom>
          <a:noFill/>
          <a:ln w="22225">
            <a:solidFill>
              <a:srgbClr val="B8C6D4"/>
            </a:solidFill>
            <a:prstDash val="dash"/>
            <a:tailEnd type="triangle"/>
          </a:ln>
        </p:spPr>
      </p:sp>
      <p:sp>
        <p:nvSpPr>
          <p:cNvPr id="35" name="Shape 32"/>
          <p:cNvSpPr/>
          <p:nvPr/>
        </p:nvSpPr>
        <p:spPr>
          <a:xfrm flipV="1">
            <a:off x="6126480" y="3163824"/>
            <a:ext cx="0" cy="1371600"/>
          </a:xfrm>
          <a:prstGeom prst="line">
            <a:avLst/>
          </a:prstGeom>
          <a:noFill/>
          <a:ln w="22225">
            <a:solidFill>
              <a:srgbClr val="B8C6D4"/>
            </a:solidFill>
            <a:prstDash val="dash"/>
            <a:tailEnd type="triangle"/>
          </a:ln>
        </p:spPr>
      </p:sp>
      <p:sp>
        <p:nvSpPr>
          <p:cNvPr id="36" name="Shape 33"/>
          <p:cNvSpPr/>
          <p:nvPr/>
        </p:nvSpPr>
        <p:spPr>
          <a:xfrm flipH="1">
            <a:off x="5852160" y="3163824"/>
            <a:ext cx="274320" cy="0"/>
          </a:xfrm>
          <a:prstGeom prst="line">
            <a:avLst/>
          </a:prstGeom>
          <a:noFill/>
          <a:ln w="22225">
            <a:solidFill>
              <a:srgbClr val="B8C6D4"/>
            </a:solidFill>
            <a:prstDash val="dash"/>
            <a:tailEnd type="triangle"/>
          </a:ln>
        </p:spPr>
      </p:sp>
      <p:sp>
        <p:nvSpPr>
          <p:cNvPr id="37" name="Shape 34"/>
          <p:cNvSpPr/>
          <p:nvPr/>
        </p:nvSpPr>
        <p:spPr>
          <a:xfrm>
            <a:off x="3520440" y="1965960"/>
            <a:ext cx="2331720" cy="420624"/>
          </a:xfrm>
          <a:prstGeom prst="roundRect">
            <a:avLst>
              <a:gd name="adj" fmla="val 17391"/>
            </a:avLst>
          </a:prstGeom>
          <a:solidFill>
            <a:srgbClr val="1464A8"/>
          </a:solidFill>
          <a:ln w="12700">
            <a:solidFill>
              <a:srgbClr val="1464A8"/>
            </a:solidFill>
            <a:prstDash val="solid"/>
          </a:ln>
        </p:spPr>
      </p:sp>
      <p:sp>
        <p:nvSpPr>
          <p:cNvPr id="38" name="Text 35"/>
          <p:cNvSpPr txBox="1"/>
          <p:nvPr/>
        </p:nvSpPr>
        <p:spPr>
          <a:xfrm>
            <a:off x="3611880" y="1965960"/>
            <a:ext cx="21488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Home  ·  dashboard</a:t>
            </a:r>
            <a:endParaRPr lang="en-US" sz="1100" dirty="0"/>
          </a:p>
        </p:txBody>
      </p:sp>
      <p:sp>
        <p:nvSpPr>
          <p:cNvPr id="39" name="Shape 36"/>
          <p:cNvSpPr/>
          <p:nvPr/>
        </p:nvSpPr>
        <p:spPr>
          <a:xfrm flipV="1">
            <a:off x="4686300" y="2386584"/>
            <a:ext cx="0" cy="365760"/>
          </a:xfrm>
          <a:prstGeom prst="line">
            <a:avLst/>
          </a:prstGeom>
          <a:noFill/>
          <a:ln w="22225">
            <a:solidFill>
              <a:srgbClr val="00A896"/>
            </a:solidFill>
            <a:prstDash val="solid"/>
            <a:tailEnd type="triangle"/>
          </a:ln>
        </p:spPr>
      </p:sp>
      <p:sp>
        <p:nvSpPr>
          <p:cNvPr id="40" name="Text 37"/>
          <p:cNvSpPr txBox="1"/>
          <p:nvPr/>
        </p:nvSpPr>
        <p:spPr>
          <a:xfrm>
            <a:off x="4777740" y="2432304"/>
            <a:ext cx="822960" cy="219456"/>
          </a:xfrm>
          <a:prstGeom prst="rect">
            <a:avLst/>
          </a:prstGeom>
          <a:noFill/>
          <a:ln/>
        </p:spPr>
        <p:txBody>
          <a:bodyPr wrap="square" lIns="0" tIns="0" rIns="0" bIns="0" rtlCol="0" anchor="ctr"/>
          <a:lstStyle/>
          <a:p>
            <a:pPr algn="ctr" indent="0" marL="0">
              <a:buNone/>
            </a:pPr>
            <a:r>
              <a:rPr lang="en-US" sz="900" dirty="0">
                <a:solidFill>
                  <a:srgbClr val="1B7A4B"/>
                </a:solidFill>
                <a:latin typeface="Calibri" pitchFamily="34" charset="0"/>
                <a:ea typeface="Calibri" pitchFamily="34" charset="-122"/>
                <a:cs typeface="Calibri" pitchFamily="34" charset="-120"/>
              </a:rPr>
              <a:t>Yes</a:t>
            </a:r>
            <a:endParaRPr lang="en-US" sz="900" dirty="0"/>
          </a:p>
        </p:txBody>
      </p:sp>
      <p:sp>
        <p:nvSpPr>
          <p:cNvPr id="41" name="Shape 38"/>
          <p:cNvSpPr/>
          <p:nvPr/>
        </p:nvSpPr>
        <p:spPr>
          <a:xfrm>
            <a:off x="5852160" y="2176272"/>
            <a:ext cx="548640" cy="0"/>
          </a:xfrm>
          <a:prstGeom prst="line">
            <a:avLst/>
          </a:prstGeom>
          <a:noFill/>
          <a:ln w="22225">
            <a:solidFill>
              <a:srgbClr val="8A96A3"/>
            </a:solidFill>
            <a:prstDash val="solid"/>
            <a:tailEnd type="triangle"/>
          </a:ln>
        </p:spPr>
      </p:sp>
      <p:sp>
        <p:nvSpPr>
          <p:cNvPr id="42" name="Shape 39"/>
          <p:cNvSpPr/>
          <p:nvPr/>
        </p:nvSpPr>
        <p:spPr>
          <a:xfrm>
            <a:off x="6400800" y="1965960"/>
            <a:ext cx="2331720" cy="420624"/>
          </a:xfrm>
          <a:prstGeom prst="roundRect">
            <a:avLst>
              <a:gd name="adj" fmla="val 17391"/>
            </a:avLst>
          </a:prstGeom>
          <a:solidFill>
            <a:srgbClr val="1464A8"/>
          </a:solidFill>
          <a:ln w="12700">
            <a:solidFill>
              <a:srgbClr val="1464A8"/>
            </a:solidFill>
            <a:prstDash val="solid"/>
          </a:ln>
        </p:spPr>
      </p:sp>
      <p:sp>
        <p:nvSpPr>
          <p:cNvPr id="43" name="Text 40"/>
          <p:cNvSpPr txBox="1"/>
          <p:nvPr/>
        </p:nvSpPr>
        <p:spPr>
          <a:xfrm>
            <a:off x="6492240" y="1965960"/>
            <a:ext cx="21488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New case</a:t>
            </a:r>
            <a:endParaRPr lang="en-US" sz="1100" dirty="0"/>
          </a:p>
        </p:txBody>
      </p:sp>
      <p:sp>
        <p:nvSpPr>
          <p:cNvPr id="44" name="Shape 41"/>
          <p:cNvSpPr/>
          <p:nvPr/>
        </p:nvSpPr>
        <p:spPr>
          <a:xfrm>
            <a:off x="7566660" y="2386584"/>
            <a:ext cx="0" cy="146304"/>
          </a:xfrm>
          <a:prstGeom prst="line">
            <a:avLst/>
          </a:prstGeom>
          <a:noFill/>
          <a:ln w="22225">
            <a:solidFill>
              <a:srgbClr val="8A96A3"/>
            </a:solidFill>
            <a:prstDash val="solid"/>
            <a:tailEnd type="triangle"/>
          </a:ln>
        </p:spPr>
      </p:sp>
      <p:sp>
        <p:nvSpPr>
          <p:cNvPr id="45" name="Shape 42"/>
          <p:cNvSpPr/>
          <p:nvPr/>
        </p:nvSpPr>
        <p:spPr>
          <a:xfrm>
            <a:off x="6400800" y="2551176"/>
            <a:ext cx="2331720" cy="420624"/>
          </a:xfrm>
          <a:prstGeom prst="roundRect">
            <a:avLst>
              <a:gd name="adj" fmla="val 17391"/>
            </a:avLst>
          </a:prstGeom>
          <a:solidFill>
            <a:srgbClr val="1464A8"/>
          </a:solidFill>
          <a:ln w="12700">
            <a:solidFill>
              <a:srgbClr val="1464A8"/>
            </a:solidFill>
            <a:prstDash val="solid"/>
          </a:ln>
        </p:spPr>
      </p:sp>
      <p:sp>
        <p:nvSpPr>
          <p:cNvPr id="46" name="Text 43"/>
          <p:cNvSpPr txBox="1"/>
          <p:nvPr/>
        </p:nvSpPr>
        <p:spPr>
          <a:xfrm>
            <a:off x="6492240" y="2551176"/>
            <a:ext cx="21488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Workflow select</a:t>
            </a:r>
            <a:endParaRPr lang="en-US" sz="1100" dirty="0"/>
          </a:p>
        </p:txBody>
      </p:sp>
      <p:sp>
        <p:nvSpPr>
          <p:cNvPr id="47" name="Shape 44"/>
          <p:cNvSpPr/>
          <p:nvPr/>
        </p:nvSpPr>
        <p:spPr>
          <a:xfrm>
            <a:off x="7566660" y="2971800"/>
            <a:ext cx="0" cy="146304"/>
          </a:xfrm>
          <a:prstGeom prst="line">
            <a:avLst/>
          </a:prstGeom>
          <a:noFill/>
          <a:ln w="22225">
            <a:solidFill>
              <a:srgbClr val="8A96A3"/>
            </a:solidFill>
            <a:prstDash val="solid"/>
            <a:tailEnd type="triangle"/>
          </a:ln>
        </p:spPr>
      </p:sp>
      <p:sp>
        <p:nvSpPr>
          <p:cNvPr id="48" name="Shape 45"/>
          <p:cNvSpPr/>
          <p:nvPr/>
        </p:nvSpPr>
        <p:spPr>
          <a:xfrm>
            <a:off x="6400800" y="3136392"/>
            <a:ext cx="2331720" cy="420624"/>
          </a:xfrm>
          <a:prstGeom prst="roundRect">
            <a:avLst>
              <a:gd name="adj" fmla="val 17391"/>
            </a:avLst>
          </a:prstGeom>
          <a:solidFill>
            <a:srgbClr val="1464A8"/>
          </a:solidFill>
          <a:ln w="12700">
            <a:solidFill>
              <a:srgbClr val="1464A8"/>
            </a:solidFill>
            <a:prstDash val="solid"/>
          </a:ln>
        </p:spPr>
      </p:sp>
      <p:sp>
        <p:nvSpPr>
          <p:cNvPr id="49" name="Text 46"/>
          <p:cNvSpPr txBox="1"/>
          <p:nvPr/>
        </p:nvSpPr>
        <p:spPr>
          <a:xfrm>
            <a:off x="6492240" y="3136392"/>
            <a:ext cx="21488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Input form</a:t>
            </a:r>
            <a:endParaRPr lang="en-US" sz="1100" dirty="0"/>
          </a:p>
        </p:txBody>
      </p:sp>
      <p:sp>
        <p:nvSpPr>
          <p:cNvPr id="50" name="Shape 47"/>
          <p:cNvSpPr/>
          <p:nvPr/>
        </p:nvSpPr>
        <p:spPr>
          <a:xfrm>
            <a:off x="7566660" y="3557016"/>
            <a:ext cx="0" cy="146304"/>
          </a:xfrm>
          <a:prstGeom prst="line">
            <a:avLst/>
          </a:prstGeom>
          <a:noFill/>
          <a:ln w="22225">
            <a:solidFill>
              <a:srgbClr val="8A96A3"/>
            </a:solidFill>
            <a:prstDash val="solid"/>
            <a:tailEnd type="triangle"/>
          </a:ln>
        </p:spPr>
      </p:sp>
      <p:sp>
        <p:nvSpPr>
          <p:cNvPr id="51" name="Shape 48"/>
          <p:cNvSpPr/>
          <p:nvPr/>
        </p:nvSpPr>
        <p:spPr>
          <a:xfrm>
            <a:off x="6400800" y="3721608"/>
            <a:ext cx="2331720" cy="822960"/>
          </a:xfrm>
          <a:prstGeom prst="diamond">
            <a:avLst/>
          </a:prstGeom>
          <a:solidFill>
            <a:srgbClr val="FFF3DC"/>
          </a:solidFill>
          <a:ln w="12700">
            <a:solidFill>
              <a:srgbClr val="E3C88A"/>
            </a:solidFill>
            <a:prstDash val="solid"/>
          </a:ln>
        </p:spPr>
      </p:sp>
      <p:sp>
        <p:nvSpPr>
          <p:cNvPr id="52" name="Text 49"/>
          <p:cNvSpPr txBox="1"/>
          <p:nvPr/>
        </p:nvSpPr>
        <p:spPr>
          <a:xfrm>
            <a:off x="6703924" y="3721608"/>
            <a:ext cx="1725473" cy="822960"/>
          </a:xfrm>
          <a:prstGeom prst="rect">
            <a:avLst/>
          </a:prstGeom>
          <a:noFill/>
          <a:ln/>
        </p:spPr>
        <p:txBody>
          <a:bodyPr wrap="square" lIns="0" tIns="0" rIns="0" bIns="0" rtlCol="0" anchor="ctr"/>
          <a:lstStyle/>
          <a:p>
            <a:pPr algn="ctr" indent="0" marL="0">
              <a:buNone/>
            </a:pPr>
            <a:r>
              <a:rPr lang="en-US" sz="950" b="1" dirty="0">
                <a:solidFill>
                  <a:srgbClr val="7A5510"/>
                </a:solidFill>
                <a:latin typeface="Calibri" pitchFamily="34" charset="0"/>
                <a:ea typeface="Calibri" pitchFamily="34" charset="-122"/>
                <a:cs typeface="Calibri" pitchFamily="34" charset="-120"/>
              </a:rPr>
              <a:t>Inputs valid?</a:t>
            </a:r>
            <a:endParaRPr lang="en-US" sz="950" dirty="0"/>
          </a:p>
        </p:txBody>
      </p:sp>
      <p:sp>
        <p:nvSpPr>
          <p:cNvPr id="53" name="Shape 50"/>
          <p:cNvSpPr/>
          <p:nvPr/>
        </p:nvSpPr>
        <p:spPr>
          <a:xfrm>
            <a:off x="6400800" y="4709160"/>
            <a:ext cx="2331720" cy="420624"/>
          </a:xfrm>
          <a:prstGeom prst="roundRect">
            <a:avLst>
              <a:gd name="adj" fmla="val 17391"/>
            </a:avLst>
          </a:prstGeom>
          <a:solidFill>
            <a:srgbClr val="B26B00"/>
          </a:solidFill>
          <a:ln w="12700">
            <a:solidFill>
              <a:srgbClr val="B26B00"/>
            </a:solidFill>
            <a:prstDash val="solid"/>
          </a:ln>
        </p:spPr>
      </p:sp>
      <p:sp>
        <p:nvSpPr>
          <p:cNvPr id="54" name="Text 51"/>
          <p:cNvSpPr txBox="1"/>
          <p:nvPr/>
        </p:nvSpPr>
        <p:spPr>
          <a:xfrm>
            <a:off x="6492240" y="4709160"/>
            <a:ext cx="214884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Field errors shown</a:t>
            </a:r>
            <a:endParaRPr lang="en-US" sz="1050" dirty="0"/>
          </a:p>
        </p:txBody>
      </p:sp>
      <p:sp>
        <p:nvSpPr>
          <p:cNvPr id="55" name="Shape 52"/>
          <p:cNvSpPr/>
          <p:nvPr/>
        </p:nvSpPr>
        <p:spPr>
          <a:xfrm>
            <a:off x="7566660" y="4544568"/>
            <a:ext cx="0" cy="164592"/>
          </a:xfrm>
          <a:prstGeom prst="line">
            <a:avLst/>
          </a:prstGeom>
          <a:noFill/>
          <a:ln w="22225">
            <a:solidFill>
              <a:srgbClr val="8A96A3"/>
            </a:solidFill>
            <a:prstDash val="solid"/>
            <a:tailEnd type="triangle"/>
          </a:ln>
        </p:spPr>
      </p:sp>
      <p:sp>
        <p:nvSpPr>
          <p:cNvPr id="56" name="Text 53"/>
          <p:cNvSpPr txBox="1"/>
          <p:nvPr/>
        </p:nvSpPr>
        <p:spPr>
          <a:xfrm>
            <a:off x="7639812" y="4517136"/>
            <a:ext cx="457200" cy="219456"/>
          </a:xfrm>
          <a:prstGeom prst="rect">
            <a:avLst/>
          </a:prstGeom>
          <a:noFill/>
          <a:ln/>
        </p:spPr>
        <p:txBody>
          <a:bodyPr wrap="square" lIns="0" tIns="0" rIns="0" bIns="0" rtlCol="0" anchor="ctr"/>
          <a:lstStyle/>
          <a:p>
            <a:pPr algn="ctr" indent="0" marL="0">
              <a:buNone/>
            </a:pPr>
            <a:r>
              <a:rPr lang="en-US" sz="900" dirty="0">
                <a:solidFill>
                  <a:srgbClr val="B26B00"/>
                </a:solidFill>
                <a:latin typeface="Calibri" pitchFamily="34" charset="0"/>
                <a:ea typeface="Calibri" pitchFamily="34" charset="-122"/>
                <a:cs typeface="Calibri" pitchFamily="34" charset="-120"/>
              </a:rPr>
              <a:t>No</a:t>
            </a:r>
            <a:endParaRPr lang="en-US" sz="900" dirty="0"/>
          </a:p>
        </p:txBody>
      </p:sp>
      <p:sp>
        <p:nvSpPr>
          <p:cNvPr id="57" name="Shape 54"/>
          <p:cNvSpPr/>
          <p:nvPr/>
        </p:nvSpPr>
        <p:spPr>
          <a:xfrm flipH="1">
            <a:off x="6126480" y="4919472"/>
            <a:ext cx="274320" cy="0"/>
          </a:xfrm>
          <a:prstGeom prst="line">
            <a:avLst/>
          </a:prstGeom>
          <a:noFill/>
          <a:ln w="22225">
            <a:solidFill>
              <a:srgbClr val="B8C6D4"/>
            </a:solidFill>
            <a:prstDash val="dash"/>
            <a:tailEnd type="triangle"/>
          </a:ln>
        </p:spPr>
      </p:sp>
      <p:sp>
        <p:nvSpPr>
          <p:cNvPr id="58" name="Shape 55"/>
          <p:cNvSpPr/>
          <p:nvPr/>
        </p:nvSpPr>
        <p:spPr>
          <a:xfrm flipV="1">
            <a:off x="6126480" y="3346704"/>
            <a:ext cx="0" cy="1572768"/>
          </a:xfrm>
          <a:prstGeom prst="line">
            <a:avLst/>
          </a:prstGeom>
          <a:noFill/>
          <a:ln w="22225">
            <a:solidFill>
              <a:srgbClr val="B8C6D4"/>
            </a:solidFill>
            <a:prstDash val="dash"/>
            <a:tailEnd type="triangle"/>
          </a:ln>
        </p:spPr>
      </p:sp>
      <p:sp>
        <p:nvSpPr>
          <p:cNvPr id="59" name="Shape 56"/>
          <p:cNvSpPr/>
          <p:nvPr/>
        </p:nvSpPr>
        <p:spPr>
          <a:xfrm>
            <a:off x="6126480" y="3346704"/>
            <a:ext cx="274320" cy="0"/>
          </a:xfrm>
          <a:prstGeom prst="line">
            <a:avLst/>
          </a:prstGeom>
          <a:noFill/>
          <a:ln w="22225">
            <a:solidFill>
              <a:srgbClr val="B8C6D4"/>
            </a:solidFill>
            <a:prstDash val="dash"/>
            <a:tailEnd type="triangle"/>
          </a:ln>
        </p:spPr>
      </p:sp>
      <p:sp>
        <p:nvSpPr>
          <p:cNvPr id="60" name="Shape 57"/>
          <p:cNvSpPr/>
          <p:nvPr/>
        </p:nvSpPr>
        <p:spPr>
          <a:xfrm>
            <a:off x="8732520" y="4133088"/>
            <a:ext cx="548640" cy="0"/>
          </a:xfrm>
          <a:prstGeom prst="line">
            <a:avLst/>
          </a:prstGeom>
          <a:noFill/>
          <a:ln w="22225">
            <a:solidFill>
              <a:srgbClr val="00A896"/>
            </a:solidFill>
            <a:prstDash val="solid"/>
            <a:tailEnd type="triangle"/>
          </a:ln>
        </p:spPr>
      </p:sp>
      <p:sp>
        <p:nvSpPr>
          <p:cNvPr id="61" name="Text 58"/>
          <p:cNvSpPr txBox="1"/>
          <p:nvPr/>
        </p:nvSpPr>
        <p:spPr>
          <a:xfrm>
            <a:off x="8595360" y="3877056"/>
            <a:ext cx="822960" cy="219456"/>
          </a:xfrm>
          <a:prstGeom prst="rect">
            <a:avLst/>
          </a:prstGeom>
          <a:noFill/>
          <a:ln/>
        </p:spPr>
        <p:txBody>
          <a:bodyPr wrap="square" lIns="0" tIns="0" rIns="0" bIns="0" rtlCol="0" anchor="ctr"/>
          <a:lstStyle/>
          <a:p>
            <a:pPr algn="ctr" indent="0" marL="0">
              <a:buNone/>
            </a:pPr>
            <a:r>
              <a:rPr lang="en-US" sz="900" dirty="0">
                <a:solidFill>
                  <a:srgbClr val="1B7A4B"/>
                </a:solidFill>
                <a:latin typeface="Calibri" pitchFamily="34" charset="0"/>
                <a:ea typeface="Calibri" pitchFamily="34" charset="-122"/>
                <a:cs typeface="Calibri" pitchFamily="34" charset="-120"/>
              </a:rPr>
              <a:t>Yes</a:t>
            </a:r>
            <a:endParaRPr lang="en-US" sz="900" dirty="0"/>
          </a:p>
        </p:txBody>
      </p:sp>
      <p:sp>
        <p:nvSpPr>
          <p:cNvPr id="62" name="Shape 59"/>
          <p:cNvSpPr/>
          <p:nvPr/>
        </p:nvSpPr>
        <p:spPr>
          <a:xfrm>
            <a:off x="9281160" y="3922776"/>
            <a:ext cx="2331720" cy="420624"/>
          </a:xfrm>
          <a:prstGeom prst="roundRect">
            <a:avLst>
              <a:gd name="adj" fmla="val 17391"/>
            </a:avLst>
          </a:prstGeom>
          <a:solidFill>
            <a:srgbClr val="17527F"/>
          </a:solidFill>
          <a:ln w="12700">
            <a:solidFill>
              <a:srgbClr val="17527F"/>
            </a:solidFill>
            <a:prstDash val="solid"/>
          </a:ln>
        </p:spPr>
      </p:sp>
      <p:sp>
        <p:nvSpPr>
          <p:cNvPr id="63" name="Text 60"/>
          <p:cNvSpPr txBox="1"/>
          <p:nvPr/>
        </p:nvSpPr>
        <p:spPr>
          <a:xfrm>
            <a:off x="9372600" y="3922776"/>
            <a:ext cx="214884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Review  →  Calculating</a:t>
            </a:r>
            <a:endParaRPr lang="en-US" sz="1050" dirty="0"/>
          </a:p>
        </p:txBody>
      </p:sp>
      <p:sp>
        <p:nvSpPr>
          <p:cNvPr id="64" name="Shape 61"/>
          <p:cNvSpPr/>
          <p:nvPr/>
        </p:nvSpPr>
        <p:spPr>
          <a:xfrm flipV="1">
            <a:off x="10447020" y="3703320"/>
            <a:ext cx="0" cy="219456"/>
          </a:xfrm>
          <a:prstGeom prst="line">
            <a:avLst/>
          </a:prstGeom>
          <a:noFill/>
          <a:ln w="22225">
            <a:solidFill>
              <a:srgbClr val="9FB4C8"/>
            </a:solidFill>
            <a:prstDash val="solid"/>
            <a:tailEnd type="triangle"/>
          </a:ln>
        </p:spPr>
      </p:sp>
      <p:sp>
        <p:nvSpPr>
          <p:cNvPr id="65" name="Shape 62"/>
          <p:cNvSpPr/>
          <p:nvPr/>
        </p:nvSpPr>
        <p:spPr>
          <a:xfrm>
            <a:off x="9281160" y="2880360"/>
            <a:ext cx="2331720" cy="822960"/>
          </a:xfrm>
          <a:prstGeom prst="diamond">
            <a:avLst/>
          </a:prstGeom>
          <a:solidFill>
            <a:srgbClr val="FFF3DC"/>
          </a:solidFill>
          <a:ln w="12700">
            <a:solidFill>
              <a:srgbClr val="E3C88A"/>
            </a:solidFill>
            <a:prstDash val="solid"/>
          </a:ln>
        </p:spPr>
      </p:sp>
      <p:sp>
        <p:nvSpPr>
          <p:cNvPr id="66" name="Text 63"/>
          <p:cNvSpPr txBox="1"/>
          <p:nvPr/>
        </p:nvSpPr>
        <p:spPr>
          <a:xfrm>
            <a:off x="9584284" y="2880360"/>
            <a:ext cx="1725473" cy="822960"/>
          </a:xfrm>
          <a:prstGeom prst="rect">
            <a:avLst/>
          </a:prstGeom>
          <a:noFill/>
          <a:ln/>
        </p:spPr>
        <p:txBody>
          <a:bodyPr wrap="square" lIns="0" tIns="0" rIns="0" bIns="0" rtlCol="0" anchor="ctr"/>
          <a:lstStyle/>
          <a:p>
            <a:pPr algn="ctr" indent="0" marL="0">
              <a:buNone/>
            </a:pPr>
            <a:r>
              <a:rPr lang="en-US" sz="950" b="1" dirty="0">
                <a:solidFill>
                  <a:srgbClr val="7A5510"/>
                </a:solidFill>
                <a:latin typeface="Calibri" pitchFamily="34" charset="0"/>
                <a:ea typeface="Calibri" pitchFamily="34" charset="-122"/>
                <a:cs typeface="Calibri" pitchFamily="34" charset="-120"/>
              </a:rPr>
              <a:t>Engine succeeded?</a:t>
            </a:r>
            <a:endParaRPr lang="en-US" sz="950" dirty="0"/>
          </a:p>
        </p:txBody>
      </p:sp>
      <p:sp>
        <p:nvSpPr>
          <p:cNvPr id="67" name="Shape 64"/>
          <p:cNvSpPr/>
          <p:nvPr/>
        </p:nvSpPr>
        <p:spPr>
          <a:xfrm>
            <a:off x="9281160" y="4709160"/>
            <a:ext cx="2331720" cy="420624"/>
          </a:xfrm>
          <a:prstGeom prst="roundRect">
            <a:avLst>
              <a:gd name="adj" fmla="val 17391"/>
            </a:avLst>
          </a:prstGeom>
          <a:solidFill>
            <a:srgbClr val="B3261E"/>
          </a:solidFill>
          <a:ln w="12700">
            <a:solidFill>
              <a:srgbClr val="B3261E"/>
            </a:solidFill>
            <a:prstDash val="solid"/>
          </a:ln>
        </p:spPr>
      </p:sp>
      <p:sp>
        <p:nvSpPr>
          <p:cNvPr id="68" name="Text 65"/>
          <p:cNvSpPr txBox="1"/>
          <p:nvPr/>
        </p:nvSpPr>
        <p:spPr>
          <a:xfrm>
            <a:off x="9372600" y="4709160"/>
            <a:ext cx="214884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Error screen  ·  message</a:t>
            </a:r>
            <a:endParaRPr lang="en-US" sz="1050" dirty="0"/>
          </a:p>
        </p:txBody>
      </p:sp>
      <p:sp>
        <p:nvSpPr>
          <p:cNvPr id="69" name="Shape 66"/>
          <p:cNvSpPr/>
          <p:nvPr/>
        </p:nvSpPr>
        <p:spPr>
          <a:xfrm flipH="1">
            <a:off x="9025128" y="3291840"/>
            <a:ext cx="256032" cy="0"/>
          </a:xfrm>
          <a:prstGeom prst="line">
            <a:avLst/>
          </a:prstGeom>
          <a:noFill/>
          <a:ln w="22225">
            <a:solidFill>
              <a:srgbClr val="E0A9A5"/>
            </a:solidFill>
            <a:prstDash val="dash"/>
            <a:tailEnd type="triangle"/>
          </a:ln>
        </p:spPr>
      </p:sp>
      <p:sp>
        <p:nvSpPr>
          <p:cNvPr id="70" name="Shape 67"/>
          <p:cNvSpPr/>
          <p:nvPr/>
        </p:nvSpPr>
        <p:spPr>
          <a:xfrm>
            <a:off x="9025128" y="3291840"/>
            <a:ext cx="0" cy="1627632"/>
          </a:xfrm>
          <a:prstGeom prst="line">
            <a:avLst/>
          </a:prstGeom>
          <a:noFill/>
          <a:ln w="22225">
            <a:solidFill>
              <a:srgbClr val="E0A9A5"/>
            </a:solidFill>
            <a:prstDash val="dash"/>
            <a:tailEnd type="triangle"/>
          </a:ln>
        </p:spPr>
      </p:sp>
      <p:sp>
        <p:nvSpPr>
          <p:cNvPr id="71" name="Shape 68"/>
          <p:cNvSpPr/>
          <p:nvPr/>
        </p:nvSpPr>
        <p:spPr>
          <a:xfrm>
            <a:off x="9025128" y="4919472"/>
            <a:ext cx="256032" cy="0"/>
          </a:xfrm>
          <a:prstGeom prst="line">
            <a:avLst/>
          </a:prstGeom>
          <a:noFill/>
          <a:ln w="22225">
            <a:solidFill>
              <a:srgbClr val="E0A9A5"/>
            </a:solidFill>
            <a:prstDash val="dash"/>
            <a:tailEnd type="triangle"/>
          </a:ln>
        </p:spPr>
      </p:sp>
      <p:sp>
        <p:nvSpPr>
          <p:cNvPr id="72" name="Shape 69"/>
          <p:cNvSpPr/>
          <p:nvPr/>
        </p:nvSpPr>
        <p:spPr>
          <a:xfrm flipV="1">
            <a:off x="10447020" y="2606040"/>
            <a:ext cx="0" cy="274320"/>
          </a:xfrm>
          <a:prstGeom prst="line">
            <a:avLst/>
          </a:prstGeom>
          <a:noFill/>
          <a:ln w="22225">
            <a:solidFill>
              <a:srgbClr val="00A896"/>
            </a:solidFill>
            <a:prstDash val="solid"/>
            <a:tailEnd type="triangle"/>
          </a:ln>
        </p:spPr>
      </p:sp>
      <p:sp>
        <p:nvSpPr>
          <p:cNvPr id="73" name="Text 70"/>
          <p:cNvSpPr txBox="1"/>
          <p:nvPr/>
        </p:nvSpPr>
        <p:spPr>
          <a:xfrm>
            <a:off x="10538460" y="2615184"/>
            <a:ext cx="822960" cy="219456"/>
          </a:xfrm>
          <a:prstGeom prst="rect">
            <a:avLst/>
          </a:prstGeom>
          <a:noFill/>
          <a:ln/>
        </p:spPr>
        <p:txBody>
          <a:bodyPr wrap="square" lIns="0" tIns="0" rIns="0" bIns="0" rtlCol="0" anchor="ctr"/>
          <a:lstStyle/>
          <a:p>
            <a:pPr algn="ctr" indent="0" marL="0">
              <a:buNone/>
            </a:pPr>
            <a:r>
              <a:rPr lang="en-US" sz="900" dirty="0">
                <a:solidFill>
                  <a:srgbClr val="1B7A4B"/>
                </a:solidFill>
                <a:latin typeface="Calibri" pitchFamily="34" charset="0"/>
                <a:ea typeface="Calibri" pitchFamily="34" charset="-122"/>
                <a:cs typeface="Calibri" pitchFamily="34" charset="-120"/>
              </a:rPr>
              <a:t>Yes</a:t>
            </a:r>
            <a:endParaRPr lang="en-US" sz="900" dirty="0"/>
          </a:p>
        </p:txBody>
      </p:sp>
      <p:sp>
        <p:nvSpPr>
          <p:cNvPr id="74" name="Shape 71"/>
          <p:cNvSpPr/>
          <p:nvPr/>
        </p:nvSpPr>
        <p:spPr>
          <a:xfrm>
            <a:off x="9281160" y="2148840"/>
            <a:ext cx="2331720" cy="420624"/>
          </a:xfrm>
          <a:prstGeom prst="roundRect">
            <a:avLst>
              <a:gd name="adj" fmla="val 17391"/>
            </a:avLst>
          </a:prstGeom>
          <a:solidFill>
            <a:srgbClr val="00A896"/>
          </a:solidFill>
          <a:ln w="12700">
            <a:solidFill>
              <a:srgbClr val="00A896"/>
            </a:solidFill>
            <a:prstDash val="solid"/>
          </a:ln>
        </p:spPr>
      </p:sp>
      <p:sp>
        <p:nvSpPr>
          <p:cNvPr id="75" name="Text 72"/>
          <p:cNvSpPr txBox="1"/>
          <p:nvPr/>
        </p:nvSpPr>
        <p:spPr>
          <a:xfrm>
            <a:off x="9372600" y="2148840"/>
            <a:ext cx="21488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Results  ·  AUC₂₄ ring</a:t>
            </a:r>
            <a:endParaRPr lang="en-US" sz="1100" dirty="0"/>
          </a:p>
        </p:txBody>
      </p:sp>
      <p:sp>
        <p:nvSpPr>
          <p:cNvPr id="76" name="Shape 73"/>
          <p:cNvSpPr/>
          <p:nvPr/>
        </p:nvSpPr>
        <p:spPr>
          <a:xfrm flipV="1">
            <a:off x="10447020" y="1929384"/>
            <a:ext cx="0" cy="219456"/>
          </a:xfrm>
          <a:prstGeom prst="line">
            <a:avLst/>
          </a:prstGeom>
          <a:noFill/>
          <a:ln w="22225">
            <a:solidFill>
              <a:srgbClr val="9FB4C8"/>
            </a:solidFill>
            <a:prstDash val="solid"/>
            <a:tailEnd type="triangle"/>
          </a:ln>
        </p:spPr>
      </p:sp>
      <p:sp>
        <p:nvSpPr>
          <p:cNvPr id="77" name="Shape 74"/>
          <p:cNvSpPr/>
          <p:nvPr/>
        </p:nvSpPr>
        <p:spPr>
          <a:xfrm>
            <a:off x="9281160" y="1508760"/>
            <a:ext cx="2331720" cy="420624"/>
          </a:xfrm>
          <a:prstGeom prst="roundRect">
            <a:avLst>
              <a:gd name="adj" fmla="val 17391"/>
            </a:avLst>
          </a:prstGeom>
          <a:solidFill>
            <a:srgbClr val="0F6B6B"/>
          </a:solidFill>
          <a:ln w="12700">
            <a:solidFill>
              <a:srgbClr val="0F6B6B"/>
            </a:solidFill>
            <a:prstDash val="solid"/>
          </a:ln>
        </p:spPr>
      </p:sp>
      <p:sp>
        <p:nvSpPr>
          <p:cNvPr id="78" name="Text 75"/>
          <p:cNvSpPr txBox="1"/>
          <p:nvPr/>
        </p:nvSpPr>
        <p:spPr>
          <a:xfrm>
            <a:off x="9372600" y="1508760"/>
            <a:ext cx="21488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Explanation  ·  History</a:t>
            </a:r>
            <a:endParaRPr lang="en-US" sz="1100" dirty="0"/>
          </a:p>
        </p:txBody>
      </p:sp>
      <p:sp>
        <p:nvSpPr>
          <p:cNvPr id="79" name="Shape 76"/>
          <p:cNvSpPr/>
          <p:nvPr/>
        </p:nvSpPr>
        <p:spPr>
          <a:xfrm>
            <a:off x="640080" y="5532120"/>
            <a:ext cx="10911535" cy="566928"/>
          </a:xfrm>
          <a:prstGeom prst="roundRect">
            <a:avLst>
              <a:gd name="adj" fmla="val 14516"/>
            </a:avLst>
          </a:prstGeom>
          <a:solidFill>
            <a:srgbClr val="F4F6F8"/>
          </a:solidFill>
          <a:ln w="12700">
            <a:solidFill>
              <a:srgbClr val="D8E1EA"/>
            </a:solidFill>
            <a:prstDash val="solid"/>
          </a:ln>
        </p:spPr>
      </p:sp>
      <p:sp>
        <p:nvSpPr>
          <p:cNvPr id="80" name="Text 77"/>
          <p:cNvSpPr txBox="1"/>
          <p:nvPr/>
        </p:nvSpPr>
        <p:spPr>
          <a:xfrm>
            <a:off x="960120" y="5532120"/>
            <a:ext cx="960120" cy="566928"/>
          </a:xfrm>
          <a:prstGeom prst="rect">
            <a:avLst/>
          </a:prstGeom>
          <a:noFill/>
          <a:ln/>
        </p:spPr>
        <p:txBody>
          <a:bodyPr wrap="square" lIns="0" tIns="0" rIns="0" bIns="0" rtlCol="0" anchor="ctr"/>
          <a:lstStyle/>
          <a:p>
            <a:pPr indent="0" marL="0">
              <a:buNone/>
            </a:pPr>
            <a:r>
              <a:rPr lang="en-US" sz="900" b="1" spc="100" kern="0" dirty="0">
                <a:solidFill>
                  <a:srgbClr val="1464A8"/>
                </a:solidFill>
                <a:latin typeface="Calibri" pitchFamily="34" charset="0"/>
                <a:ea typeface="Calibri" pitchFamily="34" charset="-122"/>
                <a:cs typeface="Calibri" pitchFamily="34" charset="-120"/>
              </a:rPr>
              <a:t>SOLID</a:t>
            </a:r>
            <a:endParaRPr lang="en-US" sz="900" dirty="0"/>
          </a:p>
        </p:txBody>
      </p:sp>
      <p:sp>
        <p:nvSpPr>
          <p:cNvPr id="81" name="Text 78"/>
          <p:cNvSpPr txBox="1"/>
          <p:nvPr/>
        </p:nvSpPr>
        <p:spPr>
          <a:xfrm>
            <a:off x="1920240" y="5532120"/>
            <a:ext cx="1737360" cy="566928"/>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normal path</a:t>
            </a:r>
            <a:endParaRPr lang="en-US" sz="1050" dirty="0"/>
          </a:p>
        </p:txBody>
      </p:sp>
      <p:sp>
        <p:nvSpPr>
          <p:cNvPr id="82" name="Text 79"/>
          <p:cNvSpPr txBox="1"/>
          <p:nvPr/>
        </p:nvSpPr>
        <p:spPr>
          <a:xfrm>
            <a:off x="3794760" y="5532120"/>
            <a:ext cx="960120" cy="566928"/>
          </a:xfrm>
          <a:prstGeom prst="rect">
            <a:avLst/>
          </a:prstGeom>
          <a:noFill/>
          <a:ln/>
        </p:spPr>
        <p:txBody>
          <a:bodyPr wrap="square" lIns="0" tIns="0" rIns="0" bIns="0" rtlCol="0" anchor="ctr"/>
          <a:lstStyle/>
          <a:p>
            <a:pPr indent="0" marL="0">
              <a:buNone/>
            </a:pPr>
            <a:r>
              <a:rPr lang="en-US" sz="900" b="1" spc="100" kern="0" dirty="0">
                <a:solidFill>
                  <a:srgbClr val="1464A8"/>
                </a:solidFill>
                <a:latin typeface="Calibri" pitchFamily="34" charset="0"/>
                <a:ea typeface="Calibri" pitchFamily="34" charset="-122"/>
                <a:cs typeface="Calibri" pitchFamily="34" charset="-120"/>
              </a:rPr>
              <a:t>DASHED</a:t>
            </a:r>
            <a:endParaRPr lang="en-US" sz="900" dirty="0"/>
          </a:p>
        </p:txBody>
      </p:sp>
      <p:sp>
        <p:nvSpPr>
          <p:cNvPr id="83" name="Text 80"/>
          <p:cNvSpPr txBox="1"/>
          <p:nvPr/>
        </p:nvSpPr>
        <p:spPr>
          <a:xfrm>
            <a:off x="4754880" y="5532120"/>
            <a:ext cx="1737360" cy="566928"/>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loop back on failure</a:t>
            </a:r>
            <a:endParaRPr lang="en-US" sz="1050" dirty="0"/>
          </a:p>
        </p:txBody>
      </p:sp>
      <p:sp>
        <p:nvSpPr>
          <p:cNvPr id="84" name="Text 81"/>
          <p:cNvSpPr txBox="1"/>
          <p:nvPr/>
        </p:nvSpPr>
        <p:spPr>
          <a:xfrm>
            <a:off x="6629400" y="5532120"/>
            <a:ext cx="960120" cy="566928"/>
          </a:xfrm>
          <a:prstGeom prst="rect">
            <a:avLst/>
          </a:prstGeom>
          <a:noFill/>
          <a:ln/>
        </p:spPr>
        <p:txBody>
          <a:bodyPr wrap="square" lIns="0" tIns="0" rIns="0" bIns="0" rtlCol="0" anchor="ctr"/>
          <a:lstStyle/>
          <a:p>
            <a:pPr indent="0" marL="0">
              <a:buNone/>
            </a:pPr>
            <a:r>
              <a:rPr lang="en-US" sz="900" b="1" spc="100" kern="0" dirty="0">
                <a:solidFill>
                  <a:srgbClr val="1464A8"/>
                </a:solidFill>
                <a:latin typeface="Calibri" pitchFamily="34" charset="0"/>
                <a:ea typeface="Calibri" pitchFamily="34" charset="-122"/>
                <a:cs typeface="Calibri" pitchFamily="34" charset="-120"/>
              </a:rPr>
              <a:t>DIAMOND</a:t>
            </a:r>
            <a:endParaRPr lang="en-US" sz="900" dirty="0"/>
          </a:p>
        </p:txBody>
      </p:sp>
      <p:sp>
        <p:nvSpPr>
          <p:cNvPr id="85" name="Text 82"/>
          <p:cNvSpPr txBox="1"/>
          <p:nvPr/>
        </p:nvSpPr>
        <p:spPr>
          <a:xfrm>
            <a:off x="7589520" y="5532120"/>
            <a:ext cx="1737360" cy="566928"/>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decision point</a:t>
            </a:r>
            <a:endParaRPr lang="en-US" sz="1050" dirty="0"/>
          </a:p>
        </p:txBody>
      </p:sp>
      <p:sp>
        <p:nvSpPr>
          <p:cNvPr id="86" name="Text 83"/>
          <p:cNvSpPr txBox="1"/>
          <p:nvPr/>
        </p:nvSpPr>
        <p:spPr>
          <a:xfrm>
            <a:off x="9464040" y="5532120"/>
            <a:ext cx="960120" cy="566928"/>
          </a:xfrm>
          <a:prstGeom prst="rect">
            <a:avLst/>
          </a:prstGeom>
          <a:noFill/>
          <a:ln/>
        </p:spPr>
        <p:txBody>
          <a:bodyPr wrap="square" lIns="0" tIns="0" rIns="0" bIns="0" rtlCol="0" anchor="ctr"/>
          <a:lstStyle/>
          <a:p>
            <a:pPr indent="0" marL="0">
              <a:buNone/>
            </a:pPr>
            <a:r>
              <a:rPr lang="en-US" sz="900" b="1" spc="100" kern="0" dirty="0">
                <a:solidFill>
                  <a:srgbClr val="1464A8"/>
                </a:solidFill>
                <a:latin typeface="Calibri" pitchFamily="34" charset="0"/>
                <a:ea typeface="Calibri" pitchFamily="34" charset="-122"/>
                <a:cs typeface="Calibri" pitchFamily="34" charset="-120"/>
              </a:rPr>
              <a:t>CLERK</a:t>
            </a:r>
            <a:endParaRPr lang="en-US" sz="900" dirty="0"/>
          </a:p>
        </p:txBody>
      </p:sp>
      <p:sp>
        <p:nvSpPr>
          <p:cNvPr id="87" name="Text 84"/>
          <p:cNvSpPr txBox="1"/>
          <p:nvPr/>
        </p:nvSpPr>
        <p:spPr>
          <a:xfrm>
            <a:off x="10424160" y="5532120"/>
            <a:ext cx="1737360" cy="566928"/>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authentication gate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05 · ARCHITECTURE PATTERN</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Layer 2 — MVVM with ViewModel and StateFlow</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Three ViewModels own all screen state. They outlive configuration changes and never import anything from Compose.</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15</a:t>
            </a:r>
            <a:endParaRPr lang="en-US" sz="900" dirty="0"/>
          </a:p>
        </p:txBody>
      </p:sp>
      <p:sp>
        <p:nvSpPr>
          <p:cNvPr id="8" name="Shape 5"/>
          <p:cNvSpPr/>
          <p:nvPr/>
        </p:nvSpPr>
        <p:spPr>
          <a:xfrm>
            <a:off x="640080" y="1691640"/>
            <a:ext cx="3484778" cy="1783080"/>
          </a:xfrm>
          <a:prstGeom prst="roundRect">
            <a:avLst>
              <a:gd name="adj" fmla="val 4615"/>
            </a:avLst>
          </a:prstGeom>
          <a:solidFill>
            <a:srgbClr val="1464A8"/>
          </a:solidFill>
          <a:ln w="12700">
            <a:solidFill>
              <a:srgbClr val="1464A8"/>
            </a:solidFill>
            <a:prstDash val="solid"/>
          </a:ln>
        </p:spPr>
      </p:sp>
      <p:sp>
        <p:nvSpPr>
          <p:cNvPr id="9" name="Text 6"/>
          <p:cNvSpPr txBox="1"/>
          <p:nvPr/>
        </p:nvSpPr>
        <p:spPr>
          <a:xfrm>
            <a:off x="877824" y="1847088"/>
            <a:ext cx="300929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CaseViewModel</a:t>
            </a:r>
            <a:endParaRPr lang="en-US" sz="1800" dirty="0"/>
          </a:p>
        </p:txBody>
      </p:sp>
      <p:sp>
        <p:nvSpPr>
          <p:cNvPr id="10" name="Text 7"/>
          <p:cNvSpPr txBox="1"/>
          <p:nvPr/>
        </p:nvSpPr>
        <p:spPr>
          <a:xfrm>
            <a:off x="877824" y="2231136"/>
            <a:ext cx="3009290" cy="1097280"/>
          </a:xfrm>
          <a:prstGeom prst="rect">
            <a:avLst/>
          </a:prstGeom>
          <a:noFill/>
          <a:ln/>
        </p:spPr>
        <p:txBody>
          <a:bodyPr wrap="square" lIns="0" tIns="0" rIns="0" bIns="0" rtlCol="0" anchor="ctr"/>
          <a:lstStyle/>
          <a:p>
            <a:pPr indent="0" marL="0">
              <a:lnSpc>
                <a:spcPts val="1600"/>
              </a:lnSpc>
              <a:buNone/>
            </a:pPr>
            <a:r>
              <a:rPr lang="en-US" sz="1150" dirty="0">
                <a:solidFill>
                  <a:srgbClr val="DCE9F5"/>
                </a:solidFill>
                <a:latin typeface="Calibri" pitchFamily="34" charset="0"/>
                <a:ea typeface="Calibri" pitchFamily="34" charset="-122"/>
                <a:cs typeface="Calibri" pitchFamily="34" charset="-120"/>
              </a:rPr>
              <a:t>Owns CaseUiState: patient, dosing, samples, workflow, validation and result. Calls VancoEngine, then hands the result to SupabaseRepository.</a:t>
            </a:r>
            <a:endParaRPr lang="en-US" sz="1150" dirty="0"/>
          </a:p>
        </p:txBody>
      </p:sp>
      <p:sp>
        <p:nvSpPr>
          <p:cNvPr id="11" name="Shape 8"/>
          <p:cNvSpPr/>
          <p:nvPr/>
        </p:nvSpPr>
        <p:spPr>
          <a:xfrm>
            <a:off x="4353458" y="1691640"/>
            <a:ext cx="3484778" cy="1783080"/>
          </a:xfrm>
          <a:prstGeom prst="roundRect">
            <a:avLst>
              <a:gd name="adj" fmla="val 4615"/>
            </a:avLst>
          </a:prstGeom>
          <a:solidFill>
            <a:srgbClr val="073A6B"/>
          </a:solidFill>
          <a:ln w="12700">
            <a:solidFill>
              <a:srgbClr val="073A6B"/>
            </a:solidFill>
            <a:prstDash val="solid"/>
          </a:ln>
        </p:spPr>
      </p:sp>
      <p:sp>
        <p:nvSpPr>
          <p:cNvPr id="12" name="Text 9"/>
          <p:cNvSpPr txBox="1"/>
          <p:nvPr/>
        </p:nvSpPr>
        <p:spPr>
          <a:xfrm>
            <a:off x="4591202" y="1847088"/>
            <a:ext cx="300929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AuthViewModel</a:t>
            </a:r>
            <a:endParaRPr lang="en-US" sz="1800" dirty="0"/>
          </a:p>
        </p:txBody>
      </p:sp>
      <p:sp>
        <p:nvSpPr>
          <p:cNvPr id="13" name="Text 10"/>
          <p:cNvSpPr txBox="1"/>
          <p:nvPr/>
        </p:nvSpPr>
        <p:spPr>
          <a:xfrm>
            <a:off x="4591202" y="2231136"/>
            <a:ext cx="3009290" cy="1097280"/>
          </a:xfrm>
          <a:prstGeom prst="rect">
            <a:avLst/>
          </a:prstGeom>
          <a:noFill/>
          <a:ln/>
        </p:spPr>
        <p:txBody>
          <a:bodyPr wrap="square" lIns="0" tIns="0" rIns="0" bIns="0" rtlCol="0" anchor="ctr"/>
          <a:lstStyle/>
          <a:p>
            <a:pPr indent="0" marL="0">
              <a:lnSpc>
                <a:spcPts val="1600"/>
              </a:lnSpc>
              <a:buNone/>
            </a:pPr>
            <a:r>
              <a:rPr lang="en-US" sz="1150" dirty="0">
                <a:solidFill>
                  <a:srgbClr val="DCE9F5"/>
                </a:solidFill>
                <a:latin typeface="Calibri" pitchFamily="34" charset="0"/>
                <a:ea typeface="Calibri" pitchFamily="34" charset="-122"/>
                <a:cs typeface="Calibri" pitchFamily="34" charset="-120"/>
              </a:rPr>
              <a:t>Exposes AuthState (Loading / Unauthenticated / AwaitingEmailCode / Authenticated / Error) from AuthRepository and Clerk.</a:t>
            </a:r>
            <a:endParaRPr lang="en-US" sz="1150" dirty="0"/>
          </a:p>
        </p:txBody>
      </p:sp>
      <p:sp>
        <p:nvSpPr>
          <p:cNvPr id="14" name="Shape 11"/>
          <p:cNvSpPr/>
          <p:nvPr/>
        </p:nvSpPr>
        <p:spPr>
          <a:xfrm>
            <a:off x="8066837" y="1691640"/>
            <a:ext cx="3484778" cy="1783080"/>
          </a:xfrm>
          <a:prstGeom prst="roundRect">
            <a:avLst>
              <a:gd name="adj" fmla="val 4615"/>
            </a:avLst>
          </a:prstGeom>
          <a:solidFill>
            <a:srgbClr val="0F6B6B"/>
          </a:solidFill>
          <a:ln w="12700">
            <a:solidFill>
              <a:srgbClr val="0F6B6B"/>
            </a:solidFill>
            <a:prstDash val="solid"/>
          </a:ln>
        </p:spPr>
      </p:sp>
      <p:sp>
        <p:nvSpPr>
          <p:cNvPr id="15" name="Text 12"/>
          <p:cNvSpPr txBox="1"/>
          <p:nvPr/>
        </p:nvSpPr>
        <p:spPr>
          <a:xfrm>
            <a:off x="8304581" y="1847088"/>
            <a:ext cx="300929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HistoryViewModel</a:t>
            </a:r>
            <a:endParaRPr lang="en-US" sz="1800" dirty="0"/>
          </a:p>
        </p:txBody>
      </p:sp>
      <p:sp>
        <p:nvSpPr>
          <p:cNvPr id="16" name="Text 13"/>
          <p:cNvSpPr txBox="1"/>
          <p:nvPr/>
        </p:nvSpPr>
        <p:spPr>
          <a:xfrm>
            <a:off x="8304581" y="2231136"/>
            <a:ext cx="3009290" cy="1097280"/>
          </a:xfrm>
          <a:prstGeom prst="rect">
            <a:avLst/>
          </a:prstGeom>
          <a:noFill/>
          <a:ln/>
        </p:spPr>
        <p:txBody>
          <a:bodyPr wrap="square" lIns="0" tIns="0" rIns="0" bIns="0" rtlCol="0" anchor="ctr"/>
          <a:lstStyle/>
          <a:p>
            <a:pPr indent="0" marL="0">
              <a:lnSpc>
                <a:spcPts val="1600"/>
              </a:lnSpc>
              <a:buNone/>
            </a:pPr>
            <a:r>
              <a:rPr lang="en-US" sz="1150" dirty="0">
                <a:solidFill>
                  <a:srgbClr val="DCE9F5"/>
                </a:solidFill>
                <a:latin typeface="Calibri" pitchFamily="34" charset="0"/>
                <a:ea typeface="Calibri" pitchFamily="34" charset="-122"/>
                <a:cs typeface="Calibri" pitchFamily="34" charset="-120"/>
              </a:rPr>
              <a:t>Loads the 20 most recent cases for the signed-in user from Supabase and exposes them to the History and Home screens.</a:t>
            </a:r>
            <a:endParaRPr lang="en-US" sz="1150" dirty="0"/>
          </a:p>
        </p:txBody>
      </p:sp>
      <p:sp>
        <p:nvSpPr>
          <p:cNvPr id="17" name="Shape 14"/>
          <p:cNvSpPr/>
          <p:nvPr/>
        </p:nvSpPr>
        <p:spPr>
          <a:xfrm>
            <a:off x="640080" y="3657600"/>
            <a:ext cx="6949440" cy="2470150"/>
          </a:xfrm>
          <a:prstGeom prst="roundRect">
            <a:avLst>
              <a:gd name="adj" fmla="val 3332"/>
            </a:avLst>
          </a:prstGeom>
          <a:solidFill>
            <a:srgbClr val="0F2237"/>
          </a:solidFill>
          <a:ln w="12700">
            <a:solidFill>
              <a:srgbClr val="0F2237"/>
            </a:solidFill>
            <a:prstDash val="solid"/>
          </a:ln>
        </p:spPr>
      </p:sp>
      <p:sp>
        <p:nvSpPr>
          <p:cNvPr id="18" name="Text 15"/>
          <p:cNvSpPr txBox="1"/>
          <p:nvPr/>
        </p:nvSpPr>
        <p:spPr>
          <a:xfrm>
            <a:off x="804672" y="3794760"/>
            <a:ext cx="6620256" cy="2195830"/>
          </a:xfrm>
          <a:prstGeom prst="rect">
            <a:avLst/>
          </a:prstGeom>
          <a:noFill/>
          <a:ln/>
        </p:spPr>
        <p:txBody>
          <a:bodyPr wrap="square" lIns="0" tIns="0" rIns="0" bIns="0" rtlCol="0" anchor="t"/>
          <a:lstStyle/>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fun runCalculation() {</a:t>
            </a:r>
            <a:endParaRPr lang="en-US" sz="950" dirty="0"/>
          </a:p>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    validate()</a:t>
            </a:r>
            <a:endParaRPr lang="en-US" sz="950" dirty="0"/>
          </a:p>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    val s = _uiState.value</a:t>
            </a:r>
            <a:endParaRPr lang="en-US" sz="950" dirty="0"/>
          </a:p>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    if (!s.validationReport.isValid) return</a:t>
            </a:r>
            <a:endParaRPr lang="en-US" sz="950" dirty="0"/>
          </a:p>
          <a:p>
            <a:pPr indent="0" marL="0">
              <a:lnSpc>
                <a:spcPts val="1330"/>
              </a:lnSpc>
              <a:buNone/>
            </a:pPr>
            <a:endParaRPr lang="en-US" sz="950" dirty="0"/>
          </a:p>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    viewModelScope.launch {                      // coroutine</a:t>
            </a:r>
            <a:endParaRPr lang="en-US" sz="950" dirty="0"/>
          </a:p>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        val result = withContext(Dispatchers.Default) {</a:t>
            </a:r>
            <a:endParaRPr lang="en-US" sz="950" dirty="0"/>
          </a:p>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            VancoEngine.calculatePrePost(...)    // CPU work</a:t>
            </a:r>
            <a:endParaRPr lang="en-US" sz="950" dirty="0"/>
          </a:p>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        }</a:t>
            </a:r>
            <a:endParaRPr lang="en-US" sz="950" dirty="0"/>
          </a:p>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        _uiState.update { it.copy(result = result) }</a:t>
            </a:r>
            <a:endParaRPr lang="en-US" sz="950" dirty="0"/>
          </a:p>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        launch { supabaseRepository.saveCase(...) }  // I/O</a:t>
            </a:r>
            <a:endParaRPr lang="en-US" sz="950" dirty="0"/>
          </a:p>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    }</a:t>
            </a:r>
            <a:endParaRPr lang="en-US" sz="950" dirty="0"/>
          </a:p>
          <a:p>
            <a:pPr indent="0" marL="0">
              <a:lnSpc>
                <a:spcPts val="1330"/>
              </a:lnSpc>
              <a:buNone/>
            </a:pPr>
            <a:r>
              <a:rPr lang="en-US" sz="950" dirty="0">
                <a:solidFill>
                  <a:srgbClr val="CFE3F5"/>
                </a:solidFill>
                <a:latin typeface="Courier New" pitchFamily="34" charset="0"/>
                <a:ea typeface="Courier New" pitchFamily="34" charset="-122"/>
                <a:cs typeface="Courier New" pitchFamily="34" charset="-120"/>
              </a:rPr>
              <a:t>}</a:t>
            </a:r>
            <a:endParaRPr lang="en-US" sz="950" dirty="0"/>
          </a:p>
        </p:txBody>
      </p:sp>
      <p:sp>
        <p:nvSpPr>
          <p:cNvPr id="19" name="Shape 16"/>
          <p:cNvSpPr/>
          <p:nvPr/>
        </p:nvSpPr>
        <p:spPr>
          <a:xfrm>
            <a:off x="7909560" y="3657600"/>
            <a:ext cx="3642055" cy="2377440"/>
          </a:xfrm>
          <a:prstGeom prst="roundRect">
            <a:avLst>
              <a:gd name="adj" fmla="val 3462"/>
            </a:avLst>
          </a:prstGeom>
          <a:solidFill>
            <a:srgbClr val="EAF2FA"/>
          </a:solidFill>
          <a:ln w="12700">
            <a:solidFill>
              <a:srgbClr val="D8E1EA"/>
            </a:solidFill>
            <a:prstDash val="solid"/>
          </a:ln>
        </p:spPr>
      </p:sp>
      <p:sp>
        <p:nvSpPr>
          <p:cNvPr id="20" name="Text 17"/>
          <p:cNvSpPr txBox="1"/>
          <p:nvPr/>
        </p:nvSpPr>
        <p:spPr>
          <a:xfrm>
            <a:off x="8165592" y="3822192"/>
            <a:ext cx="3129991" cy="274320"/>
          </a:xfrm>
          <a:prstGeom prst="rect">
            <a:avLst/>
          </a:prstGeom>
          <a:noFill/>
          <a:ln/>
        </p:spPr>
        <p:txBody>
          <a:bodyPr wrap="square" lIns="0" tIns="0" rIns="0" bIns="0" rtlCol="0" anchor="ctr"/>
          <a:lstStyle/>
          <a:p>
            <a:pPr indent="0" marL="0">
              <a:buNone/>
            </a:pPr>
            <a:r>
              <a:rPr lang="en-US" sz="1300" b="1" dirty="0">
                <a:solidFill>
                  <a:srgbClr val="073A6B"/>
                </a:solidFill>
                <a:latin typeface="Calibri" pitchFamily="34" charset="0"/>
                <a:ea typeface="Calibri" pitchFamily="34" charset="-122"/>
                <a:cs typeface="Calibri" pitchFamily="34" charset="-120"/>
              </a:rPr>
              <a:t>Three things to notice</a:t>
            </a:r>
            <a:endParaRPr lang="en-US" sz="1300" dirty="0"/>
          </a:p>
        </p:txBody>
      </p:sp>
      <p:sp>
        <p:nvSpPr>
          <p:cNvPr id="21" name="Text 18"/>
          <p:cNvSpPr txBox="1"/>
          <p:nvPr/>
        </p:nvSpPr>
        <p:spPr>
          <a:xfrm>
            <a:off x="8165592" y="4160520"/>
            <a:ext cx="3129991" cy="173736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073A6B"/>
                </a:solidFill>
                <a:latin typeface="Calibri" pitchFamily="34" charset="0"/>
                <a:ea typeface="Calibri" pitchFamily="34" charset="-122"/>
                <a:cs typeface="Calibri" pitchFamily="34" charset="-120"/>
              </a:rPr>
              <a:t>viewModelScope cancels the coroutine automatically when the screen dies — no leaks.</a:t>
            </a:r>
            <a:endParaRPr lang="en-US" sz="1150" dirty="0"/>
          </a:p>
          <a:p>
            <a:pPr marL="342900" indent="-342900">
              <a:spcAft>
                <a:spcPts val="700"/>
              </a:spcAft>
              <a:buSzPct val="100000"/>
              <a:buChar char="•"/>
            </a:pPr>
            <a:r>
              <a:rPr lang="en-US" sz="1150" dirty="0">
                <a:solidFill>
                  <a:srgbClr val="073A6B"/>
                </a:solidFill>
                <a:latin typeface="Calibri" pitchFamily="34" charset="0"/>
                <a:ea typeface="Calibri" pitchFamily="34" charset="-122"/>
                <a:cs typeface="Calibri" pitchFamily="34" charset="-120"/>
              </a:rPr>
              <a:t>Dispatchers.Default moves the pharmacokinetic maths off the main thread, so the UI never freezes.</a:t>
            </a:r>
            <a:endParaRPr lang="en-US" sz="1150" dirty="0"/>
          </a:p>
          <a:p>
            <a:pPr marL="342900" indent="-342900">
              <a:spcAft>
                <a:spcPts val="700"/>
              </a:spcAft>
              <a:buSzPct val="100000"/>
              <a:buChar char="•"/>
            </a:pPr>
            <a:r>
              <a:rPr lang="en-US" sz="1150" dirty="0">
                <a:solidFill>
                  <a:srgbClr val="073A6B"/>
                </a:solidFill>
                <a:latin typeface="Calibri" pitchFamily="34" charset="0"/>
                <a:ea typeface="Calibri" pitchFamily="34" charset="-122"/>
                <a:cs typeface="Calibri" pitchFamily="34" charset="-120"/>
              </a:rPr>
              <a:t>The Supabase write is fire-and-forget: a network failure can never hide a valid result from the user.</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05 · ARCHITECTURE PATTERN</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Sequence diagram — running one calculation</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Solid arrows are calls, dashed arrows are returns. Notice the database write happens after the user already has the answer.</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16</a:t>
            </a:r>
            <a:endParaRPr lang="en-US" sz="900" dirty="0"/>
          </a:p>
        </p:txBody>
      </p:sp>
      <p:sp>
        <p:nvSpPr>
          <p:cNvPr id="8" name="Shape 5"/>
          <p:cNvSpPr/>
          <p:nvPr/>
        </p:nvSpPr>
        <p:spPr>
          <a:xfrm>
            <a:off x="640080" y="1737360"/>
            <a:ext cx="1600200" cy="475488"/>
          </a:xfrm>
          <a:prstGeom prst="roundRect">
            <a:avLst>
              <a:gd name="adj" fmla="val 13462"/>
            </a:avLst>
          </a:prstGeom>
          <a:solidFill>
            <a:srgbClr val="1E5C96"/>
          </a:solidFill>
          <a:ln w="12700">
            <a:solidFill>
              <a:srgbClr val="1E5C96"/>
            </a:solidFill>
            <a:prstDash val="solid"/>
          </a:ln>
        </p:spPr>
      </p:sp>
      <p:sp>
        <p:nvSpPr>
          <p:cNvPr id="9" name="Text 6"/>
          <p:cNvSpPr txBox="1"/>
          <p:nvPr/>
        </p:nvSpPr>
        <p:spPr>
          <a:xfrm>
            <a:off x="694944"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ReviewScreen</a:t>
            </a:r>
            <a:endParaRPr lang="en-US" sz="1000" dirty="0"/>
          </a:p>
        </p:txBody>
      </p:sp>
      <p:sp>
        <p:nvSpPr>
          <p:cNvPr id="10" name="Shape 7"/>
          <p:cNvSpPr/>
          <p:nvPr/>
        </p:nvSpPr>
        <p:spPr>
          <a:xfrm>
            <a:off x="1440180" y="2212848"/>
            <a:ext cx="0" cy="3776472"/>
          </a:xfrm>
          <a:prstGeom prst="line">
            <a:avLst/>
          </a:prstGeom>
          <a:noFill/>
          <a:ln w="15875">
            <a:solidFill>
              <a:srgbClr val="C2CEDA"/>
            </a:solidFill>
            <a:prstDash val="dash"/>
          </a:ln>
        </p:spPr>
      </p:sp>
      <p:sp>
        <p:nvSpPr>
          <p:cNvPr id="11" name="Shape 8"/>
          <p:cNvSpPr/>
          <p:nvPr/>
        </p:nvSpPr>
        <p:spPr>
          <a:xfrm>
            <a:off x="2502347" y="1737360"/>
            <a:ext cx="1600200" cy="475488"/>
          </a:xfrm>
          <a:prstGeom prst="roundRect">
            <a:avLst>
              <a:gd name="adj" fmla="val 13462"/>
            </a:avLst>
          </a:prstGeom>
          <a:solidFill>
            <a:srgbClr val="17527F"/>
          </a:solidFill>
          <a:ln w="12700">
            <a:solidFill>
              <a:srgbClr val="17527F"/>
            </a:solidFill>
            <a:prstDash val="solid"/>
          </a:ln>
        </p:spPr>
      </p:sp>
      <p:sp>
        <p:nvSpPr>
          <p:cNvPr id="12" name="Text 9"/>
          <p:cNvSpPr txBox="1"/>
          <p:nvPr/>
        </p:nvSpPr>
        <p:spPr>
          <a:xfrm>
            <a:off x="2557211"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CaseViewModel</a:t>
            </a:r>
            <a:endParaRPr lang="en-US" sz="1000" dirty="0"/>
          </a:p>
        </p:txBody>
      </p:sp>
      <p:sp>
        <p:nvSpPr>
          <p:cNvPr id="13" name="Shape 10"/>
          <p:cNvSpPr/>
          <p:nvPr/>
        </p:nvSpPr>
        <p:spPr>
          <a:xfrm>
            <a:off x="3302447" y="2212848"/>
            <a:ext cx="0" cy="3776472"/>
          </a:xfrm>
          <a:prstGeom prst="line">
            <a:avLst/>
          </a:prstGeom>
          <a:noFill/>
          <a:ln w="15875">
            <a:solidFill>
              <a:srgbClr val="C2CEDA"/>
            </a:solidFill>
            <a:prstDash val="dash"/>
          </a:ln>
        </p:spPr>
      </p:sp>
      <p:sp>
        <p:nvSpPr>
          <p:cNvPr id="14" name="Shape 11"/>
          <p:cNvSpPr/>
          <p:nvPr/>
        </p:nvSpPr>
        <p:spPr>
          <a:xfrm>
            <a:off x="4364614" y="1737360"/>
            <a:ext cx="1600200" cy="475488"/>
          </a:xfrm>
          <a:prstGeom prst="roundRect">
            <a:avLst>
              <a:gd name="adj" fmla="val 13462"/>
            </a:avLst>
          </a:prstGeom>
          <a:solidFill>
            <a:srgbClr val="14456E"/>
          </a:solidFill>
          <a:ln w="12700">
            <a:solidFill>
              <a:srgbClr val="14456E"/>
            </a:solidFill>
            <a:prstDash val="solid"/>
          </a:ln>
        </p:spPr>
      </p:sp>
      <p:sp>
        <p:nvSpPr>
          <p:cNvPr id="15" name="Text 12"/>
          <p:cNvSpPr txBox="1"/>
          <p:nvPr/>
        </p:nvSpPr>
        <p:spPr>
          <a:xfrm>
            <a:off x="4419478"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InputValidator</a:t>
            </a:r>
            <a:endParaRPr lang="en-US" sz="1000" dirty="0"/>
          </a:p>
        </p:txBody>
      </p:sp>
      <p:sp>
        <p:nvSpPr>
          <p:cNvPr id="16" name="Shape 13"/>
          <p:cNvSpPr/>
          <p:nvPr/>
        </p:nvSpPr>
        <p:spPr>
          <a:xfrm>
            <a:off x="5164714" y="2212848"/>
            <a:ext cx="0" cy="3776472"/>
          </a:xfrm>
          <a:prstGeom prst="line">
            <a:avLst/>
          </a:prstGeom>
          <a:noFill/>
          <a:ln w="15875">
            <a:solidFill>
              <a:srgbClr val="C2CEDA"/>
            </a:solidFill>
            <a:prstDash val="dash"/>
          </a:ln>
        </p:spPr>
      </p:sp>
      <p:sp>
        <p:nvSpPr>
          <p:cNvPr id="17" name="Shape 14"/>
          <p:cNvSpPr/>
          <p:nvPr/>
        </p:nvSpPr>
        <p:spPr>
          <a:xfrm>
            <a:off x="6226881" y="1737360"/>
            <a:ext cx="1600200" cy="475488"/>
          </a:xfrm>
          <a:prstGeom prst="roundRect">
            <a:avLst>
              <a:gd name="adj" fmla="val 13462"/>
            </a:avLst>
          </a:prstGeom>
          <a:solidFill>
            <a:srgbClr val="0F6B6B"/>
          </a:solidFill>
          <a:ln w="12700">
            <a:solidFill>
              <a:srgbClr val="0F6B6B"/>
            </a:solidFill>
            <a:prstDash val="solid"/>
          </a:ln>
        </p:spPr>
      </p:sp>
      <p:sp>
        <p:nvSpPr>
          <p:cNvPr id="18" name="Text 15"/>
          <p:cNvSpPr txBox="1"/>
          <p:nvPr/>
        </p:nvSpPr>
        <p:spPr>
          <a:xfrm>
            <a:off x="6281745"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VancoEngine</a:t>
            </a:r>
            <a:endParaRPr lang="en-US" sz="1000" dirty="0"/>
          </a:p>
        </p:txBody>
      </p:sp>
      <p:sp>
        <p:nvSpPr>
          <p:cNvPr id="19" name="Shape 16"/>
          <p:cNvSpPr/>
          <p:nvPr/>
        </p:nvSpPr>
        <p:spPr>
          <a:xfrm>
            <a:off x="7026981" y="2212848"/>
            <a:ext cx="0" cy="3776472"/>
          </a:xfrm>
          <a:prstGeom prst="line">
            <a:avLst/>
          </a:prstGeom>
          <a:noFill/>
          <a:ln w="15875">
            <a:solidFill>
              <a:srgbClr val="C2CEDA"/>
            </a:solidFill>
            <a:prstDash val="dash"/>
          </a:ln>
        </p:spPr>
      </p:sp>
      <p:sp>
        <p:nvSpPr>
          <p:cNvPr id="20" name="Shape 17"/>
          <p:cNvSpPr/>
          <p:nvPr/>
        </p:nvSpPr>
        <p:spPr>
          <a:xfrm>
            <a:off x="8089148" y="1737360"/>
            <a:ext cx="1600200" cy="475488"/>
          </a:xfrm>
          <a:prstGeom prst="roundRect">
            <a:avLst>
              <a:gd name="adj" fmla="val 13462"/>
            </a:avLst>
          </a:prstGeom>
          <a:solidFill>
            <a:srgbClr val="14456E"/>
          </a:solidFill>
          <a:ln w="12700">
            <a:solidFill>
              <a:srgbClr val="14456E"/>
            </a:solidFill>
            <a:prstDash val="solid"/>
          </a:ln>
        </p:spPr>
      </p:sp>
      <p:sp>
        <p:nvSpPr>
          <p:cNvPr id="21" name="Text 18"/>
          <p:cNvSpPr txBox="1"/>
          <p:nvPr/>
        </p:nvSpPr>
        <p:spPr>
          <a:xfrm>
            <a:off x="8144012"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SupabaseRepository</a:t>
            </a:r>
            <a:endParaRPr lang="en-US" sz="1000" dirty="0"/>
          </a:p>
        </p:txBody>
      </p:sp>
      <p:sp>
        <p:nvSpPr>
          <p:cNvPr id="22" name="Shape 19"/>
          <p:cNvSpPr/>
          <p:nvPr/>
        </p:nvSpPr>
        <p:spPr>
          <a:xfrm>
            <a:off x="8889248" y="2212848"/>
            <a:ext cx="0" cy="3776472"/>
          </a:xfrm>
          <a:prstGeom prst="line">
            <a:avLst/>
          </a:prstGeom>
          <a:noFill/>
          <a:ln w="15875">
            <a:solidFill>
              <a:srgbClr val="C2CEDA"/>
            </a:solidFill>
            <a:prstDash val="dash"/>
          </a:ln>
        </p:spPr>
      </p:sp>
      <p:sp>
        <p:nvSpPr>
          <p:cNvPr id="23" name="Shape 20"/>
          <p:cNvSpPr/>
          <p:nvPr/>
        </p:nvSpPr>
        <p:spPr>
          <a:xfrm>
            <a:off x="9951415" y="1737360"/>
            <a:ext cx="1600200" cy="475488"/>
          </a:xfrm>
          <a:prstGeom prst="roundRect">
            <a:avLst>
              <a:gd name="adj" fmla="val 13462"/>
            </a:avLst>
          </a:prstGeom>
          <a:solidFill>
            <a:srgbClr val="1464A8"/>
          </a:solidFill>
          <a:ln w="12700">
            <a:solidFill>
              <a:srgbClr val="1464A8"/>
            </a:solidFill>
            <a:prstDash val="solid"/>
          </a:ln>
        </p:spPr>
      </p:sp>
      <p:sp>
        <p:nvSpPr>
          <p:cNvPr id="24" name="Text 21"/>
          <p:cNvSpPr txBox="1"/>
          <p:nvPr/>
        </p:nvSpPr>
        <p:spPr>
          <a:xfrm>
            <a:off x="10006279"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Supabase</a:t>
            </a:r>
            <a:endParaRPr lang="en-US" sz="1000" dirty="0"/>
          </a:p>
        </p:txBody>
      </p:sp>
      <p:sp>
        <p:nvSpPr>
          <p:cNvPr id="25" name="Shape 22"/>
          <p:cNvSpPr/>
          <p:nvPr/>
        </p:nvSpPr>
        <p:spPr>
          <a:xfrm>
            <a:off x="10751515" y="2212848"/>
            <a:ext cx="0" cy="3776472"/>
          </a:xfrm>
          <a:prstGeom prst="line">
            <a:avLst/>
          </a:prstGeom>
          <a:noFill/>
          <a:ln w="15875">
            <a:solidFill>
              <a:srgbClr val="C2CEDA"/>
            </a:solidFill>
            <a:prstDash val="dash"/>
          </a:ln>
        </p:spPr>
      </p:sp>
      <p:sp>
        <p:nvSpPr>
          <p:cNvPr id="26" name="Shape 23"/>
          <p:cNvSpPr/>
          <p:nvPr/>
        </p:nvSpPr>
        <p:spPr>
          <a:xfrm>
            <a:off x="1440180" y="2606040"/>
            <a:ext cx="1862267" cy="0"/>
          </a:xfrm>
          <a:prstGeom prst="line">
            <a:avLst/>
          </a:prstGeom>
          <a:noFill/>
          <a:ln w="22225">
            <a:solidFill>
              <a:srgbClr val="1464A8"/>
            </a:solidFill>
            <a:prstDash val="solid"/>
            <a:tailEnd type="triangle"/>
          </a:ln>
        </p:spPr>
      </p:sp>
      <p:sp>
        <p:nvSpPr>
          <p:cNvPr id="27" name="Text 24"/>
          <p:cNvSpPr txBox="1"/>
          <p:nvPr/>
        </p:nvSpPr>
        <p:spPr>
          <a:xfrm>
            <a:off x="1440180" y="2350008"/>
            <a:ext cx="1862267"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runCalculation()</a:t>
            </a:r>
            <a:endParaRPr lang="en-US" sz="850" dirty="0"/>
          </a:p>
        </p:txBody>
      </p:sp>
      <p:sp>
        <p:nvSpPr>
          <p:cNvPr id="28" name="Shape 25"/>
          <p:cNvSpPr/>
          <p:nvPr/>
        </p:nvSpPr>
        <p:spPr>
          <a:xfrm>
            <a:off x="3302447" y="2999232"/>
            <a:ext cx="1862267" cy="0"/>
          </a:xfrm>
          <a:prstGeom prst="line">
            <a:avLst/>
          </a:prstGeom>
          <a:noFill/>
          <a:ln w="22225">
            <a:solidFill>
              <a:srgbClr val="1464A8"/>
            </a:solidFill>
            <a:prstDash val="solid"/>
            <a:tailEnd type="triangle"/>
          </a:ln>
        </p:spPr>
      </p:sp>
      <p:sp>
        <p:nvSpPr>
          <p:cNvPr id="29" name="Text 26"/>
          <p:cNvSpPr txBox="1"/>
          <p:nvPr/>
        </p:nvSpPr>
        <p:spPr>
          <a:xfrm>
            <a:off x="3302447" y="2743200"/>
            <a:ext cx="1862267"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validate(inputs)</a:t>
            </a:r>
            <a:endParaRPr lang="en-US" sz="850" dirty="0"/>
          </a:p>
        </p:txBody>
      </p:sp>
      <p:sp>
        <p:nvSpPr>
          <p:cNvPr id="30" name="Shape 27"/>
          <p:cNvSpPr/>
          <p:nvPr/>
        </p:nvSpPr>
        <p:spPr>
          <a:xfrm flipH="1">
            <a:off x="3302447" y="3392424"/>
            <a:ext cx="1862267" cy="0"/>
          </a:xfrm>
          <a:prstGeom prst="line">
            <a:avLst/>
          </a:prstGeom>
          <a:noFill/>
          <a:ln w="22225">
            <a:solidFill>
              <a:srgbClr val="8A96A3"/>
            </a:solidFill>
            <a:prstDash val="dash"/>
            <a:tailEnd type="triangle"/>
          </a:ln>
        </p:spPr>
      </p:sp>
      <p:sp>
        <p:nvSpPr>
          <p:cNvPr id="31" name="Text 28"/>
          <p:cNvSpPr txBox="1"/>
          <p:nvPr/>
        </p:nvSpPr>
        <p:spPr>
          <a:xfrm>
            <a:off x="3302447" y="3136392"/>
            <a:ext cx="1862267" cy="237744"/>
          </a:xfrm>
          <a:prstGeom prst="rect">
            <a:avLst/>
          </a:prstGeom>
          <a:noFill/>
          <a:ln/>
        </p:spPr>
        <p:txBody>
          <a:bodyPr wrap="square" lIns="0" tIns="0" rIns="0" bIns="0" rtlCol="0" anchor="ctr"/>
          <a:lstStyle/>
          <a:p>
            <a:pPr algn="ctr" indent="0" marL="0">
              <a:buNone/>
            </a:pPr>
            <a:r>
              <a:rPr lang="en-US" sz="850" dirty="0">
                <a:solidFill>
                  <a:srgbClr val="5A6672"/>
                </a:solidFill>
                <a:latin typeface="Courier New" pitchFamily="34" charset="0"/>
                <a:ea typeface="Courier New" pitchFamily="34" charset="-122"/>
                <a:cs typeface="Courier New" pitchFamily="34" charset="-120"/>
              </a:rPr>
              <a:t>ValidationReport(isValid)</a:t>
            </a:r>
            <a:endParaRPr lang="en-US" sz="850" dirty="0"/>
          </a:p>
        </p:txBody>
      </p:sp>
      <p:sp>
        <p:nvSpPr>
          <p:cNvPr id="32" name="Shape 29"/>
          <p:cNvSpPr/>
          <p:nvPr/>
        </p:nvSpPr>
        <p:spPr>
          <a:xfrm>
            <a:off x="3302447" y="3785616"/>
            <a:ext cx="3724534" cy="0"/>
          </a:xfrm>
          <a:prstGeom prst="line">
            <a:avLst/>
          </a:prstGeom>
          <a:noFill/>
          <a:ln w="22225">
            <a:solidFill>
              <a:srgbClr val="1464A8"/>
            </a:solidFill>
            <a:prstDash val="solid"/>
            <a:tailEnd type="triangle"/>
          </a:ln>
        </p:spPr>
      </p:sp>
      <p:sp>
        <p:nvSpPr>
          <p:cNvPr id="33" name="Text 30"/>
          <p:cNvSpPr txBox="1"/>
          <p:nvPr/>
        </p:nvSpPr>
        <p:spPr>
          <a:xfrm>
            <a:off x="3302447" y="3529584"/>
            <a:ext cx="3724534"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calculatePrePost(input)</a:t>
            </a:r>
            <a:endParaRPr lang="en-US" sz="850" dirty="0"/>
          </a:p>
        </p:txBody>
      </p:sp>
      <p:sp>
        <p:nvSpPr>
          <p:cNvPr id="34" name="Shape 31"/>
          <p:cNvSpPr/>
          <p:nvPr/>
        </p:nvSpPr>
        <p:spPr>
          <a:xfrm flipH="1">
            <a:off x="3302447" y="4178808"/>
            <a:ext cx="3724534" cy="0"/>
          </a:xfrm>
          <a:prstGeom prst="line">
            <a:avLst/>
          </a:prstGeom>
          <a:noFill/>
          <a:ln w="22225">
            <a:solidFill>
              <a:srgbClr val="8A96A3"/>
            </a:solidFill>
            <a:prstDash val="dash"/>
            <a:tailEnd type="triangle"/>
          </a:ln>
        </p:spPr>
      </p:sp>
      <p:sp>
        <p:nvSpPr>
          <p:cNvPr id="35" name="Text 32"/>
          <p:cNvSpPr txBox="1"/>
          <p:nvPr/>
        </p:nvSpPr>
        <p:spPr>
          <a:xfrm>
            <a:off x="3302447" y="3922776"/>
            <a:ext cx="3724534" cy="237744"/>
          </a:xfrm>
          <a:prstGeom prst="rect">
            <a:avLst/>
          </a:prstGeom>
          <a:noFill/>
          <a:ln/>
        </p:spPr>
        <p:txBody>
          <a:bodyPr wrap="square" lIns="0" tIns="0" rIns="0" bIns="0" rtlCol="0" anchor="ctr"/>
          <a:lstStyle/>
          <a:p>
            <a:pPr algn="ctr" indent="0" marL="0">
              <a:buNone/>
            </a:pPr>
            <a:r>
              <a:rPr lang="en-US" sz="850" dirty="0">
                <a:solidFill>
                  <a:srgbClr val="5A6672"/>
                </a:solidFill>
                <a:latin typeface="Courier New" pitchFamily="34" charset="0"/>
                <a:ea typeface="Courier New" pitchFamily="34" charset="-122"/>
                <a:cs typeface="Courier New" pitchFamily="34" charset="-120"/>
              </a:rPr>
              <a:t>CalculationResult.Success(PkResults)</a:t>
            </a:r>
            <a:endParaRPr lang="en-US" sz="850" dirty="0"/>
          </a:p>
        </p:txBody>
      </p:sp>
      <p:sp>
        <p:nvSpPr>
          <p:cNvPr id="36" name="Shape 33"/>
          <p:cNvSpPr/>
          <p:nvPr/>
        </p:nvSpPr>
        <p:spPr>
          <a:xfrm flipH="1">
            <a:off x="1440180" y="4572000"/>
            <a:ext cx="1862267" cy="0"/>
          </a:xfrm>
          <a:prstGeom prst="line">
            <a:avLst/>
          </a:prstGeom>
          <a:noFill/>
          <a:ln w="22225">
            <a:solidFill>
              <a:srgbClr val="8A96A3"/>
            </a:solidFill>
            <a:prstDash val="dash"/>
            <a:tailEnd type="triangle"/>
          </a:ln>
        </p:spPr>
      </p:sp>
      <p:sp>
        <p:nvSpPr>
          <p:cNvPr id="37" name="Text 34"/>
          <p:cNvSpPr txBox="1"/>
          <p:nvPr/>
        </p:nvSpPr>
        <p:spPr>
          <a:xfrm>
            <a:off x="1440180" y="4315968"/>
            <a:ext cx="1862267" cy="237744"/>
          </a:xfrm>
          <a:prstGeom prst="rect">
            <a:avLst/>
          </a:prstGeom>
          <a:noFill/>
          <a:ln/>
        </p:spPr>
        <p:txBody>
          <a:bodyPr wrap="square" lIns="0" tIns="0" rIns="0" bIns="0" rtlCol="0" anchor="ctr"/>
          <a:lstStyle/>
          <a:p>
            <a:pPr algn="ctr" indent="0" marL="0">
              <a:buNone/>
            </a:pPr>
            <a:r>
              <a:rPr lang="en-US" sz="850" dirty="0">
                <a:solidFill>
                  <a:srgbClr val="5A6672"/>
                </a:solidFill>
                <a:latin typeface="Courier New" pitchFamily="34" charset="0"/>
                <a:ea typeface="Courier New" pitchFamily="34" charset="-122"/>
                <a:cs typeface="Courier New" pitchFamily="34" charset="-120"/>
              </a:rPr>
              <a:t>new CaseUiState → recomposition</a:t>
            </a:r>
            <a:endParaRPr lang="en-US" sz="850" dirty="0"/>
          </a:p>
        </p:txBody>
      </p:sp>
      <p:sp>
        <p:nvSpPr>
          <p:cNvPr id="38" name="Shape 35"/>
          <p:cNvSpPr/>
          <p:nvPr/>
        </p:nvSpPr>
        <p:spPr>
          <a:xfrm>
            <a:off x="3302447" y="4965192"/>
            <a:ext cx="5586801" cy="0"/>
          </a:xfrm>
          <a:prstGeom prst="line">
            <a:avLst/>
          </a:prstGeom>
          <a:noFill/>
          <a:ln w="22225">
            <a:solidFill>
              <a:srgbClr val="1464A8"/>
            </a:solidFill>
            <a:prstDash val="solid"/>
            <a:tailEnd type="triangle"/>
          </a:ln>
        </p:spPr>
      </p:sp>
      <p:sp>
        <p:nvSpPr>
          <p:cNvPr id="39" name="Text 36"/>
          <p:cNvSpPr txBox="1"/>
          <p:nvPr/>
        </p:nvSpPr>
        <p:spPr>
          <a:xfrm>
            <a:off x="3302447" y="4709160"/>
            <a:ext cx="5586801"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saveCase(caseRow)</a:t>
            </a:r>
            <a:endParaRPr lang="en-US" sz="850" dirty="0"/>
          </a:p>
        </p:txBody>
      </p:sp>
      <p:sp>
        <p:nvSpPr>
          <p:cNvPr id="40" name="Shape 37"/>
          <p:cNvSpPr/>
          <p:nvPr/>
        </p:nvSpPr>
        <p:spPr>
          <a:xfrm>
            <a:off x="8889248" y="5358384"/>
            <a:ext cx="1862267" cy="0"/>
          </a:xfrm>
          <a:prstGeom prst="line">
            <a:avLst/>
          </a:prstGeom>
          <a:noFill/>
          <a:ln w="22225">
            <a:solidFill>
              <a:srgbClr val="1464A8"/>
            </a:solidFill>
            <a:prstDash val="solid"/>
            <a:tailEnd type="triangle"/>
          </a:ln>
        </p:spPr>
      </p:sp>
      <p:sp>
        <p:nvSpPr>
          <p:cNvPr id="41" name="Text 38"/>
          <p:cNvSpPr txBox="1"/>
          <p:nvPr/>
        </p:nvSpPr>
        <p:spPr>
          <a:xfrm>
            <a:off x="8889248" y="5102352"/>
            <a:ext cx="1862267"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INSERT INTO cases</a:t>
            </a:r>
            <a:endParaRPr lang="en-US" sz="850" dirty="0"/>
          </a:p>
        </p:txBody>
      </p:sp>
      <p:sp>
        <p:nvSpPr>
          <p:cNvPr id="42" name="Shape 39"/>
          <p:cNvSpPr/>
          <p:nvPr/>
        </p:nvSpPr>
        <p:spPr>
          <a:xfrm flipH="1">
            <a:off x="8889248" y="5751576"/>
            <a:ext cx="1862267" cy="0"/>
          </a:xfrm>
          <a:prstGeom prst="line">
            <a:avLst/>
          </a:prstGeom>
          <a:noFill/>
          <a:ln w="22225">
            <a:solidFill>
              <a:srgbClr val="8A96A3"/>
            </a:solidFill>
            <a:prstDash val="dash"/>
            <a:tailEnd type="triangle"/>
          </a:ln>
        </p:spPr>
      </p:sp>
      <p:sp>
        <p:nvSpPr>
          <p:cNvPr id="43" name="Text 40"/>
          <p:cNvSpPr txBox="1"/>
          <p:nvPr/>
        </p:nvSpPr>
        <p:spPr>
          <a:xfrm>
            <a:off x="8889248" y="5495544"/>
            <a:ext cx="1862267" cy="237744"/>
          </a:xfrm>
          <a:prstGeom prst="rect">
            <a:avLst/>
          </a:prstGeom>
          <a:noFill/>
          <a:ln/>
        </p:spPr>
        <p:txBody>
          <a:bodyPr wrap="square" lIns="0" tIns="0" rIns="0" bIns="0" rtlCol="0" anchor="ctr"/>
          <a:lstStyle/>
          <a:p>
            <a:pPr algn="ctr" indent="0" marL="0">
              <a:buNone/>
            </a:pPr>
            <a:r>
              <a:rPr lang="en-US" sz="850" dirty="0">
                <a:solidFill>
                  <a:srgbClr val="5A6672"/>
                </a:solidFill>
                <a:latin typeface="Courier New" pitchFamily="34" charset="0"/>
                <a:ea typeface="Courier New" pitchFamily="34" charset="-122"/>
                <a:cs typeface="Courier New" pitchFamily="34" charset="-120"/>
              </a:rPr>
              <a:t>201 Created</a:t>
            </a:r>
            <a:endParaRPr lang="en-US" sz="850" dirty="0"/>
          </a:p>
        </p:txBody>
      </p:sp>
      <p:sp>
        <p:nvSpPr>
          <p:cNvPr id="44" name="Text 41"/>
          <p:cNvSpPr txBox="1"/>
          <p:nvPr/>
        </p:nvSpPr>
        <p:spPr>
          <a:xfrm>
            <a:off x="640080" y="6053328"/>
            <a:ext cx="10911535" cy="256032"/>
          </a:xfrm>
          <a:prstGeom prst="rect">
            <a:avLst/>
          </a:prstGeom>
          <a:noFill/>
          <a:ln/>
        </p:spPr>
        <p:txBody>
          <a:bodyPr wrap="square" lIns="0" tIns="0" rIns="0" bIns="0" rtlCol="0" anchor="ctr"/>
          <a:lstStyle/>
          <a:p>
            <a:pPr algn="ctr" indent="0" marL="0">
              <a:buNone/>
            </a:pPr>
            <a:r>
              <a:rPr lang="en-US" sz="1000" i="1" dirty="0">
                <a:solidFill>
                  <a:srgbClr val="8A96A3"/>
                </a:solidFill>
                <a:latin typeface="Calibri" pitchFamily="34" charset="0"/>
                <a:ea typeface="Calibri" pitchFamily="34" charset="-122"/>
                <a:cs typeface="Calibri" pitchFamily="34" charset="-120"/>
              </a:rPr>
              <a:t>The engine runs on Dispatchers.Default, the insert on Dispatchers.IO, both off the main thread. If the report is invalid the sequence stops at step 3 — the engine is never called.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06 · LANGUAGE CONCEPTS</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The Kotlin features this project is built from</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Each concept below is used deliberately — these are the constructs I would point to in a code walkthrough.</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17</a:t>
            </a:r>
            <a:endParaRPr lang="en-US" sz="900" dirty="0"/>
          </a:p>
        </p:txBody>
      </p:sp>
      <p:sp>
        <p:nvSpPr>
          <p:cNvPr id="8" name="Shape 5"/>
          <p:cNvSpPr/>
          <p:nvPr/>
        </p:nvSpPr>
        <p:spPr>
          <a:xfrm>
            <a:off x="640080" y="1645920"/>
            <a:ext cx="10911535" cy="530352"/>
          </a:xfrm>
          <a:prstGeom prst="roundRect">
            <a:avLst>
              <a:gd name="adj" fmla="val 15517"/>
            </a:avLst>
          </a:prstGeom>
          <a:solidFill>
            <a:srgbClr val="F4F6F8"/>
          </a:solidFill>
          <a:ln w="12700">
            <a:solidFill>
              <a:srgbClr val="F4F6F8"/>
            </a:solidFill>
            <a:prstDash val="solid"/>
          </a:ln>
        </p:spPr>
      </p:sp>
      <p:sp>
        <p:nvSpPr>
          <p:cNvPr id="9" name="Text 6"/>
          <p:cNvSpPr txBox="1"/>
          <p:nvPr/>
        </p:nvSpPr>
        <p:spPr>
          <a:xfrm>
            <a:off x="841248" y="1645920"/>
            <a:ext cx="1828800" cy="530352"/>
          </a:xfrm>
          <a:prstGeom prst="rect">
            <a:avLst/>
          </a:prstGeom>
          <a:noFill/>
          <a:ln/>
        </p:spPr>
        <p:txBody>
          <a:bodyPr wrap="square" lIns="0" tIns="0" rIns="0" bIns="0" rtlCol="0" anchor="ctr"/>
          <a:lstStyle/>
          <a:p>
            <a:pPr indent="0" marL="0">
              <a:buNone/>
            </a:pPr>
            <a:r>
              <a:rPr lang="en-US" sz="1150" b="1" dirty="0">
                <a:solidFill>
                  <a:srgbClr val="1464A8"/>
                </a:solidFill>
                <a:latin typeface="Courier New" pitchFamily="34" charset="0"/>
                <a:ea typeface="Courier New" pitchFamily="34" charset="-122"/>
                <a:cs typeface="Courier New" pitchFamily="34" charset="-120"/>
              </a:rPr>
              <a:t>data class</a:t>
            </a:r>
            <a:endParaRPr lang="en-US" sz="1150" dirty="0"/>
          </a:p>
        </p:txBody>
      </p:sp>
      <p:sp>
        <p:nvSpPr>
          <p:cNvPr id="10" name="Text 7"/>
          <p:cNvSpPr txBox="1"/>
          <p:nvPr/>
        </p:nvSpPr>
        <p:spPr>
          <a:xfrm>
            <a:off x="2761488" y="1645920"/>
            <a:ext cx="3977640" cy="530352"/>
          </a:xfrm>
          <a:prstGeom prst="rect">
            <a:avLst/>
          </a:prstGeom>
          <a:noFill/>
          <a:ln/>
        </p:spPr>
        <p:txBody>
          <a:bodyPr wrap="square" lIns="0" tIns="0" rIns="0" bIns="0" rtlCol="0" anchor="ctr"/>
          <a:lstStyle/>
          <a:p>
            <a:pPr indent="0" marL="0">
              <a:buNone/>
            </a:pPr>
            <a:r>
              <a:rPr lang="en-US" sz="1100" dirty="0">
                <a:solidFill>
                  <a:srgbClr val="0B2545"/>
                </a:solidFill>
                <a:latin typeface="Calibri" pitchFamily="34" charset="0"/>
                <a:ea typeface="Calibri" pitchFamily="34" charset="-122"/>
                <a:cs typeface="Calibri" pitchFamily="34" charset="-120"/>
              </a:rPr>
              <a:t>PatientInput, DosingInput, PkResults, CaseUiState</a:t>
            </a:r>
            <a:endParaRPr lang="en-US" sz="1100" dirty="0"/>
          </a:p>
        </p:txBody>
      </p:sp>
      <p:sp>
        <p:nvSpPr>
          <p:cNvPr id="11" name="Text 8"/>
          <p:cNvSpPr txBox="1"/>
          <p:nvPr/>
        </p:nvSpPr>
        <p:spPr>
          <a:xfrm>
            <a:off x="6903720" y="1645920"/>
            <a:ext cx="4465015" cy="53035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Free equals/hashCode/toString and copy() — the basis of immutable state updates.</a:t>
            </a:r>
            <a:endParaRPr lang="en-US" sz="1100" dirty="0"/>
          </a:p>
        </p:txBody>
      </p:sp>
      <p:sp>
        <p:nvSpPr>
          <p:cNvPr id="12" name="Text 9"/>
          <p:cNvSpPr txBox="1"/>
          <p:nvPr/>
        </p:nvSpPr>
        <p:spPr>
          <a:xfrm>
            <a:off x="841248" y="2221992"/>
            <a:ext cx="1828800" cy="530352"/>
          </a:xfrm>
          <a:prstGeom prst="rect">
            <a:avLst/>
          </a:prstGeom>
          <a:noFill/>
          <a:ln/>
        </p:spPr>
        <p:txBody>
          <a:bodyPr wrap="square" lIns="0" tIns="0" rIns="0" bIns="0" rtlCol="0" anchor="ctr"/>
          <a:lstStyle/>
          <a:p>
            <a:pPr indent="0" marL="0">
              <a:buNone/>
            </a:pPr>
            <a:r>
              <a:rPr lang="en-US" sz="1150" b="1" dirty="0">
                <a:solidFill>
                  <a:srgbClr val="1464A8"/>
                </a:solidFill>
                <a:latin typeface="Courier New" pitchFamily="34" charset="0"/>
                <a:ea typeface="Courier New" pitchFamily="34" charset="-122"/>
                <a:cs typeface="Courier New" pitchFamily="34" charset="-120"/>
              </a:rPr>
              <a:t>sealed class</a:t>
            </a:r>
            <a:endParaRPr lang="en-US" sz="1150" dirty="0"/>
          </a:p>
        </p:txBody>
      </p:sp>
      <p:sp>
        <p:nvSpPr>
          <p:cNvPr id="13" name="Text 10"/>
          <p:cNvSpPr txBox="1"/>
          <p:nvPr/>
        </p:nvSpPr>
        <p:spPr>
          <a:xfrm>
            <a:off x="2761488" y="2221992"/>
            <a:ext cx="3977640" cy="530352"/>
          </a:xfrm>
          <a:prstGeom prst="rect">
            <a:avLst/>
          </a:prstGeom>
          <a:noFill/>
          <a:ln/>
        </p:spPr>
        <p:txBody>
          <a:bodyPr wrap="square" lIns="0" tIns="0" rIns="0" bIns="0" rtlCol="0" anchor="ctr"/>
          <a:lstStyle/>
          <a:p>
            <a:pPr indent="0" marL="0">
              <a:buNone/>
            </a:pPr>
            <a:r>
              <a:rPr lang="en-US" sz="1100" dirty="0">
                <a:solidFill>
                  <a:srgbClr val="0B2545"/>
                </a:solidFill>
                <a:latin typeface="Calibri" pitchFamily="34" charset="0"/>
                <a:ea typeface="Calibri" pitchFamily="34" charset="-122"/>
                <a:cs typeface="Calibri" pitchFamily="34" charset="-120"/>
              </a:rPr>
              <a:t>CalculationResult (Success | Failure), AuthState</a:t>
            </a:r>
            <a:endParaRPr lang="en-US" sz="1100" dirty="0"/>
          </a:p>
        </p:txBody>
      </p:sp>
      <p:sp>
        <p:nvSpPr>
          <p:cNvPr id="14" name="Text 11"/>
          <p:cNvSpPr txBox="1"/>
          <p:nvPr/>
        </p:nvSpPr>
        <p:spPr>
          <a:xfrm>
            <a:off x="6903720" y="2221992"/>
            <a:ext cx="4465015" cy="53035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A closed set of outcomes the when block must handle exhaustively — no forgotten branch.</a:t>
            </a:r>
            <a:endParaRPr lang="en-US" sz="1100" dirty="0"/>
          </a:p>
        </p:txBody>
      </p:sp>
      <p:sp>
        <p:nvSpPr>
          <p:cNvPr id="15" name="Shape 12"/>
          <p:cNvSpPr/>
          <p:nvPr/>
        </p:nvSpPr>
        <p:spPr>
          <a:xfrm>
            <a:off x="640080" y="2798064"/>
            <a:ext cx="10911535" cy="530352"/>
          </a:xfrm>
          <a:prstGeom prst="roundRect">
            <a:avLst>
              <a:gd name="adj" fmla="val 15517"/>
            </a:avLst>
          </a:prstGeom>
          <a:solidFill>
            <a:srgbClr val="F4F6F8"/>
          </a:solidFill>
          <a:ln w="12700">
            <a:solidFill>
              <a:srgbClr val="F4F6F8"/>
            </a:solidFill>
            <a:prstDash val="solid"/>
          </a:ln>
        </p:spPr>
      </p:sp>
      <p:sp>
        <p:nvSpPr>
          <p:cNvPr id="16" name="Text 13"/>
          <p:cNvSpPr txBox="1"/>
          <p:nvPr/>
        </p:nvSpPr>
        <p:spPr>
          <a:xfrm>
            <a:off x="841248" y="2798064"/>
            <a:ext cx="1828800" cy="530352"/>
          </a:xfrm>
          <a:prstGeom prst="rect">
            <a:avLst/>
          </a:prstGeom>
          <a:noFill/>
          <a:ln/>
        </p:spPr>
        <p:txBody>
          <a:bodyPr wrap="square" lIns="0" tIns="0" rIns="0" bIns="0" rtlCol="0" anchor="ctr"/>
          <a:lstStyle/>
          <a:p>
            <a:pPr indent="0" marL="0">
              <a:buNone/>
            </a:pPr>
            <a:r>
              <a:rPr lang="en-US" sz="1150" b="1" dirty="0">
                <a:solidFill>
                  <a:srgbClr val="1464A8"/>
                </a:solidFill>
                <a:latin typeface="Courier New" pitchFamily="34" charset="0"/>
                <a:ea typeface="Courier New" pitchFamily="34" charset="-122"/>
                <a:cs typeface="Courier New" pitchFamily="34" charset="-120"/>
              </a:rPr>
              <a:t>enum class</a:t>
            </a:r>
            <a:endParaRPr lang="en-US" sz="1150" dirty="0"/>
          </a:p>
        </p:txBody>
      </p:sp>
      <p:sp>
        <p:nvSpPr>
          <p:cNvPr id="17" name="Text 14"/>
          <p:cNvSpPr txBox="1"/>
          <p:nvPr/>
        </p:nvSpPr>
        <p:spPr>
          <a:xfrm>
            <a:off x="2761488" y="2798064"/>
            <a:ext cx="3977640" cy="530352"/>
          </a:xfrm>
          <a:prstGeom prst="rect">
            <a:avLst/>
          </a:prstGeom>
          <a:noFill/>
          <a:ln/>
        </p:spPr>
        <p:txBody>
          <a:bodyPr wrap="square" lIns="0" tIns="0" rIns="0" bIns="0" rtlCol="0" anchor="ctr"/>
          <a:lstStyle/>
          <a:p>
            <a:pPr indent="0" marL="0">
              <a:buNone/>
            </a:pPr>
            <a:r>
              <a:rPr lang="en-US" sz="1100" dirty="0">
                <a:solidFill>
                  <a:srgbClr val="0B2545"/>
                </a:solidFill>
                <a:latin typeface="Calibri" pitchFamily="34" charset="0"/>
                <a:ea typeface="Calibri" pitchFamily="34" charset="-122"/>
                <a:cs typeface="Calibri" pitchFamily="34" charset="-120"/>
              </a:rPr>
              <a:t>VancoWorkflow (PRE, POST, PRE_POST), Auc24Verdict</a:t>
            </a:r>
            <a:endParaRPr lang="en-US" sz="1100" dirty="0"/>
          </a:p>
        </p:txBody>
      </p:sp>
      <p:sp>
        <p:nvSpPr>
          <p:cNvPr id="18" name="Text 15"/>
          <p:cNvSpPr txBox="1"/>
          <p:nvPr/>
        </p:nvSpPr>
        <p:spPr>
          <a:xfrm>
            <a:off x="6903720" y="2798064"/>
            <a:ext cx="4465015" cy="53035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A fixed vocabulary the compiler enforces instead of magic strings.</a:t>
            </a:r>
            <a:endParaRPr lang="en-US" sz="1100" dirty="0"/>
          </a:p>
        </p:txBody>
      </p:sp>
      <p:sp>
        <p:nvSpPr>
          <p:cNvPr id="19" name="Text 16"/>
          <p:cNvSpPr txBox="1"/>
          <p:nvPr/>
        </p:nvSpPr>
        <p:spPr>
          <a:xfrm>
            <a:off x="841248" y="3374136"/>
            <a:ext cx="1828800" cy="530352"/>
          </a:xfrm>
          <a:prstGeom prst="rect">
            <a:avLst/>
          </a:prstGeom>
          <a:noFill/>
          <a:ln/>
        </p:spPr>
        <p:txBody>
          <a:bodyPr wrap="square" lIns="0" tIns="0" rIns="0" bIns="0" rtlCol="0" anchor="ctr"/>
          <a:lstStyle/>
          <a:p>
            <a:pPr indent="0" marL="0">
              <a:buNone/>
            </a:pPr>
            <a:r>
              <a:rPr lang="en-US" sz="1150" b="1" dirty="0">
                <a:solidFill>
                  <a:srgbClr val="1464A8"/>
                </a:solidFill>
                <a:latin typeface="Courier New" pitchFamily="34" charset="0"/>
                <a:ea typeface="Courier New" pitchFamily="34" charset="-122"/>
                <a:cs typeface="Courier New" pitchFamily="34" charset="-120"/>
              </a:rPr>
              <a:t>object (singleton)</a:t>
            </a:r>
            <a:endParaRPr lang="en-US" sz="1150" dirty="0"/>
          </a:p>
        </p:txBody>
      </p:sp>
      <p:sp>
        <p:nvSpPr>
          <p:cNvPr id="20" name="Text 17"/>
          <p:cNvSpPr txBox="1"/>
          <p:nvPr/>
        </p:nvSpPr>
        <p:spPr>
          <a:xfrm>
            <a:off x="2761488" y="3374136"/>
            <a:ext cx="3977640" cy="530352"/>
          </a:xfrm>
          <a:prstGeom prst="rect">
            <a:avLst/>
          </a:prstGeom>
          <a:noFill/>
          <a:ln/>
        </p:spPr>
        <p:txBody>
          <a:bodyPr wrap="square" lIns="0" tIns="0" rIns="0" bIns="0" rtlCol="0" anchor="ctr"/>
          <a:lstStyle/>
          <a:p>
            <a:pPr indent="0" marL="0">
              <a:buNone/>
            </a:pPr>
            <a:r>
              <a:rPr lang="en-US" sz="1100" dirty="0">
                <a:solidFill>
                  <a:srgbClr val="0B2545"/>
                </a:solidFill>
                <a:latin typeface="Calibri" pitchFamily="34" charset="0"/>
                <a:ea typeface="Calibri" pitchFamily="34" charset="-122"/>
                <a:cs typeface="Calibri" pitchFamily="34" charset="-120"/>
              </a:rPr>
              <a:t>VancoEngine, SupabaseClientProvider, Routes</a:t>
            </a:r>
            <a:endParaRPr lang="en-US" sz="1100" dirty="0"/>
          </a:p>
        </p:txBody>
      </p:sp>
      <p:sp>
        <p:nvSpPr>
          <p:cNvPr id="21" name="Text 18"/>
          <p:cNvSpPr txBox="1"/>
          <p:nvPr/>
        </p:nvSpPr>
        <p:spPr>
          <a:xfrm>
            <a:off x="6903720" y="3374136"/>
            <a:ext cx="4465015" cy="53035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One instance for the whole process — the engine is stateless, so it needs no more.</a:t>
            </a:r>
            <a:endParaRPr lang="en-US" sz="1100" dirty="0"/>
          </a:p>
        </p:txBody>
      </p:sp>
      <p:sp>
        <p:nvSpPr>
          <p:cNvPr id="22" name="Shape 19"/>
          <p:cNvSpPr/>
          <p:nvPr/>
        </p:nvSpPr>
        <p:spPr>
          <a:xfrm>
            <a:off x="640080" y="3950208"/>
            <a:ext cx="10911535" cy="530352"/>
          </a:xfrm>
          <a:prstGeom prst="roundRect">
            <a:avLst>
              <a:gd name="adj" fmla="val 15517"/>
            </a:avLst>
          </a:prstGeom>
          <a:solidFill>
            <a:srgbClr val="F4F6F8"/>
          </a:solidFill>
          <a:ln w="12700">
            <a:solidFill>
              <a:srgbClr val="F4F6F8"/>
            </a:solidFill>
            <a:prstDash val="solid"/>
          </a:ln>
        </p:spPr>
      </p:sp>
      <p:sp>
        <p:nvSpPr>
          <p:cNvPr id="23" name="Text 20"/>
          <p:cNvSpPr txBox="1"/>
          <p:nvPr/>
        </p:nvSpPr>
        <p:spPr>
          <a:xfrm>
            <a:off x="841248" y="3950208"/>
            <a:ext cx="1828800" cy="530352"/>
          </a:xfrm>
          <a:prstGeom prst="rect">
            <a:avLst/>
          </a:prstGeom>
          <a:noFill/>
          <a:ln/>
        </p:spPr>
        <p:txBody>
          <a:bodyPr wrap="square" lIns="0" tIns="0" rIns="0" bIns="0" rtlCol="0" anchor="ctr"/>
          <a:lstStyle/>
          <a:p>
            <a:pPr indent="0" marL="0">
              <a:buNone/>
            </a:pPr>
            <a:r>
              <a:rPr lang="en-US" sz="1150" b="1" dirty="0">
                <a:solidFill>
                  <a:srgbClr val="1464A8"/>
                </a:solidFill>
                <a:latin typeface="Courier New" pitchFamily="34" charset="0"/>
                <a:ea typeface="Courier New" pitchFamily="34" charset="-122"/>
                <a:cs typeface="Courier New" pitchFamily="34" charset="-120"/>
              </a:rPr>
              <a:t>Null safety</a:t>
            </a:r>
            <a:endParaRPr lang="en-US" sz="1150" dirty="0"/>
          </a:p>
        </p:txBody>
      </p:sp>
      <p:sp>
        <p:nvSpPr>
          <p:cNvPr id="24" name="Text 21"/>
          <p:cNvSpPr txBox="1"/>
          <p:nvPr/>
        </p:nvSpPr>
        <p:spPr>
          <a:xfrm>
            <a:off x="2761488" y="3950208"/>
            <a:ext cx="3977640" cy="530352"/>
          </a:xfrm>
          <a:prstGeom prst="rect">
            <a:avLst/>
          </a:prstGeom>
          <a:noFill/>
          <a:ln/>
        </p:spPr>
        <p:txBody>
          <a:bodyPr wrap="square" lIns="0" tIns="0" rIns="0" bIns="0" rtlCol="0" anchor="ctr"/>
          <a:lstStyle/>
          <a:p>
            <a:pPr indent="0" marL="0">
              <a:buNone/>
            </a:pPr>
            <a:r>
              <a:rPr lang="en-US" sz="1100" dirty="0">
                <a:solidFill>
                  <a:srgbClr val="0B2545"/>
                </a:solidFill>
                <a:latin typeface="Calibri" pitchFamily="34" charset="0"/>
                <a:ea typeface="Calibri" pitchFamily="34" charset="-122"/>
                <a:cs typeface="Calibri" pitchFamily="34" charset="-120"/>
              </a:rPr>
              <a:t>Double? for optional PK parameters; ?. and ?: everywhere</a:t>
            </a:r>
            <a:endParaRPr lang="en-US" sz="1100" dirty="0"/>
          </a:p>
        </p:txBody>
      </p:sp>
      <p:sp>
        <p:nvSpPr>
          <p:cNvPr id="25" name="Text 22"/>
          <p:cNvSpPr txBox="1"/>
          <p:nvPr/>
        </p:nvSpPr>
        <p:spPr>
          <a:xfrm>
            <a:off x="6903720" y="3950208"/>
            <a:ext cx="4465015" cy="53035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Not every workflow produces every parameter, and the type system says so.</a:t>
            </a:r>
            <a:endParaRPr lang="en-US" sz="1100" dirty="0"/>
          </a:p>
        </p:txBody>
      </p:sp>
      <p:sp>
        <p:nvSpPr>
          <p:cNvPr id="26" name="Text 23"/>
          <p:cNvSpPr txBox="1"/>
          <p:nvPr/>
        </p:nvSpPr>
        <p:spPr>
          <a:xfrm>
            <a:off x="841248" y="4526280"/>
            <a:ext cx="1828800" cy="530352"/>
          </a:xfrm>
          <a:prstGeom prst="rect">
            <a:avLst/>
          </a:prstGeom>
          <a:noFill/>
          <a:ln/>
        </p:spPr>
        <p:txBody>
          <a:bodyPr wrap="square" lIns="0" tIns="0" rIns="0" bIns="0" rtlCol="0" anchor="ctr"/>
          <a:lstStyle/>
          <a:p>
            <a:pPr indent="0" marL="0">
              <a:buNone/>
            </a:pPr>
            <a:r>
              <a:rPr lang="en-US" sz="1150" b="1" dirty="0">
                <a:solidFill>
                  <a:srgbClr val="1464A8"/>
                </a:solidFill>
                <a:latin typeface="Courier New" pitchFamily="34" charset="0"/>
                <a:ea typeface="Courier New" pitchFamily="34" charset="-122"/>
                <a:cs typeface="Courier New" pitchFamily="34" charset="-120"/>
              </a:rPr>
              <a:t>Coroutines &amp; Flow</a:t>
            </a:r>
            <a:endParaRPr lang="en-US" sz="1150" dirty="0"/>
          </a:p>
        </p:txBody>
      </p:sp>
      <p:sp>
        <p:nvSpPr>
          <p:cNvPr id="27" name="Text 24"/>
          <p:cNvSpPr txBox="1"/>
          <p:nvPr/>
        </p:nvSpPr>
        <p:spPr>
          <a:xfrm>
            <a:off x="2761488" y="4526280"/>
            <a:ext cx="3977640" cy="530352"/>
          </a:xfrm>
          <a:prstGeom prst="rect">
            <a:avLst/>
          </a:prstGeom>
          <a:noFill/>
          <a:ln/>
        </p:spPr>
        <p:txBody>
          <a:bodyPr wrap="square" lIns="0" tIns="0" rIns="0" bIns="0" rtlCol="0" anchor="ctr"/>
          <a:lstStyle/>
          <a:p>
            <a:pPr indent="0" marL="0">
              <a:buNone/>
            </a:pPr>
            <a:r>
              <a:rPr lang="en-US" sz="1100" dirty="0">
                <a:solidFill>
                  <a:srgbClr val="0B2545"/>
                </a:solidFill>
                <a:latin typeface="Calibri" pitchFamily="34" charset="0"/>
                <a:ea typeface="Calibri" pitchFamily="34" charset="-122"/>
                <a:cs typeface="Calibri" pitchFamily="34" charset="-120"/>
              </a:rPr>
              <a:t>viewModelScope.launch, suspend fun, StateFlow</a:t>
            </a:r>
            <a:endParaRPr lang="en-US" sz="1100" dirty="0"/>
          </a:p>
        </p:txBody>
      </p:sp>
      <p:sp>
        <p:nvSpPr>
          <p:cNvPr id="28" name="Text 25"/>
          <p:cNvSpPr txBox="1"/>
          <p:nvPr/>
        </p:nvSpPr>
        <p:spPr>
          <a:xfrm>
            <a:off x="6903720" y="4526280"/>
            <a:ext cx="4465015" cy="53035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Structured concurrency: async work is scoped, cancellable and off the main thread.</a:t>
            </a:r>
            <a:endParaRPr lang="en-US" sz="1100" dirty="0"/>
          </a:p>
        </p:txBody>
      </p:sp>
      <p:sp>
        <p:nvSpPr>
          <p:cNvPr id="29" name="Shape 26"/>
          <p:cNvSpPr/>
          <p:nvPr/>
        </p:nvSpPr>
        <p:spPr>
          <a:xfrm>
            <a:off x="640080" y="5102352"/>
            <a:ext cx="10911535" cy="530352"/>
          </a:xfrm>
          <a:prstGeom prst="roundRect">
            <a:avLst>
              <a:gd name="adj" fmla="val 15517"/>
            </a:avLst>
          </a:prstGeom>
          <a:solidFill>
            <a:srgbClr val="F4F6F8"/>
          </a:solidFill>
          <a:ln w="12700">
            <a:solidFill>
              <a:srgbClr val="F4F6F8"/>
            </a:solidFill>
            <a:prstDash val="solid"/>
          </a:ln>
        </p:spPr>
      </p:sp>
      <p:sp>
        <p:nvSpPr>
          <p:cNvPr id="30" name="Text 27"/>
          <p:cNvSpPr txBox="1"/>
          <p:nvPr/>
        </p:nvSpPr>
        <p:spPr>
          <a:xfrm>
            <a:off x="841248" y="5102352"/>
            <a:ext cx="1828800" cy="530352"/>
          </a:xfrm>
          <a:prstGeom prst="rect">
            <a:avLst/>
          </a:prstGeom>
          <a:noFill/>
          <a:ln/>
        </p:spPr>
        <p:txBody>
          <a:bodyPr wrap="square" lIns="0" tIns="0" rIns="0" bIns="0" rtlCol="0" anchor="ctr"/>
          <a:lstStyle/>
          <a:p>
            <a:pPr indent="0" marL="0">
              <a:buNone/>
            </a:pPr>
            <a:r>
              <a:rPr lang="en-US" sz="1150" b="1" dirty="0">
                <a:solidFill>
                  <a:srgbClr val="1464A8"/>
                </a:solidFill>
                <a:latin typeface="Courier New" pitchFamily="34" charset="0"/>
                <a:ea typeface="Courier New" pitchFamily="34" charset="-122"/>
                <a:cs typeface="Courier New" pitchFamily="34" charset="-120"/>
              </a:rPr>
              <a:t>Higher-order &amp; lambdas</a:t>
            </a:r>
            <a:endParaRPr lang="en-US" sz="1150" dirty="0"/>
          </a:p>
        </p:txBody>
      </p:sp>
      <p:sp>
        <p:nvSpPr>
          <p:cNvPr id="31" name="Text 28"/>
          <p:cNvSpPr txBox="1"/>
          <p:nvPr/>
        </p:nvSpPr>
        <p:spPr>
          <a:xfrm>
            <a:off x="2761488" y="5102352"/>
            <a:ext cx="3977640" cy="530352"/>
          </a:xfrm>
          <a:prstGeom prst="rect">
            <a:avLst/>
          </a:prstGeom>
          <a:noFill/>
          <a:ln/>
        </p:spPr>
        <p:txBody>
          <a:bodyPr wrap="square" lIns="0" tIns="0" rIns="0" bIns="0" rtlCol="0" anchor="ctr"/>
          <a:lstStyle/>
          <a:p>
            <a:pPr indent="0" marL="0">
              <a:buNone/>
            </a:pPr>
            <a:r>
              <a:rPr lang="en-US" sz="1100" dirty="0">
                <a:solidFill>
                  <a:srgbClr val="0B2545"/>
                </a:solidFill>
                <a:latin typeface="Calibri" pitchFamily="34" charset="0"/>
                <a:ea typeface="Calibri" pitchFamily="34" charset="-122"/>
                <a:cs typeface="Calibri" pitchFamily="34" charset="-120"/>
              </a:rPr>
              <a:t>_uiState.update { it.copy(...) }, onValueChange = { }</a:t>
            </a:r>
            <a:endParaRPr lang="en-US" sz="1100" dirty="0"/>
          </a:p>
        </p:txBody>
      </p:sp>
      <p:sp>
        <p:nvSpPr>
          <p:cNvPr id="32" name="Text 29"/>
          <p:cNvSpPr txBox="1"/>
          <p:nvPr/>
        </p:nvSpPr>
        <p:spPr>
          <a:xfrm>
            <a:off x="6903720" y="5102352"/>
            <a:ext cx="4465015" cy="53035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Behaviour passed as a value — how Compose callbacks and state updates are written.</a:t>
            </a:r>
            <a:endParaRPr lang="en-US" sz="1100" dirty="0"/>
          </a:p>
        </p:txBody>
      </p:sp>
      <p:sp>
        <p:nvSpPr>
          <p:cNvPr id="33" name="Text 30"/>
          <p:cNvSpPr txBox="1"/>
          <p:nvPr/>
        </p:nvSpPr>
        <p:spPr>
          <a:xfrm>
            <a:off x="841248" y="5678424"/>
            <a:ext cx="1828800" cy="530352"/>
          </a:xfrm>
          <a:prstGeom prst="rect">
            <a:avLst/>
          </a:prstGeom>
          <a:noFill/>
          <a:ln/>
        </p:spPr>
        <p:txBody>
          <a:bodyPr wrap="square" lIns="0" tIns="0" rIns="0" bIns="0" rtlCol="0" anchor="ctr"/>
          <a:lstStyle/>
          <a:p>
            <a:pPr indent="0" marL="0">
              <a:buNone/>
            </a:pPr>
            <a:r>
              <a:rPr lang="en-US" sz="1150" b="1" dirty="0">
                <a:solidFill>
                  <a:srgbClr val="1464A8"/>
                </a:solidFill>
                <a:latin typeface="Courier New" pitchFamily="34" charset="0"/>
                <a:ea typeface="Courier New" pitchFamily="34" charset="-122"/>
                <a:cs typeface="Courier New" pitchFamily="34" charset="-120"/>
              </a:rPr>
              <a:t>Immutability (val)</a:t>
            </a:r>
            <a:endParaRPr lang="en-US" sz="1150" dirty="0"/>
          </a:p>
        </p:txBody>
      </p:sp>
      <p:sp>
        <p:nvSpPr>
          <p:cNvPr id="34" name="Text 31"/>
          <p:cNvSpPr txBox="1"/>
          <p:nvPr/>
        </p:nvSpPr>
        <p:spPr>
          <a:xfrm>
            <a:off x="2761488" y="5678424"/>
            <a:ext cx="3977640" cy="530352"/>
          </a:xfrm>
          <a:prstGeom prst="rect">
            <a:avLst/>
          </a:prstGeom>
          <a:noFill/>
          <a:ln/>
        </p:spPr>
        <p:txBody>
          <a:bodyPr wrap="square" lIns="0" tIns="0" rIns="0" bIns="0" rtlCol="0" anchor="ctr"/>
          <a:lstStyle/>
          <a:p>
            <a:pPr indent="0" marL="0">
              <a:buNone/>
            </a:pPr>
            <a:r>
              <a:rPr lang="en-US" sz="1100" dirty="0">
                <a:solidFill>
                  <a:srgbClr val="0B2545"/>
                </a:solidFill>
                <a:latin typeface="Calibri" pitchFamily="34" charset="0"/>
                <a:ea typeface="Calibri" pitchFamily="34" charset="-122"/>
                <a:cs typeface="Calibri" pitchFamily="34" charset="-120"/>
              </a:rPr>
              <a:t>Almost every declaration in the project is val</a:t>
            </a:r>
            <a:endParaRPr lang="en-US" sz="1100" dirty="0"/>
          </a:p>
        </p:txBody>
      </p:sp>
      <p:sp>
        <p:nvSpPr>
          <p:cNvPr id="35" name="Text 32"/>
          <p:cNvSpPr txBox="1"/>
          <p:nvPr/>
        </p:nvSpPr>
        <p:spPr>
          <a:xfrm>
            <a:off x="6903720" y="5678424"/>
            <a:ext cx="4465015" cy="530352"/>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State is replaced, not mutated — which is exactly what recomposition needs.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06 · LANGUAGE CONCEPTS</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Variables and data types — the real ones in the code</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Every clinical quantity is a typed val with its unit written into the property name.</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18</a:t>
            </a:r>
            <a:endParaRPr lang="en-US" sz="900" dirty="0"/>
          </a:p>
        </p:txBody>
      </p:sp>
      <p:sp>
        <p:nvSpPr>
          <p:cNvPr id="8" name="Shape 5"/>
          <p:cNvSpPr/>
          <p:nvPr/>
        </p:nvSpPr>
        <p:spPr>
          <a:xfrm>
            <a:off x="640080" y="1691640"/>
            <a:ext cx="6537960" cy="2327910"/>
          </a:xfrm>
          <a:prstGeom prst="roundRect">
            <a:avLst>
              <a:gd name="adj" fmla="val 3535"/>
            </a:avLst>
          </a:prstGeom>
          <a:solidFill>
            <a:srgbClr val="0F2237"/>
          </a:solidFill>
          <a:ln w="12700">
            <a:solidFill>
              <a:srgbClr val="0F2237"/>
            </a:solidFill>
            <a:prstDash val="solid"/>
          </a:ln>
        </p:spPr>
      </p:sp>
      <p:sp>
        <p:nvSpPr>
          <p:cNvPr id="9" name="Text 6"/>
          <p:cNvSpPr txBox="1"/>
          <p:nvPr/>
        </p:nvSpPr>
        <p:spPr>
          <a:xfrm>
            <a:off x="804672" y="1828800"/>
            <a:ext cx="6208776" cy="2053590"/>
          </a:xfrm>
          <a:prstGeom prst="rect">
            <a:avLst/>
          </a:prstGeom>
          <a:noFill/>
          <a:ln/>
        </p:spPr>
        <p:txBody>
          <a:bodyPr wrap="square" lIns="0" tIns="0" rIns="0" bIns="0" rtlCol="0" anchor="t"/>
          <a:lstStyle/>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data class PatientInput(</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val caseId: String   = "",     // case label</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val weightKg: Double = 0.0,    // kg</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val heightCm: Double = 0.0,    // cm</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val ageLYears: Int   = 0,      // years</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val isMale: Boolean  = true,   // sex factor</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val scrUmolL: Double = 0.0,    // umol/L</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a:t>
            </a:r>
            <a:endParaRPr lang="en-US" sz="1050" dirty="0"/>
          </a:p>
          <a:p>
            <a:pPr indent="0" marL="0">
              <a:lnSpc>
                <a:spcPts val="1470"/>
              </a:lnSpc>
              <a:buNone/>
            </a:pP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val kePerHour: Double?   = null    // nullable: not every</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val auc24: Double?       = null    // workflow yields it</a:t>
            </a:r>
            <a:endParaRPr lang="en-US" sz="1050" dirty="0"/>
          </a:p>
        </p:txBody>
      </p:sp>
      <p:sp>
        <p:nvSpPr>
          <p:cNvPr id="10" name="Text 7"/>
          <p:cNvSpPr txBox="1"/>
          <p:nvPr/>
        </p:nvSpPr>
        <p:spPr>
          <a:xfrm>
            <a:off x="640080" y="4645152"/>
            <a:ext cx="6537960" cy="274320"/>
          </a:xfrm>
          <a:prstGeom prst="rect">
            <a:avLst/>
          </a:prstGeom>
          <a:noFill/>
          <a:ln/>
        </p:spPr>
        <p:txBody>
          <a:bodyPr wrap="square" lIns="0" tIns="0" rIns="0" bIns="0" rtlCol="0" anchor="ctr"/>
          <a:lstStyle/>
          <a:p>
            <a:pPr indent="0" marL="0">
              <a:buNone/>
            </a:pPr>
            <a:r>
              <a:rPr lang="en-US" sz="1300" b="1" dirty="0">
                <a:solidFill>
                  <a:srgbClr val="1464A8"/>
                </a:solidFill>
                <a:latin typeface="Calibri" pitchFamily="34" charset="0"/>
                <a:ea typeface="Calibri" pitchFamily="34" charset="-122"/>
                <a:cs typeface="Calibri" pitchFamily="34" charset="-120"/>
              </a:rPr>
              <a:t>val vs var</a:t>
            </a:r>
            <a:endParaRPr lang="en-US" sz="1300" dirty="0"/>
          </a:p>
        </p:txBody>
      </p:sp>
      <p:sp>
        <p:nvSpPr>
          <p:cNvPr id="11" name="Text 8"/>
          <p:cNvSpPr txBox="1"/>
          <p:nvPr/>
        </p:nvSpPr>
        <p:spPr>
          <a:xfrm>
            <a:off x="640080" y="4956048"/>
            <a:ext cx="6537960" cy="109728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26323F"/>
                </a:solidFill>
                <a:latin typeface="Calibri" pitchFamily="34" charset="0"/>
                <a:ea typeface="Calibri" pitchFamily="34" charset="-122"/>
                <a:cs typeface="Calibri" pitchFamily="34" charset="-120"/>
              </a:rPr>
              <a:t>val = read-only reference (used almost everywhere) — a new object is created instead of editing the old one.</a:t>
            </a:r>
            <a:endParaRPr lang="en-US" sz="1200" dirty="0"/>
          </a:p>
          <a:p>
            <a:pPr marL="342900" indent="-342900">
              <a:spcAft>
                <a:spcPts val="700"/>
              </a:spcAft>
              <a:buSzPct val="100000"/>
              <a:buChar char="•"/>
            </a:pPr>
            <a:r>
              <a:rPr lang="en-US" sz="1200" dirty="0">
                <a:solidFill>
                  <a:srgbClr val="26323F"/>
                </a:solidFill>
                <a:latin typeface="Calibri" pitchFamily="34" charset="0"/>
                <a:ea typeface="Calibri" pitchFamily="34" charset="-122"/>
                <a:cs typeface="Calibri" pitchFamily="34" charset="-120"/>
              </a:rPr>
              <a:t>var appears only inside the Newton–Raphson loop, where a value genuinely has to change between iterations.</a:t>
            </a:r>
            <a:endParaRPr lang="en-US" sz="1200" dirty="0"/>
          </a:p>
        </p:txBody>
      </p:sp>
      <p:sp>
        <p:nvSpPr>
          <p:cNvPr id="12" name="Shape 9"/>
          <p:cNvSpPr/>
          <p:nvPr/>
        </p:nvSpPr>
        <p:spPr>
          <a:xfrm>
            <a:off x="7498080" y="1691640"/>
            <a:ext cx="4053535" cy="4389120"/>
          </a:xfrm>
          <a:prstGeom prst="roundRect">
            <a:avLst>
              <a:gd name="adj" fmla="val 2030"/>
            </a:avLst>
          </a:prstGeom>
          <a:solidFill>
            <a:srgbClr val="EAF2FA"/>
          </a:solidFill>
          <a:ln w="12700">
            <a:solidFill>
              <a:srgbClr val="EAF2FA"/>
            </a:solidFill>
            <a:prstDash val="solid"/>
          </a:ln>
        </p:spPr>
      </p:sp>
      <p:sp>
        <p:nvSpPr>
          <p:cNvPr id="13" name="Text 10"/>
          <p:cNvSpPr txBox="1"/>
          <p:nvPr/>
        </p:nvSpPr>
        <p:spPr>
          <a:xfrm>
            <a:off x="7772400" y="1856232"/>
            <a:ext cx="3504895" cy="292608"/>
          </a:xfrm>
          <a:prstGeom prst="rect">
            <a:avLst/>
          </a:prstGeom>
          <a:noFill/>
          <a:ln/>
        </p:spPr>
        <p:txBody>
          <a:bodyPr wrap="square" lIns="0" tIns="0" rIns="0" bIns="0" rtlCol="0" anchor="ctr"/>
          <a:lstStyle/>
          <a:p>
            <a:pPr indent="0" marL="0">
              <a:buNone/>
            </a:pPr>
            <a:r>
              <a:rPr lang="en-US" sz="1900" b="1" dirty="0">
                <a:solidFill>
                  <a:srgbClr val="073A6B"/>
                </a:solidFill>
                <a:latin typeface="Cambria" pitchFamily="34" charset="0"/>
                <a:ea typeface="Cambria" pitchFamily="34" charset="-122"/>
                <a:cs typeface="Cambria" pitchFamily="34" charset="-120"/>
              </a:rPr>
              <a:t>Types used, and why</a:t>
            </a:r>
            <a:endParaRPr lang="en-US" sz="1900" dirty="0"/>
          </a:p>
        </p:txBody>
      </p:sp>
      <p:sp>
        <p:nvSpPr>
          <p:cNvPr id="14" name="Text 11"/>
          <p:cNvSpPr txBox="1"/>
          <p:nvPr/>
        </p:nvSpPr>
        <p:spPr>
          <a:xfrm>
            <a:off x="7772400" y="2286000"/>
            <a:ext cx="1417320" cy="502920"/>
          </a:xfrm>
          <a:prstGeom prst="rect">
            <a:avLst/>
          </a:prstGeom>
          <a:noFill/>
          <a:ln/>
        </p:spPr>
        <p:txBody>
          <a:bodyPr wrap="square" lIns="0" tIns="0" rIns="0" bIns="0" rtlCol="0" anchor="ctr"/>
          <a:lstStyle/>
          <a:p>
            <a:pPr indent="0" marL="0">
              <a:buNone/>
            </a:pPr>
            <a:r>
              <a:rPr lang="en-US" sz="1100" b="1" dirty="0">
                <a:solidFill>
                  <a:srgbClr val="1464A8"/>
                </a:solidFill>
                <a:latin typeface="Courier New" pitchFamily="34" charset="0"/>
                <a:ea typeface="Courier New" pitchFamily="34" charset="-122"/>
                <a:cs typeface="Courier New" pitchFamily="34" charset="-120"/>
              </a:rPr>
              <a:t>Double</a:t>
            </a:r>
            <a:endParaRPr lang="en-US" sz="1100" dirty="0"/>
          </a:p>
        </p:txBody>
      </p:sp>
      <p:sp>
        <p:nvSpPr>
          <p:cNvPr id="15" name="Text 12"/>
          <p:cNvSpPr txBox="1"/>
          <p:nvPr/>
        </p:nvSpPr>
        <p:spPr>
          <a:xfrm>
            <a:off x="9235440" y="2286000"/>
            <a:ext cx="2041855" cy="502920"/>
          </a:xfrm>
          <a:prstGeom prst="rect">
            <a:avLst/>
          </a:prstGeom>
          <a:noFill/>
          <a:ln/>
        </p:spPr>
        <p:txBody>
          <a:bodyPr wrap="square" lIns="0" tIns="0" rIns="0" bIns="0" rtlCol="0" anchor="ctr"/>
          <a:lstStyle/>
          <a:p>
            <a:pPr indent="0" marL="0">
              <a:buNone/>
            </a:pPr>
            <a:r>
              <a:rPr lang="en-US" sz="1050" dirty="0">
                <a:solidFill>
                  <a:srgbClr val="0B2545"/>
                </a:solidFill>
                <a:latin typeface="Calibri" pitchFamily="34" charset="0"/>
                <a:ea typeface="Calibri" pitchFamily="34" charset="-122"/>
                <a:cs typeface="Calibri" pitchFamily="34" charset="-120"/>
              </a:rPr>
              <a:t>All clinical measurements — concentrations, doses, times, PK parameters. Precision matters.</a:t>
            </a:r>
            <a:endParaRPr lang="en-US" sz="1050" dirty="0"/>
          </a:p>
        </p:txBody>
      </p:sp>
      <p:sp>
        <p:nvSpPr>
          <p:cNvPr id="16" name="Text 13"/>
          <p:cNvSpPr txBox="1"/>
          <p:nvPr/>
        </p:nvSpPr>
        <p:spPr>
          <a:xfrm>
            <a:off x="7772400" y="2834640"/>
            <a:ext cx="1417320" cy="502920"/>
          </a:xfrm>
          <a:prstGeom prst="rect">
            <a:avLst/>
          </a:prstGeom>
          <a:noFill/>
          <a:ln/>
        </p:spPr>
        <p:txBody>
          <a:bodyPr wrap="square" lIns="0" tIns="0" rIns="0" bIns="0" rtlCol="0" anchor="ctr"/>
          <a:lstStyle/>
          <a:p>
            <a:pPr indent="0" marL="0">
              <a:buNone/>
            </a:pPr>
            <a:r>
              <a:rPr lang="en-US" sz="1100" b="1" dirty="0">
                <a:solidFill>
                  <a:srgbClr val="1464A8"/>
                </a:solidFill>
                <a:latin typeface="Courier New" pitchFamily="34" charset="0"/>
                <a:ea typeface="Courier New" pitchFamily="34" charset="-122"/>
                <a:cs typeface="Courier New" pitchFamily="34" charset="-120"/>
              </a:rPr>
              <a:t>Int</a:t>
            </a:r>
            <a:endParaRPr lang="en-US" sz="1100" dirty="0"/>
          </a:p>
        </p:txBody>
      </p:sp>
      <p:sp>
        <p:nvSpPr>
          <p:cNvPr id="17" name="Text 14"/>
          <p:cNvSpPr txBox="1"/>
          <p:nvPr/>
        </p:nvSpPr>
        <p:spPr>
          <a:xfrm>
            <a:off x="9235440" y="2834640"/>
            <a:ext cx="2041855" cy="502920"/>
          </a:xfrm>
          <a:prstGeom prst="rect">
            <a:avLst/>
          </a:prstGeom>
          <a:noFill/>
          <a:ln/>
        </p:spPr>
        <p:txBody>
          <a:bodyPr wrap="square" lIns="0" tIns="0" rIns="0" bIns="0" rtlCol="0" anchor="ctr"/>
          <a:lstStyle/>
          <a:p>
            <a:pPr indent="0" marL="0">
              <a:buNone/>
            </a:pPr>
            <a:r>
              <a:rPr lang="en-US" sz="1050" dirty="0">
                <a:solidFill>
                  <a:srgbClr val="0B2545"/>
                </a:solidFill>
                <a:latin typeface="Calibri" pitchFamily="34" charset="0"/>
                <a:ea typeface="Calibri" pitchFamily="34" charset="-122"/>
                <a:cs typeface="Calibri" pitchFamily="34" charset="-120"/>
              </a:rPr>
              <a:t>Age in whole years.</a:t>
            </a:r>
            <a:endParaRPr lang="en-US" sz="1050" dirty="0"/>
          </a:p>
        </p:txBody>
      </p:sp>
      <p:sp>
        <p:nvSpPr>
          <p:cNvPr id="18" name="Text 15"/>
          <p:cNvSpPr txBox="1"/>
          <p:nvPr/>
        </p:nvSpPr>
        <p:spPr>
          <a:xfrm>
            <a:off x="7772400" y="3383280"/>
            <a:ext cx="1417320" cy="502920"/>
          </a:xfrm>
          <a:prstGeom prst="rect">
            <a:avLst/>
          </a:prstGeom>
          <a:noFill/>
          <a:ln/>
        </p:spPr>
        <p:txBody>
          <a:bodyPr wrap="square" lIns="0" tIns="0" rIns="0" bIns="0" rtlCol="0" anchor="ctr"/>
          <a:lstStyle/>
          <a:p>
            <a:pPr indent="0" marL="0">
              <a:buNone/>
            </a:pPr>
            <a:r>
              <a:rPr lang="en-US" sz="1100" b="1" dirty="0">
                <a:solidFill>
                  <a:srgbClr val="1464A8"/>
                </a:solidFill>
                <a:latin typeface="Courier New" pitchFamily="34" charset="0"/>
                <a:ea typeface="Courier New" pitchFamily="34" charset="-122"/>
                <a:cs typeface="Courier New" pitchFamily="34" charset="-120"/>
              </a:rPr>
              <a:t>Boolean</a:t>
            </a:r>
            <a:endParaRPr lang="en-US" sz="1100" dirty="0"/>
          </a:p>
        </p:txBody>
      </p:sp>
      <p:sp>
        <p:nvSpPr>
          <p:cNvPr id="19" name="Text 16"/>
          <p:cNvSpPr txBox="1"/>
          <p:nvPr/>
        </p:nvSpPr>
        <p:spPr>
          <a:xfrm>
            <a:off x="9235440" y="3383280"/>
            <a:ext cx="2041855" cy="502920"/>
          </a:xfrm>
          <a:prstGeom prst="rect">
            <a:avLst/>
          </a:prstGeom>
          <a:noFill/>
          <a:ln/>
        </p:spPr>
        <p:txBody>
          <a:bodyPr wrap="square" lIns="0" tIns="0" rIns="0" bIns="0" rtlCol="0" anchor="ctr"/>
          <a:lstStyle/>
          <a:p>
            <a:pPr indent="0" marL="0">
              <a:buNone/>
            </a:pPr>
            <a:r>
              <a:rPr lang="en-US" sz="1050" dirty="0">
                <a:solidFill>
                  <a:srgbClr val="0B2545"/>
                </a:solidFill>
                <a:latin typeface="Calibri" pitchFamily="34" charset="0"/>
                <a:ea typeface="Calibri" pitchFamily="34" charset="-122"/>
                <a:cs typeface="Calibri" pitchFamily="34" charset="-120"/>
              </a:rPr>
              <a:t>isMale (Cockcroft–Gault sex factor), isCalculating.</a:t>
            </a:r>
            <a:endParaRPr lang="en-US" sz="1050" dirty="0"/>
          </a:p>
        </p:txBody>
      </p:sp>
      <p:sp>
        <p:nvSpPr>
          <p:cNvPr id="20" name="Text 17"/>
          <p:cNvSpPr txBox="1"/>
          <p:nvPr/>
        </p:nvSpPr>
        <p:spPr>
          <a:xfrm>
            <a:off x="7772400" y="3931920"/>
            <a:ext cx="1417320" cy="502920"/>
          </a:xfrm>
          <a:prstGeom prst="rect">
            <a:avLst/>
          </a:prstGeom>
          <a:noFill/>
          <a:ln/>
        </p:spPr>
        <p:txBody>
          <a:bodyPr wrap="square" lIns="0" tIns="0" rIns="0" bIns="0" rtlCol="0" anchor="ctr"/>
          <a:lstStyle/>
          <a:p>
            <a:pPr indent="0" marL="0">
              <a:buNone/>
            </a:pPr>
            <a:r>
              <a:rPr lang="en-US" sz="1100" b="1" dirty="0">
                <a:solidFill>
                  <a:srgbClr val="1464A8"/>
                </a:solidFill>
                <a:latin typeface="Courier New" pitchFamily="34" charset="0"/>
                <a:ea typeface="Courier New" pitchFamily="34" charset="-122"/>
                <a:cs typeface="Courier New" pitchFamily="34" charset="-120"/>
              </a:rPr>
              <a:t>String</a:t>
            </a:r>
            <a:endParaRPr lang="en-US" sz="1100" dirty="0"/>
          </a:p>
        </p:txBody>
      </p:sp>
      <p:sp>
        <p:nvSpPr>
          <p:cNvPr id="21" name="Text 18"/>
          <p:cNvSpPr txBox="1"/>
          <p:nvPr/>
        </p:nvSpPr>
        <p:spPr>
          <a:xfrm>
            <a:off x="9235440" y="3931920"/>
            <a:ext cx="2041855" cy="502920"/>
          </a:xfrm>
          <a:prstGeom prst="rect">
            <a:avLst/>
          </a:prstGeom>
          <a:noFill/>
          <a:ln/>
        </p:spPr>
        <p:txBody>
          <a:bodyPr wrap="square" lIns="0" tIns="0" rIns="0" bIns="0" rtlCol="0" anchor="ctr"/>
          <a:lstStyle/>
          <a:p>
            <a:pPr indent="0" marL="0">
              <a:buNone/>
            </a:pPr>
            <a:r>
              <a:rPr lang="en-US" sz="1050" dirty="0">
                <a:solidFill>
                  <a:srgbClr val="0B2545"/>
                </a:solidFill>
                <a:latin typeface="Calibri" pitchFamily="34" charset="0"/>
                <a:ea typeface="Calibri" pitchFamily="34" charset="-122"/>
                <a:cs typeface="Calibri" pitchFamily="34" charset="-120"/>
              </a:rPr>
              <a:t>caseId, Clerk userId, route names, error messages.</a:t>
            </a:r>
            <a:endParaRPr lang="en-US" sz="1050" dirty="0"/>
          </a:p>
        </p:txBody>
      </p:sp>
      <p:sp>
        <p:nvSpPr>
          <p:cNvPr id="22" name="Text 19"/>
          <p:cNvSpPr txBox="1"/>
          <p:nvPr/>
        </p:nvSpPr>
        <p:spPr>
          <a:xfrm>
            <a:off x="7772400" y="4480560"/>
            <a:ext cx="1417320" cy="502920"/>
          </a:xfrm>
          <a:prstGeom prst="rect">
            <a:avLst/>
          </a:prstGeom>
          <a:noFill/>
          <a:ln/>
        </p:spPr>
        <p:txBody>
          <a:bodyPr wrap="square" lIns="0" tIns="0" rIns="0" bIns="0" rtlCol="0" anchor="ctr"/>
          <a:lstStyle/>
          <a:p>
            <a:pPr indent="0" marL="0">
              <a:buNone/>
            </a:pPr>
            <a:r>
              <a:rPr lang="en-US" sz="1100" b="1" dirty="0">
                <a:solidFill>
                  <a:srgbClr val="1464A8"/>
                </a:solidFill>
                <a:latin typeface="Courier New" pitchFamily="34" charset="0"/>
                <a:ea typeface="Courier New" pitchFamily="34" charset="-122"/>
                <a:cs typeface="Courier New" pitchFamily="34" charset="-120"/>
              </a:rPr>
              <a:t>Double?</a:t>
            </a:r>
            <a:endParaRPr lang="en-US" sz="1100" dirty="0"/>
          </a:p>
        </p:txBody>
      </p:sp>
      <p:sp>
        <p:nvSpPr>
          <p:cNvPr id="23" name="Text 20"/>
          <p:cNvSpPr txBox="1"/>
          <p:nvPr/>
        </p:nvSpPr>
        <p:spPr>
          <a:xfrm>
            <a:off x="9235440" y="4480560"/>
            <a:ext cx="2041855" cy="502920"/>
          </a:xfrm>
          <a:prstGeom prst="rect">
            <a:avLst/>
          </a:prstGeom>
          <a:noFill/>
          <a:ln/>
        </p:spPr>
        <p:txBody>
          <a:bodyPr wrap="square" lIns="0" tIns="0" rIns="0" bIns="0" rtlCol="0" anchor="ctr"/>
          <a:lstStyle/>
          <a:p>
            <a:pPr indent="0" marL="0">
              <a:buNone/>
            </a:pPr>
            <a:r>
              <a:rPr lang="en-US" sz="1050" dirty="0">
                <a:solidFill>
                  <a:srgbClr val="0B2545"/>
                </a:solidFill>
                <a:latin typeface="Calibri" pitchFamily="34" charset="0"/>
                <a:ea typeface="Calibri" pitchFamily="34" charset="-122"/>
                <a:cs typeface="Calibri" pitchFamily="34" charset="-120"/>
              </a:rPr>
              <a:t>Optional PK outputs — null means “this workflow does not produce it”.</a:t>
            </a:r>
            <a:endParaRPr lang="en-US" sz="1050" dirty="0"/>
          </a:p>
        </p:txBody>
      </p:sp>
      <p:sp>
        <p:nvSpPr>
          <p:cNvPr id="24" name="Text 21"/>
          <p:cNvSpPr txBox="1"/>
          <p:nvPr/>
        </p:nvSpPr>
        <p:spPr>
          <a:xfrm>
            <a:off x="7772400" y="5029200"/>
            <a:ext cx="1417320" cy="502920"/>
          </a:xfrm>
          <a:prstGeom prst="rect">
            <a:avLst/>
          </a:prstGeom>
          <a:noFill/>
          <a:ln/>
        </p:spPr>
        <p:txBody>
          <a:bodyPr wrap="square" lIns="0" tIns="0" rIns="0" bIns="0" rtlCol="0" anchor="ctr"/>
          <a:lstStyle/>
          <a:p>
            <a:pPr indent="0" marL="0">
              <a:buNone/>
            </a:pPr>
            <a:r>
              <a:rPr lang="en-US" sz="1100" b="1" dirty="0">
                <a:solidFill>
                  <a:srgbClr val="1464A8"/>
                </a:solidFill>
                <a:latin typeface="Courier New" pitchFamily="34" charset="0"/>
                <a:ea typeface="Courier New" pitchFamily="34" charset="-122"/>
                <a:cs typeface="Courier New" pitchFamily="34" charset="-120"/>
              </a:rPr>
              <a:t>List&lt;HistoryEntry&gt;</a:t>
            </a:r>
            <a:endParaRPr lang="en-US" sz="1100" dirty="0"/>
          </a:p>
        </p:txBody>
      </p:sp>
      <p:sp>
        <p:nvSpPr>
          <p:cNvPr id="25" name="Text 22"/>
          <p:cNvSpPr txBox="1"/>
          <p:nvPr/>
        </p:nvSpPr>
        <p:spPr>
          <a:xfrm>
            <a:off x="9235440" y="5029200"/>
            <a:ext cx="2041855" cy="502920"/>
          </a:xfrm>
          <a:prstGeom prst="rect">
            <a:avLst/>
          </a:prstGeom>
          <a:noFill/>
          <a:ln/>
        </p:spPr>
        <p:txBody>
          <a:bodyPr wrap="square" lIns="0" tIns="0" rIns="0" bIns="0" rtlCol="0" anchor="ctr"/>
          <a:lstStyle/>
          <a:p>
            <a:pPr indent="0" marL="0">
              <a:buNone/>
            </a:pPr>
            <a:r>
              <a:rPr lang="en-US" sz="1050" dirty="0">
                <a:solidFill>
                  <a:srgbClr val="0B2545"/>
                </a:solidFill>
                <a:latin typeface="Calibri" pitchFamily="34" charset="0"/>
                <a:ea typeface="Calibri" pitchFamily="34" charset="-122"/>
                <a:cs typeface="Calibri" pitchFamily="34" charset="-120"/>
              </a:rPr>
              <a:t>The 20 most recent cases returned by Supabase.</a:t>
            </a:r>
            <a:endParaRPr lang="en-US" sz="1050" dirty="0"/>
          </a:p>
        </p:txBody>
      </p:sp>
      <p:sp>
        <p:nvSpPr>
          <p:cNvPr id="26" name="Text 23"/>
          <p:cNvSpPr txBox="1"/>
          <p:nvPr/>
        </p:nvSpPr>
        <p:spPr>
          <a:xfrm>
            <a:off x="7772400" y="5577840"/>
            <a:ext cx="1417320" cy="502920"/>
          </a:xfrm>
          <a:prstGeom prst="rect">
            <a:avLst/>
          </a:prstGeom>
          <a:noFill/>
          <a:ln/>
        </p:spPr>
        <p:txBody>
          <a:bodyPr wrap="square" lIns="0" tIns="0" rIns="0" bIns="0" rtlCol="0" anchor="ctr"/>
          <a:lstStyle/>
          <a:p>
            <a:pPr indent="0" marL="0">
              <a:buNone/>
            </a:pPr>
            <a:r>
              <a:rPr lang="en-US" sz="1100" b="1" dirty="0">
                <a:solidFill>
                  <a:srgbClr val="1464A8"/>
                </a:solidFill>
                <a:latin typeface="Courier New" pitchFamily="34" charset="0"/>
                <a:ea typeface="Courier New" pitchFamily="34" charset="-122"/>
                <a:cs typeface="Courier New" pitchFamily="34" charset="-120"/>
              </a:rPr>
              <a:t>enum / sealed</a:t>
            </a:r>
            <a:endParaRPr lang="en-US" sz="1100" dirty="0"/>
          </a:p>
        </p:txBody>
      </p:sp>
      <p:sp>
        <p:nvSpPr>
          <p:cNvPr id="27" name="Text 24"/>
          <p:cNvSpPr txBox="1"/>
          <p:nvPr/>
        </p:nvSpPr>
        <p:spPr>
          <a:xfrm>
            <a:off x="9235440" y="5577840"/>
            <a:ext cx="2041855" cy="502920"/>
          </a:xfrm>
          <a:prstGeom prst="rect">
            <a:avLst/>
          </a:prstGeom>
          <a:noFill/>
          <a:ln/>
        </p:spPr>
        <p:txBody>
          <a:bodyPr wrap="square" lIns="0" tIns="0" rIns="0" bIns="0" rtlCol="0" anchor="ctr"/>
          <a:lstStyle/>
          <a:p>
            <a:pPr indent="0" marL="0">
              <a:buNone/>
            </a:pPr>
            <a:r>
              <a:rPr lang="en-US" sz="1050" dirty="0">
                <a:solidFill>
                  <a:srgbClr val="0B2545"/>
                </a:solidFill>
                <a:latin typeface="Calibri" pitchFamily="34" charset="0"/>
                <a:ea typeface="Calibri" pitchFamily="34" charset="-122"/>
                <a:cs typeface="Calibri" pitchFamily="34" charset="-120"/>
              </a:rPr>
              <a:t>Workflow selection and calculation outcome.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07 · THE ENGINE</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Layer 3 — VancoEngine, pure Kotlin with zero Android</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The whole clinical model lives in one stateless object. It imports kotlin.math and nothing else from the platform.</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19</a:t>
            </a:r>
            <a:endParaRPr lang="en-US" sz="900" dirty="0"/>
          </a:p>
        </p:txBody>
      </p:sp>
      <p:sp>
        <p:nvSpPr>
          <p:cNvPr id="8" name="Shape 5"/>
          <p:cNvSpPr/>
          <p:nvPr/>
        </p:nvSpPr>
        <p:spPr>
          <a:xfrm>
            <a:off x="640080" y="1691640"/>
            <a:ext cx="6675120" cy="2230120"/>
          </a:xfrm>
          <a:prstGeom prst="roundRect">
            <a:avLst>
              <a:gd name="adj" fmla="val 3690"/>
            </a:avLst>
          </a:prstGeom>
          <a:solidFill>
            <a:srgbClr val="0F2237"/>
          </a:solidFill>
          <a:ln w="12700">
            <a:solidFill>
              <a:srgbClr val="0F2237"/>
            </a:solidFill>
            <a:prstDash val="solid"/>
          </a:ln>
        </p:spPr>
      </p:sp>
      <p:sp>
        <p:nvSpPr>
          <p:cNvPr id="9" name="Text 6"/>
          <p:cNvSpPr txBox="1"/>
          <p:nvPr/>
        </p:nvSpPr>
        <p:spPr>
          <a:xfrm>
            <a:off x="804672" y="1828800"/>
            <a:ext cx="6345936" cy="1955800"/>
          </a:xfrm>
          <a:prstGeom prst="rect">
            <a:avLst/>
          </a:prstGeom>
          <a:noFill/>
          <a:ln/>
        </p:spPr>
        <p:txBody>
          <a:bodyPr wrap="square" lIns="0" tIns="0" rIns="0" bIns="0" rtlCol="0" anchor="t"/>
          <a:lstStyle/>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object VancoEngine {</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private const val AUC24_TARGET_LOW    = 400.0</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private const val AUC24_TARGET_HIGH   = 600.0</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private const val AUC24_TARGET_CENTRE = 500.0</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private const val POP_VD_L_PER_KG     = 0.7</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private const val CRCL_TO_CL_FACTOR   = 0.06</a:t>
            </a:r>
            <a:endParaRPr lang="en-US" sz="1000" dirty="0"/>
          </a:p>
          <a:p>
            <a:pPr indent="0" marL="0">
              <a:lnSpc>
                <a:spcPts val="1400"/>
              </a:lnSpc>
              <a:buNone/>
            </a:pP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fun calculatePre(input: PreWorkflowInput): CalculationResult</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fun calculatePost(input: PostWorkflowInput): CalculationResult</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fun calculatePrePost(i: PrePostWorkflowInput): CalculationResult</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a:t>
            </a:r>
            <a:endParaRPr lang="en-US" sz="1000" dirty="0"/>
          </a:p>
        </p:txBody>
      </p:sp>
      <p:sp>
        <p:nvSpPr>
          <p:cNvPr id="10" name="Shape 7"/>
          <p:cNvSpPr/>
          <p:nvPr/>
        </p:nvSpPr>
        <p:spPr>
          <a:xfrm>
            <a:off x="7635240" y="1691640"/>
            <a:ext cx="3916375" cy="786384"/>
          </a:xfrm>
          <a:prstGeom prst="roundRect">
            <a:avLst>
              <a:gd name="adj" fmla="val 10465"/>
            </a:avLst>
          </a:prstGeom>
          <a:solidFill>
            <a:srgbClr val="EAF2FA"/>
          </a:solidFill>
          <a:ln w="12700">
            <a:solidFill>
              <a:srgbClr val="D8E1EA"/>
            </a:solidFill>
            <a:prstDash val="solid"/>
          </a:ln>
        </p:spPr>
      </p:sp>
      <p:sp>
        <p:nvSpPr>
          <p:cNvPr id="11" name="Text 8"/>
          <p:cNvSpPr txBox="1"/>
          <p:nvPr/>
        </p:nvSpPr>
        <p:spPr>
          <a:xfrm>
            <a:off x="7872984" y="1783080"/>
            <a:ext cx="3440887" cy="256032"/>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Stateless</a:t>
            </a:r>
            <a:endParaRPr lang="en-US" sz="1500" dirty="0"/>
          </a:p>
        </p:txBody>
      </p:sp>
      <p:sp>
        <p:nvSpPr>
          <p:cNvPr id="12" name="Text 9"/>
          <p:cNvSpPr txBox="1"/>
          <p:nvPr/>
        </p:nvSpPr>
        <p:spPr>
          <a:xfrm>
            <a:off x="7872984" y="2039112"/>
            <a:ext cx="3440887" cy="384048"/>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An object, not a class — no fields, no lifecycle, safe to call from any thread.</a:t>
            </a:r>
            <a:endParaRPr lang="en-US" sz="1100" dirty="0"/>
          </a:p>
        </p:txBody>
      </p:sp>
      <p:sp>
        <p:nvSpPr>
          <p:cNvPr id="13" name="Shape 10"/>
          <p:cNvSpPr/>
          <p:nvPr/>
        </p:nvSpPr>
        <p:spPr>
          <a:xfrm>
            <a:off x="7635240" y="2587752"/>
            <a:ext cx="3916375" cy="786384"/>
          </a:xfrm>
          <a:prstGeom prst="roundRect">
            <a:avLst>
              <a:gd name="adj" fmla="val 10465"/>
            </a:avLst>
          </a:prstGeom>
          <a:solidFill>
            <a:srgbClr val="F4F6F8"/>
          </a:solidFill>
          <a:ln w="12700">
            <a:solidFill>
              <a:srgbClr val="D8E1EA"/>
            </a:solidFill>
            <a:prstDash val="solid"/>
          </a:ln>
        </p:spPr>
      </p:sp>
      <p:sp>
        <p:nvSpPr>
          <p:cNvPr id="14" name="Text 11"/>
          <p:cNvSpPr txBox="1"/>
          <p:nvPr/>
        </p:nvSpPr>
        <p:spPr>
          <a:xfrm>
            <a:off x="7872984" y="2679192"/>
            <a:ext cx="3440887" cy="256032"/>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Testable</a:t>
            </a:r>
            <a:endParaRPr lang="en-US" sz="1500" dirty="0"/>
          </a:p>
        </p:txBody>
      </p:sp>
      <p:sp>
        <p:nvSpPr>
          <p:cNvPr id="15" name="Text 12"/>
          <p:cNvSpPr txBox="1"/>
          <p:nvPr/>
        </p:nvSpPr>
        <p:spPr>
          <a:xfrm>
            <a:off x="7872984" y="2935224"/>
            <a:ext cx="3440887" cy="384048"/>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No Android imports means it runs in a plain JVM unit test, no emulator required.</a:t>
            </a:r>
            <a:endParaRPr lang="en-US" sz="1100" dirty="0"/>
          </a:p>
        </p:txBody>
      </p:sp>
      <p:sp>
        <p:nvSpPr>
          <p:cNvPr id="16" name="Shape 13"/>
          <p:cNvSpPr/>
          <p:nvPr/>
        </p:nvSpPr>
        <p:spPr>
          <a:xfrm>
            <a:off x="7635240" y="3483864"/>
            <a:ext cx="3916375" cy="786384"/>
          </a:xfrm>
          <a:prstGeom prst="roundRect">
            <a:avLst>
              <a:gd name="adj" fmla="val 10465"/>
            </a:avLst>
          </a:prstGeom>
          <a:solidFill>
            <a:srgbClr val="EAF2FA"/>
          </a:solidFill>
          <a:ln w="12700">
            <a:solidFill>
              <a:srgbClr val="D8E1EA"/>
            </a:solidFill>
            <a:prstDash val="solid"/>
          </a:ln>
        </p:spPr>
      </p:sp>
      <p:sp>
        <p:nvSpPr>
          <p:cNvPr id="17" name="Text 14"/>
          <p:cNvSpPr txBox="1"/>
          <p:nvPr/>
        </p:nvSpPr>
        <p:spPr>
          <a:xfrm>
            <a:off x="7872984" y="3575304"/>
            <a:ext cx="3440887" cy="256032"/>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Total</a:t>
            </a:r>
            <a:endParaRPr lang="en-US" sz="1500" dirty="0"/>
          </a:p>
        </p:txBody>
      </p:sp>
      <p:sp>
        <p:nvSpPr>
          <p:cNvPr id="18" name="Text 15"/>
          <p:cNvSpPr txBox="1"/>
          <p:nvPr/>
        </p:nvSpPr>
        <p:spPr>
          <a:xfrm>
            <a:off x="7872984" y="3831336"/>
            <a:ext cx="3440887" cy="384048"/>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Every entry point returns CalculationResult — Success or Failure. It never throws at the caller.</a:t>
            </a:r>
            <a:endParaRPr lang="en-US" sz="1100" dirty="0"/>
          </a:p>
        </p:txBody>
      </p:sp>
      <p:sp>
        <p:nvSpPr>
          <p:cNvPr id="19" name="Shape 16"/>
          <p:cNvSpPr/>
          <p:nvPr/>
        </p:nvSpPr>
        <p:spPr>
          <a:xfrm>
            <a:off x="7635240" y="4379976"/>
            <a:ext cx="3916375" cy="786384"/>
          </a:xfrm>
          <a:prstGeom prst="roundRect">
            <a:avLst>
              <a:gd name="adj" fmla="val 10465"/>
            </a:avLst>
          </a:prstGeom>
          <a:solidFill>
            <a:srgbClr val="F4F6F8"/>
          </a:solidFill>
          <a:ln w="12700">
            <a:solidFill>
              <a:srgbClr val="D8E1EA"/>
            </a:solidFill>
            <a:prstDash val="solid"/>
          </a:ln>
        </p:spPr>
      </p:sp>
      <p:sp>
        <p:nvSpPr>
          <p:cNvPr id="20" name="Text 17"/>
          <p:cNvSpPr txBox="1"/>
          <p:nvPr/>
        </p:nvSpPr>
        <p:spPr>
          <a:xfrm>
            <a:off x="7872984" y="4471416"/>
            <a:ext cx="3440887" cy="256032"/>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Guarded</a:t>
            </a:r>
            <a:endParaRPr lang="en-US" sz="1500" dirty="0"/>
          </a:p>
        </p:txBody>
      </p:sp>
      <p:sp>
        <p:nvSpPr>
          <p:cNvPr id="21" name="Text 18"/>
          <p:cNvSpPr txBox="1"/>
          <p:nvPr/>
        </p:nvSpPr>
        <p:spPr>
          <a:xfrm>
            <a:off x="7872984" y="4727448"/>
            <a:ext cx="3440887" cy="384048"/>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guardPositive() rejects a zero or negative clearance, interval or ke before it can produce a nonsense answer.</a:t>
            </a:r>
            <a:endParaRPr lang="en-US" sz="1100" dirty="0"/>
          </a:p>
        </p:txBody>
      </p:sp>
      <p:sp>
        <p:nvSpPr>
          <p:cNvPr id="22" name="Shape 19"/>
          <p:cNvSpPr/>
          <p:nvPr/>
        </p:nvSpPr>
        <p:spPr>
          <a:xfrm>
            <a:off x="7635240" y="5276088"/>
            <a:ext cx="3916375" cy="786384"/>
          </a:xfrm>
          <a:prstGeom prst="roundRect">
            <a:avLst>
              <a:gd name="adj" fmla="val 10465"/>
            </a:avLst>
          </a:prstGeom>
          <a:solidFill>
            <a:srgbClr val="EAF2FA"/>
          </a:solidFill>
          <a:ln w="12700">
            <a:solidFill>
              <a:srgbClr val="D8E1EA"/>
            </a:solidFill>
            <a:prstDash val="solid"/>
          </a:ln>
        </p:spPr>
      </p:sp>
      <p:sp>
        <p:nvSpPr>
          <p:cNvPr id="23" name="Text 20"/>
          <p:cNvSpPr txBox="1"/>
          <p:nvPr/>
        </p:nvSpPr>
        <p:spPr>
          <a:xfrm>
            <a:off x="7872984" y="5367528"/>
            <a:ext cx="3440887" cy="256032"/>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Sourced</a:t>
            </a:r>
            <a:endParaRPr lang="en-US" sz="1500" dirty="0"/>
          </a:p>
        </p:txBody>
      </p:sp>
      <p:sp>
        <p:nvSpPr>
          <p:cNvPr id="24" name="Text 21"/>
          <p:cNvSpPr txBox="1"/>
          <p:nvPr/>
        </p:nvSpPr>
        <p:spPr>
          <a:xfrm>
            <a:off x="7872984" y="5623560"/>
            <a:ext cx="3440887" cy="384048"/>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Every constant is annotated with its clinical reference in the source comments.</a:t>
            </a:r>
            <a:endParaRPr lang="en-US" sz="1100" dirty="0"/>
          </a:p>
        </p:txBody>
      </p:sp>
      <p:sp>
        <p:nvSpPr>
          <p:cNvPr id="25" name="Shape 22"/>
          <p:cNvSpPr/>
          <p:nvPr/>
        </p:nvSpPr>
        <p:spPr>
          <a:xfrm>
            <a:off x="640080" y="4114800"/>
            <a:ext cx="6675120" cy="1965960"/>
          </a:xfrm>
          <a:prstGeom prst="roundRect">
            <a:avLst>
              <a:gd name="adj" fmla="val 4186"/>
            </a:avLst>
          </a:prstGeom>
          <a:solidFill>
            <a:srgbClr val="0B2545"/>
          </a:solidFill>
          <a:ln w="12700">
            <a:solidFill>
              <a:srgbClr val="0B2545"/>
            </a:solidFill>
            <a:prstDash val="solid"/>
          </a:ln>
        </p:spPr>
      </p:sp>
      <p:sp>
        <p:nvSpPr>
          <p:cNvPr id="26" name="Text 23"/>
          <p:cNvSpPr txBox="1"/>
          <p:nvPr/>
        </p:nvSpPr>
        <p:spPr>
          <a:xfrm>
            <a:off x="914400" y="4279392"/>
            <a:ext cx="6126480" cy="274320"/>
          </a:xfrm>
          <a:prstGeom prst="rect">
            <a:avLst/>
          </a:prstGeom>
          <a:noFill/>
          <a:ln/>
        </p:spPr>
        <p:txBody>
          <a:bodyPr wrap="square" lIns="0" tIns="0" rIns="0" bIns="0" rtlCol="0" anchor="ctr"/>
          <a:lstStyle/>
          <a:p>
            <a:pPr indent="0" marL="0">
              <a:buNone/>
            </a:pPr>
            <a:r>
              <a:rPr lang="en-US" sz="1300" b="1" dirty="0">
                <a:solidFill>
                  <a:srgbClr val="6FB3E8"/>
                </a:solidFill>
                <a:latin typeface="Calibri" pitchFamily="34" charset="0"/>
                <a:ea typeface="Calibri" pitchFamily="34" charset="-122"/>
                <a:cs typeface="Calibri" pitchFamily="34" charset="-120"/>
              </a:rPr>
              <a:t>Why the domain layer is separate</a:t>
            </a:r>
            <a:endParaRPr lang="en-US" sz="1300" dirty="0"/>
          </a:p>
        </p:txBody>
      </p:sp>
      <p:sp>
        <p:nvSpPr>
          <p:cNvPr id="27" name="Text 24"/>
          <p:cNvSpPr txBox="1"/>
          <p:nvPr/>
        </p:nvSpPr>
        <p:spPr>
          <a:xfrm>
            <a:off x="914400" y="4617720"/>
            <a:ext cx="6126480" cy="12801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D2E2F0"/>
                </a:solidFill>
                <a:latin typeface="Calibri" pitchFamily="34" charset="0"/>
                <a:ea typeface="Calibri" pitchFamily="34" charset="-122"/>
                <a:cs typeface="Calibri" pitchFamily="34" charset="-120"/>
              </a:rPr>
              <a:t>The clinical maths can be reviewed by a pharmacist without reading any UI code.</a:t>
            </a:r>
            <a:endParaRPr lang="en-US" sz="1200" dirty="0"/>
          </a:p>
          <a:p>
            <a:pPr marL="342900" indent="-342900">
              <a:spcAft>
                <a:spcPts val="700"/>
              </a:spcAft>
              <a:buSzPct val="100000"/>
              <a:buChar char="•"/>
            </a:pPr>
            <a:r>
              <a:rPr lang="en-US" sz="1200" dirty="0">
                <a:solidFill>
                  <a:srgbClr val="D2E2F0"/>
                </a:solidFill>
                <a:latin typeface="Calibri" pitchFamily="34" charset="0"/>
                <a:ea typeface="Calibri" pitchFamily="34" charset="-122"/>
                <a:cs typeface="Calibri" pitchFamily="34" charset="-120"/>
              </a:rPr>
              <a:t>The UI, the database and the auth provider could all be replaced without touching a single formula.</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07 · THE ENGINE</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The calculation, step by step</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Five equations turn patient data and a measured concentration into a dosing recommendation.</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20</a:t>
            </a:r>
            <a:endParaRPr lang="en-US" sz="900" dirty="0"/>
          </a:p>
        </p:txBody>
      </p:sp>
      <p:sp>
        <p:nvSpPr>
          <p:cNvPr id="8" name="Shape 5"/>
          <p:cNvSpPr/>
          <p:nvPr/>
        </p:nvSpPr>
        <p:spPr>
          <a:xfrm>
            <a:off x="640080" y="1645920"/>
            <a:ext cx="10911535" cy="859536"/>
          </a:xfrm>
          <a:prstGeom prst="roundRect">
            <a:avLst>
              <a:gd name="adj" fmla="val 9574"/>
            </a:avLst>
          </a:prstGeom>
          <a:solidFill>
            <a:srgbClr val="EAF2FA"/>
          </a:solidFill>
          <a:ln w="12700">
            <a:solidFill>
              <a:srgbClr val="D8E1EA"/>
            </a:solidFill>
            <a:prstDash val="solid"/>
          </a:ln>
        </p:spPr>
      </p:sp>
      <p:sp>
        <p:nvSpPr>
          <p:cNvPr id="9" name="Shape 6"/>
          <p:cNvSpPr/>
          <p:nvPr/>
        </p:nvSpPr>
        <p:spPr>
          <a:xfrm>
            <a:off x="877824" y="1883664"/>
            <a:ext cx="384048" cy="384048"/>
          </a:xfrm>
          <a:prstGeom prst="ellipse">
            <a:avLst/>
          </a:prstGeom>
          <a:solidFill>
            <a:srgbClr val="1464A8"/>
          </a:solidFill>
          <a:ln w="12700">
            <a:solidFill>
              <a:srgbClr val="1464A8"/>
            </a:solidFill>
            <a:prstDash val="solid"/>
          </a:ln>
        </p:spPr>
      </p:sp>
      <p:sp>
        <p:nvSpPr>
          <p:cNvPr id="10" name="Text 7"/>
          <p:cNvSpPr txBox="1"/>
          <p:nvPr/>
        </p:nvSpPr>
        <p:spPr>
          <a:xfrm>
            <a:off x="877824"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1463040" y="1746504"/>
            <a:ext cx="2377440" cy="65836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Creatinine clearance</a:t>
            </a:r>
            <a:endParaRPr lang="en-US" sz="1300" dirty="0"/>
          </a:p>
        </p:txBody>
      </p:sp>
      <p:sp>
        <p:nvSpPr>
          <p:cNvPr id="12" name="Text 9"/>
          <p:cNvSpPr txBox="1"/>
          <p:nvPr/>
        </p:nvSpPr>
        <p:spPr>
          <a:xfrm>
            <a:off x="3886200" y="1746504"/>
            <a:ext cx="4114800" cy="658368"/>
          </a:xfrm>
          <a:prstGeom prst="rect">
            <a:avLst/>
          </a:prstGeom>
          <a:noFill/>
          <a:ln/>
        </p:spPr>
        <p:txBody>
          <a:bodyPr wrap="square" lIns="0" tIns="0" rIns="0" bIns="0" rtlCol="0" anchor="ctr"/>
          <a:lstStyle/>
          <a:p>
            <a:pPr indent="0" marL="0">
              <a:buNone/>
            </a:pPr>
            <a:r>
              <a:rPr lang="en-US" sz="1100" b="1" dirty="0">
                <a:solidFill>
                  <a:srgbClr val="073A6B"/>
                </a:solidFill>
                <a:latin typeface="Courier New" pitchFamily="34" charset="0"/>
                <a:ea typeface="Courier New" pitchFamily="34" charset="-122"/>
                <a:cs typeface="Courier New" pitchFamily="34" charset="-120"/>
              </a:rPr>
              <a:t>CrCl = (140 − age) × weight × sexFactor / (72 × SCr)</a:t>
            </a:r>
            <a:endParaRPr lang="en-US" sz="1100" dirty="0"/>
          </a:p>
        </p:txBody>
      </p:sp>
      <p:sp>
        <p:nvSpPr>
          <p:cNvPr id="13" name="Text 10"/>
          <p:cNvSpPr txBox="1"/>
          <p:nvPr/>
        </p:nvSpPr>
        <p:spPr>
          <a:xfrm>
            <a:off x="8138160" y="1746504"/>
            <a:ext cx="3230575" cy="658368"/>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Cockcroft–Gault. SCr converted µmol/L → mg/dL by ÷ 88.4; sexFactor = 1.0 male, 0.85 female.</a:t>
            </a:r>
            <a:endParaRPr lang="en-US" sz="1050" dirty="0"/>
          </a:p>
        </p:txBody>
      </p:sp>
      <p:sp>
        <p:nvSpPr>
          <p:cNvPr id="14" name="Shape 11"/>
          <p:cNvSpPr/>
          <p:nvPr/>
        </p:nvSpPr>
        <p:spPr>
          <a:xfrm>
            <a:off x="640080" y="2606040"/>
            <a:ext cx="10911535" cy="859536"/>
          </a:xfrm>
          <a:prstGeom prst="roundRect">
            <a:avLst>
              <a:gd name="adj" fmla="val 9574"/>
            </a:avLst>
          </a:prstGeom>
          <a:solidFill>
            <a:srgbClr val="FFFFFF"/>
          </a:solidFill>
          <a:ln w="12700">
            <a:solidFill>
              <a:srgbClr val="D8E1EA"/>
            </a:solidFill>
            <a:prstDash val="solid"/>
          </a:ln>
        </p:spPr>
      </p:sp>
      <p:sp>
        <p:nvSpPr>
          <p:cNvPr id="15" name="Shape 12"/>
          <p:cNvSpPr/>
          <p:nvPr/>
        </p:nvSpPr>
        <p:spPr>
          <a:xfrm>
            <a:off x="877824" y="2843784"/>
            <a:ext cx="384048" cy="384048"/>
          </a:xfrm>
          <a:prstGeom prst="ellipse">
            <a:avLst/>
          </a:prstGeom>
          <a:solidFill>
            <a:srgbClr val="1464A8"/>
          </a:solidFill>
          <a:ln w="12700">
            <a:solidFill>
              <a:srgbClr val="1464A8"/>
            </a:solidFill>
            <a:prstDash val="solid"/>
          </a:ln>
        </p:spPr>
      </p:sp>
      <p:sp>
        <p:nvSpPr>
          <p:cNvPr id="16" name="Text 13"/>
          <p:cNvSpPr txBox="1"/>
          <p:nvPr/>
        </p:nvSpPr>
        <p:spPr>
          <a:xfrm>
            <a:off x="877824" y="2843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4"/>
          <p:cNvSpPr txBox="1"/>
          <p:nvPr/>
        </p:nvSpPr>
        <p:spPr>
          <a:xfrm>
            <a:off x="1463040" y="2706624"/>
            <a:ext cx="2377440" cy="65836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Clearance &amp; volume</a:t>
            </a:r>
            <a:endParaRPr lang="en-US" sz="1300" dirty="0"/>
          </a:p>
        </p:txBody>
      </p:sp>
      <p:sp>
        <p:nvSpPr>
          <p:cNvPr id="18" name="Text 15"/>
          <p:cNvSpPr txBox="1"/>
          <p:nvPr/>
        </p:nvSpPr>
        <p:spPr>
          <a:xfrm>
            <a:off x="3886200" y="2706624"/>
            <a:ext cx="4114800" cy="658368"/>
          </a:xfrm>
          <a:prstGeom prst="rect">
            <a:avLst/>
          </a:prstGeom>
          <a:noFill/>
          <a:ln/>
        </p:spPr>
        <p:txBody>
          <a:bodyPr wrap="square" lIns="0" tIns="0" rIns="0" bIns="0" rtlCol="0" anchor="ctr"/>
          <a:lstStyle/>
          <a:p>
            <a:pPr indent="0" marL="0">
              <a:buNone/>
            </a:pPr>
            <a:r>
              <a:rPr lang="en-US" sz="1100" b="1" dirty="0">
                <a:solidFill>
                  <a:srgbClr val="073A6B"/>
                </a:solidFill>
                <a:latin typeface="Courier New" pitchFamily="34" charset="0"/>
                <a:ea typeface="Courier New" pitchFamily="34" charset="-122"/>
                <a:cs typeface="Courier New" pitchFamily="34" charset="-120"/>
              </a:rPr>
              <a:t>CL = CrCl × 0.06        Vd = 0.7 L/kg × weight</a:t>
            </a:r>
            <a:endParaRPr lang="en-US" sz="1100" dirty="0"/>
          </a:p>
        </p:txBody>
      </p:sp>
      <p:sp>
        <p:nvSpPr>
          <p:cNvPr id="19" name="Text 16"/>
          <p:cNvSpPr txBox="1"/>
          <p:nvPr/>
        </p:nvSpPr>
        <p:spPr>
          <a:xfrm>
            <a:off x="8138160" y="2706624"/>
            <a:ext cx="3230575" cy="658368"/>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CrCl in mL/min becomes vancomycin clearance in L/h. Vd uses the population prior.</a:t>
            </a:r>
            <a:endParaRPr lang="en-US" sz="1050" dirty="0"/>
          </a:p>
        </p:txBody>
      </p:sp>
      <p:sp>
        <p:nvSpPr>
          <p:cNvPr id="20" name="Shape 17"/>
          <p:cNvSpPr/>
          <p:nvPr/>
        </p:nvSpPr>
        <p:spPr>
          <a:xfrm>
            <a:off x="640080" y="3566160"/>
            <a:ext cx="10911535" cy="859536"/>
          </a:xfrm>
          <a:prstGeom prst="roundRect">
            <a:avLst>
              <a:gd name="adj" fmla="val 9574"/>
            </a:avLst>
          </a:prstGeom>
          <a:solidFill>
            <a:srgbClr val="EAF2FA"/>
          </a:solidFill>
          <a:ln w="12700">
            <a:solidFill>
              <a:srgbClr val="D8E1EA"/>
            </a:solidFill>
            <a:prstDash val="solid"/>
          </a:ln>
        </p:spPr>
      </p:sp>
      <p:sp>
        <p:nvSpPr>
          <p:cNvPr id="21" name="Shape 18"/>
          <p:cNvSpPr/>
          <p:nvPr/>
        </p:nvSpPr>
        <p:spPr>
          <a:xfrm>
            <a:off x="877824" y="3803904"/>
            <a:ext cx="384048" cy="384048"/>
          </a:xfrm>
          <a:prstGeom prst="ellipse">
            <a:avLst/>
          </a:prstGeom>
          <a:solidFill>
            <a:srgbClr val="1464A8"/>
          </a:solidFill>
          <a:ln w="12700">
            <a:solidFill>
              <a:srgbClr val="1464A8"/>
            </a:solidFill>
            <a:prstDash val="solid"/>
          </a:ln>
        </p:spPr>
      </p:sp>
      <p:sp>
        <p:nvSpPr>
          <p:cNvPr id="22" name="Text 19"/>
          <p:cNvSpPr txBox="1"/>
          <p:nvPr/>
        </p:nvSpPr>
        <p:spPr>
          <a:xfrm>
            <a:off x="877824" y="3803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0"/>
          <p:cNvSpPr txBox="1"/>
          <p:nvPr/>
        </p:nvSpPr>
        <p:spPr>
          <a:xfrm>
            <a:off x="1463040" y="3666744"/>
            <a:ext cx="2377440" cy="65836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Elimination constant</a:t>
            </a:r>
            <a:endParaRPr lang="en-US" sz="1300" dirty="0"/>
          </a:p>
        </p:txBody>
      </p:sp>
      <p:sp>
        <p:nvSpPr>
          <p:cNvPr id="24" name="Text 21"/>
          <p:cNvSpPr txBox="1"/>
          <p:nvPr/>
        </p:nvSpPr>
        <p:spPr>
          <a:xfrm>
            <a:off x="3886200" y="3666744"/>
            <a:ext cx="4114800" cy="658368"/>
          </a:xfrm>
          <a:prstGeom prst="rect">
            <a:avLst/>
          </a:prstGeom>
          <a:noFill/>
          <a:ln/>
        </p:spPr>
        <p:txBody>
          <a:bodyPr wrap="square" lIns="0" tIns="0" rIns="0" bIns="0" rtlCol="0" anchor="ctr"/>
          <a:lstStyle/>
          <a:p>
            <a:pPr indent="0" marL="0">
              <a:buNone/>
            </a:pPr>
            <a:r>
              <a:rPr lang="en-US" sz="1100" b="1" dirty="0">
                <a:solidFill>
                  <a:srgbClr val="073A6B"/>
                </a:solidFill>
                <a:latin typeface="Courier New" pitchFamily="34" charset="0"/>
                <a:ea typeface="Courier New" pitchFamily="34" charset="-122"/>
                <a:cs typeface="Courier New" pitchFamily="34" charset="-120"/>
              </a:rPr>
              <a:t>ke = CL / Vd            t½ = ln(2) / ke</a:t>
            </a:r>
            <a:endParaRPr lang="en-US" sz="1100" dirty="0"/>
          </a:p>
        </p:txBody>
      </p:sp>
      <p:sp>
        <p:nvSpPr>
          <p:cNvPr id="25" name="Text 22"/>
          <p:cNvSpPr txBox="1"/>
          <p:nvPr/>
        </p:nvSpPr>
        <p:spPr>
          <a:xfrm>
            <a:off x="8138160" y="3666744"/>
            <a:ext cx="3230575" cy="658368"/>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How fast the drug leaves. Half-life follows directly from ke.</a:t>
            </a:r>
            <a:endParaRPr lang="en-US" sz="1050" dirty="0"/>
          </a:p>
        </p:txBody>
      </p:sp>
      <p:sp>
        <p:nvSpPr>
          <p:cNvPr id="26" name="Shape 23"/>
          <p:cNvSpPr/>
          <p:nvPr/>
        </p:nvSpPr>
        <p:spPr>
          <a:xfrm>
            <a:off x="640080" y="4526280"/>
            <a:ext cx="10911535" cy="859536"/>
          </a:xfrm>
          <a:prstGeom prst="roundRect">
            <a:avLst>
              <a:gd name="adj" fmla="val 9574"/>
            </a:avLst>
          </a:prstGeom>
          <a:solidFill>
            <a:srgbClr val="FFFFFF"/>
          </a:solidFill>
          <a:ln w="12700">
            <a:solidFill>
              <a:srgbClr val="D8E1EA"/>
            </a:solidFill>
            <a:prstDash val="solid"/>
          </a:ln>
        </p:spPr>
      </p:sp>
      <p:sp>
        <p:nvSpPr>
          <p:cNvPr id="27" name="Shape 24"/>
          <p:cNvSpPr/>
          <p:nvPr/>
        </p:nvSpPr>
        <p:spPr>
          <a:xfrm>
            <a:off x="877824" y="4764024"/>
            <a:ext cx="384048" cy="384048"/>
          </a:xfrm>
          <a:prstGeom prst="ellipse">
            <a:avLst/>
          </a:prstGeom>
          <a:solidFill>
            <a:srgbClr val="1464A8"/>
          </a:solidFill>
          <a:ln w="12700">
            <a:solidFill>
              <a:srgbClr val="1464A8"/>
            </a:solidFill>
            <a:prstDash val="solid"/>
          </a:ln>
        </p:spPr>
      </p:sp>
      <p:sp>
        <p:nvSpPr>
          <p:cNvPr id="28" name="Text 25"/>
          <p:cNvSpPr txBox="1"/>
          <p:nvPr/>
        </p:nvSpPr>
        <p:spPr>
          <a:xfrm>
            <a:off x="877824" y="4764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6"/>
          <p:cNvSpPr txBox="1"/>
          <p:nvPr/>
        </p:nvSpPr>
        <p:spPr>
          <a:xfrm>
            <a:off x="1463040" y="4626864"/>
            <a:ext cx="2377440" cy="65836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Exposure</a:t>
            </a:r>
            <a:endParaRPr lang="en-US" sz="1300" dirty="0"/>
          </a:p>
        </p:txBody>
      </p:sp>
      <p:sp>
        <p:nvSpPr>
          <p:cNvPr id="30" name="Text 27"/>
          <p:cNvSpPr txBox="1"/>
          <p:nvPr/>
        </p:nvSpPr>
        <p:spPr>
          <a:xfrm>
            <a:off x="3886200" y="4626864"/>
            <a:ext cx="4114800" cy="658368"/>
          </a:xfrm>
          <a:prstGeom prst="rect">
            <a:avLst/>
          </a:prstGeom>
          <a:noFill/>
          <a:ln/>
        </p:spPr>
        <p:txBody>
          <a:bodyPr wrap="square" lIns="0" tIns="0" rIns="0" bIns="0" rtlCol="0" anchor="ctr"/>
          <a:lstStyle/>
          <a:p>
            <a:pPr indent="0" marL="0">
              <a:buNone/>
            </a:pPr>
            <a:r>
              <a:rPr lang="en-US" sz="1100" b="1" dirty="0">
                <a:solidFill>
                  <a:srgbClr val="073A6B"/>
                </a:solidFill>
                <a:latin typeface="Courier New" pitchFamily="34" charset="0"/>
                <a:ea typeface="Courier New" pitchFamily="34" charset="-122"/>
                <a:cs typeface="Courier New" pitchFamily="34" charset="-120"/>
              </a:rPr>
              <a:t>AUC₂₄ = (Dose / τ) × 24 / CL</a:t>
            </a:r>
            <a:endParaRPr lang="en-US" sz="1100" dirty="0"/>
          </a:p>
        </p:txBody>
      </p:sp>
      <p:sp>
        <p:nvSpPr>
          <p:cNvPr id="31" name="Text 28"/>
          <p:cNvSpPr txBox="1"/>
          <p:nvPr/>
        </p:nvSpPr>
        <p:spPr>
          <a:xfrm>
            <a:off x="8138160" y="4626864"/>
            <a:ext cx="3230575" cy="658368"/>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The primary TDM target — total 24-hour exposure in mg·h/L.</a:t>
            </a:r>
            <a:endParaRPr lang="en-US" sz="1050" dirty="0"/>
          </a:p>
        </p:txBody>
      </p:sp>
      <p:sp>
        <p:nvSpPr>
          <p:cNvPr id="32" name="Shape 29"/>
          <p:cNvSpPr/>
          <p:nvPr/>
        </p:nvSpPr>
        <p:spPr>
          <a:xfrm>
            <a:off x="640080" y="5486400"/>
            <a:ext cx="10911535" cy="859536"/>
          </a:xfrm>
          <a:prstGeom prst="roundRect">
            <a:avLst>
              <a:gd name="adj" fmla="val 9574"/>
            </a:avLst>
          </a:prstGeom>
          <a:solidFill>
            <a:srgbClr val="EAF2FA"/>
          </a:solidFill>
          <a:ln w="12700">
            <a:solidFill>
              <a:srgbClr val="D8E1EA"/>
            </a:solidFill>
            <a:prstDash val="solid"/>
          </a:ln>
        </p:spPr>
      </p:sp>
      <p:sp>
        <p:nvSpPr>
          <p:cNvPr id="33" name="Shape 30"/>
          <p:cNvSpPr/>
          <p:nvPr/>
        </p:nvSpPr>
        <p:spPr>
          <a:xfrm>
            <a:off x="877824" y="5724144"/>
            <a:ext cx="384048" cy="384048"/>
          </a:xfrm>
          <a:prstGeom prst="ellipse">
            <a:avLst/>
          </a:prstGeom>
          <a:solidFill>
            <a:srgbClr val="1464A8"/>
          </a:solidFill>
          <a:ln w="12700">
            <a:solidFill>
              <a:srgbClr val="1464A8"/>
            </a:solidFill>
            <a:prstDash val="solid"/>
          </a:ln>
        </p:spPr>
      </p:sp>
      <p:sp>
        <p:nvSpPr>
          <p:cNvPr id="34" name="Text 31"/>
          <p:cNvSpPr txBox="1"/>
          <p:nvPr/>
        </p:nvSpPr>
        <p:spPr>
          <a:xfrm>
            <a:off x="877824" y="57241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5" name="Text 32"/>
          <p:cNvSpPr txBox="1"/>
          <p:nvPr/>
        </p:nvSpPr>
        <p:spPr>
          <a:xfrm>
            <a:off x="1463040" y="5586984"/>
            <a:ext cx="2377440" cy="658368"/>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Recommendation</a:t>
            </a:r>
            <a:endParaRPr lang="en-US" sz="1300" dirty="0"/>
          </a:p>
        </p:txBody>
      </p:sp>
      <p:sp>
        <p:nvSpPr>
          <p:cNvPr id="36" name="Text 33"/>
          <p:cNvSpPr txBox="1"/>
          <p:nvPr/>
        </p:nvSpPr>
        <p:spPr>
          <a:xfrm>
            <a:off x="3886200" y="5586984"/>
            <a:ext cx="4114800" cy="658368"/>
          </a:xfrm>
          <a:prstGeom prst="rect">
            <a:avLst/>
          </a:prstGeom>
          <a:noFill/>
          <a:ln/>
        </p:spPr>
        <p:txBody>
          <a:bodyPr wrap="square" lIns="0" tIns="0" rIns="0" bIns="0" rtlCol="0" anchor="ctr"/>
          <a:lstStyle/>
          <a:p>
            <a:pPr indent="0" marL="0">
              <a:buNone/>
            </a:pPr>
            <a:r>
              <a:rPr lang="en-US" sz="1100" b="1" dirty="0">
                <a:solidFill>
                  <a:srgbClr val="073A6B"/>
                </a:solidFill>
                <a:latin typeface="Courier New" pitchFamily="34" charset="0"/>
                <a:ea typeface="Courier New" pitchFamily="34" charset="-122"/>
                <a:cs typeface="Courier New" pitchFamily="34" charset="-120"/>
              </a:rPr>
              <a:t>Dose = AUC_target × CL × τ / 24</a:t>
            </a:r>
            <a:endParaRPr lang="en-US" sz="1100" dirty="0"/>
          </a:p>
        </p:txBody>
      </p:sp>
      <p:sp>
        <p:nvSpPr>
          <p:cNvPr id="37" name="Text 34"/>
          <p:cNvSpPr txBox="1"/>
          <p:nvPr/>
        </p:nvSpPr>
        <p:spPr>
          <a:xfrm>
            <a:off x="8138160" y="5586984"/>
            <a:ext cx="3230575" cy="658368"/>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Rearranged step 4, solved for the dose that centres AUC₂₄ on 500 mg·h/L.</a:t>
            </a:r>
            <a:endParaRPr lang="en-US" sz="1050" dirty="0"/>
          </a:p>
        </p:txBody>
      </p:sp>
      <p:sp>
        <p:nvSpPr>
          <p:cNvPr id="38" name="Text 35"/>
          <p:cNvSpPr txBox="1"/>
          <p:nvPr/>
        </p:nvSpPr>
        <p:spPr>
          <a:xfrm>
            <a:off x="640080" y="6400800"/>
            <a:ext cx="10515600" cy="274320"/>
          </a:xfrm>
          <a:prstGeom prst="rect">
            <a:avLst/>
          </a:prstGeom>
          <a:noFill/>
          <a:ln/>
        </p:spPr>
        <p:txBody>
          <a:bodyPr wrap="square" lIns="0" tIns="0" rIns="0" bIns="0" rtlCol="0" anchor="ctr"/>
          <a:lstStyle/>
          <a:p>
            <a:pPr indent="0" marL="0">
              <a:buNone/>
            </a:pPr>
            <a:r>
              <a:rPr lang="en-US" sz="950" i="1" dirty="0">
                <a:solidFill>
                  <a:srgbClr val="8A96A3"/>
                </a:solidFill>
                <a:latin typeface="Calibri" pitchFamily="34" charset="0"/>
                <a:ea typeface="Calibri" pitchFamily="34" charset="-122"/>
                <a:cs typeface="Calibri" pitchFamily="34" charset="-120"/>
              </a:rPr>
              <a:t>τ = dosing interval in hours.  All five steps run in VancoEngine.calculatePre(); the other two workflows replace steps 2–3 with a fitted ke.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07 · THE ENGINE</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A worked example, end to end</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Male, 65 years, 70 kg, serum creatinine 90 µmol/L, receiving 1000 mg every 12 h over a 1 h infusion.</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21</a:t>
            </a:r>
            <a:endParaRPr lang="en-US" sz="900" dirty="0"/>
          </a:p>
        </p:txBody>
      </p:sp>
      <p:sp>
        <p:nvSpPr>
          <p:cNvPr id="8" name="Shape 5"/>
          <p:cNvSpPr/>
          <p:nvPr/>
        </p:nvSpPr>
        <p:spPr>
          <a:xfrm>
            <a:off x="640080" y="1691640"/>
            <a:ext cx="5943600" cy="438912"/>
          </a:xfrm>
          <a:prstGeom prst="roundRect">
            <a:avLst>
              <a:gd name="adj" fmla="val 18750"/>
            </a:avLst>
          </a:prstGeom>
          <a:solidFill>
            <a:srgbClr val="F4F6F8"/>
          </a:solidFill>
          <a:ln w="12700">
            <a:solidFill>
              <a:srgbClr val="F4F6F8"/>
            </a:solidFill>
            <a:prstDash val="solid"/>
          </a:ln>
        </p:spPr>
      </p:sp>
      <p:sp>
        <p:nvSpPr>
          <p:cNvPr id="9" name="Text 6"/>
          <p:cNvSpPr txBox="1"/>
          <p:nvPr/>
        </p:nvSpPr>
        <p:spPr>
          <a:xfrm>
            <a:off x="822960" y="1691640"/>
            <a:ext cx="914400" cy="438912"/>
          </a:xfrm>
          <a:prstGeom prst="rect">
            <a:avLst/>
          </a:prstGeom>
          <a:noFill/>
          <a:ln/>
        </p:spPr>
        <p:txBody>
          <a:bodyPr wrap="square" lIns="0" tIns="0" rIns="0" bIns="0" rtlCol="0" anchor="ctr"/>
          <a:lstStyle/>
          <a:p>
            <a:pPr indent="0" marL="0">
              <a:buNone/>
            </a:pPr>
            <a:r>
              <a:rPr lang="en-US" sz="1200" b="1" dirty="0">
                <a:solidFill>
                  <a:srgbClr val="1464A8"/>
                </a:solidFill>
                <a:latin typeface="Calibri" pitchFamily="34" charset="0"/>
                <a:ea typeface="Calibri" pitchFamily="34" charset="-122"/>
                <a:cs typeface="Calibri" pitchFamily="34" charset="-120"/>
              </a:rPr>
              <a:t>SCr</a:t>
            </a:r>
            <a:endParaRPr lang="en-US" sz="1200" dirty="0"/>
          </a:p>
        </p:txBody>
      </p:sp>
      <p:sp>
        <p:nvSpPr>
          <p:cNvPr id="10" name="Text 7"/>
          <p:cNvSpPr txBox="1"/>
          <p:nvPr/>
        </p:nvSpPr>
        <p:spPr>
          <a:xfrm>
            <a:off x="1783080" y="1691640"/>
            <a:ext cx="4663440" cy="438912"/>
          </a:xfrm>
          <a:prstGeom prst="rect">
            <a:avLst/>
          </a:prstGeom>
          <a:noFill/>
          <a:ln/>
        </p:spPr>
        <p:txBody>
          <a:bodyPr wrap="square" lIns="0" tIns="0" rIns="0" bIns="0" rtlCol="0" anchor="ctr"/>
          <a:lstStyle/>
          <a:p>
            <a:pPr indent="0" marL="0">
              <a:buNone/>
            </a:pPr>
            <a:r>
              <a:rPr lang="en-US" sz="1050" dirty="0">
                <a:solidFill>
                  <a:srgbClr val="0B2545"/>
                </a:solidFill>
                <a:latin typeface="Courier New" pitchFamily="34" charset="0"/>
                <a:ea typeface="Courier New" pitchFamily="34" charset="-122"/>
                <a:cs typeface="Courier New" pitchFamily="34" charset="-120"/>
              </a:rPr>
              <a:t>90 µmol/L → 1.018 mg/dL</a:t>
            </a:r>
            <a:endParaRPr lang="en-US" sz="1050" dirty="0"/>
          </a:p>
        </p:txBody>
      </p:sp>
      <p:sp>
        <p:nvSpPr>
          <p:cNvPr id="11" name="Text 8"/>
          <p:cNvSpPr txBox="1"/>
          <p:nvPr/>
        </p:nvSpPr>
        <p:spPr>
          <a:xfrm>
            <a:off x="822960" y="2176272"/>
            <a:ext cx="914400" cy="438912"/>
          </a:xfrm>
          <a:prstGeom prst="rect">
            <a:avLst/>
          </a:prstGeom>
          <a:noFill/>
          <a:ln/>
        </p:spPr>
        <p:txBody>
          <a:bodyPr wrap="square" lIns="0" tIns="0" rIns="0" bIns="0" rtlCol="0" anchor="ctr"/>
          <a:lstStyle/>
          <a:p>
            <a:pPr indent="0" marL="0">
              <a:buNone/>
            </a:pPr>
            <a:r>
              <a:rPr lang="en-US" sz="1200" b="1" dirty="0">
                <a:solidFill>
                  <a:srgbClr val="1464A8"/>
                </a:solidFill>
                <a:latin typeface="Calibri" pitchFamily="34" charset="0"/>
                <a:ea typeface="Calibri" pitchFamily="34" charset="-122"/>
                <a:cs typeface="Calibri" pitchFamily="34" charset="-120"/>
              </a:rPr>
              <a:t>CrCl</a:t>
            </a:r>
            <a:endParaRPr lang="en-US" sz="1200" dirty="0"/>
          </a:p>
        </p:txBody>
      </p:sp>
      <p:sp>
        <p:nvSpPr>
          <p:cNvPr id="12" name="Text 9"/>
          <p:cNvSpPr txBox="1"/>
          <p:nvPr/>
        </p:nvSpPr>
        <p:spPr>
          <a:xfrm>
            <a:off x="1783080" y="2176272"/>
            <a:ext cx="4663440" cy="438912"/>
          </a:xfrm>
          <a:prstGeom prst="rect">
            <a:avLst/>
          </a:prstGeom>
          <a:noFill/>
          <a:ln/>
        </p:spPr>
        <p:txBody>
          <a:bodyPr wrap="square" lIns="0" tIns="0" rIns="0" bIns="0" rtlCol="0" anchor="ctr"/>
          <a:lstStyle/>
          <a:p>
            <a:pPr indent="0" marL="0">
              <a:buNone/>
            </a:pPr>
            <a:r>
              <a:rPr lang="en-US" sz="1050" dirty="0">
                <a:solidFill>
                  <a:srgbClr val="0B2545"/>
                </a:solidFill>
                <a:latin typeface="Courier New" pitchFamily="34" charset="0"/>
                <a:ea typeface="Courier New" pitchFamily="34" charset="-122"/>
                <a:cs typeface="Courier New" pitchFamily="34" charset="-120"/>
              </a:rPr>
              <a:t>(140−65) × 70 × 1.0 / (72 × 1.018) = 71.6 mL/min</a:t>
            </a:r>
            <a:endParaRPr lang="en-US" sz="1050" dirty="0"/>
          </a:p>
        </p:txBody>
      </p:sp>
      <p:sp>
        <p:nvSpPr>
          <p:cNvPr id="13" name="Shape 10"/>
          <p:cNvSpPr/>
          <p:nvPr/>
        </p:nvSpPr>
        <p:spPr>
          <a:xfrm>
            <a:off x="640080" y="2660904"/>
            <a:ext cx="5943600" cy="438912"/>
          </a:xfrm>
          <a:prstGeom prst="roundRect">
            <a:avLst>
              <a:gd name="adj" fmla="val 18750"/>
            </a:avLst>
          </a:prstGeom>
          <a:solidFill>
            <a:srgbClr val="F4F6F8"/>
          </a:solidFill>
          <a:ln w="12700">
            <a:solidFill>
              <a:srgbClr val="F4F6F8"/>
            </a:solidFill>
            <a:prstDash val="solid"/>
          </a:ln>
        </p:spPr>
      </p:sp>
      <p:sp>
        <p:nvSpPr>
          <p:cNvPr id="14" name="Text 11"/>
          <p:cNvSpPr txBox="1"/>
          <p:nvPr/>
        </p:nvSpPr>
        <p:spPr>
          <a:xfrm>
            <a:off x="822960" y="2660904"/>
            <a:ext cx="914400" cy="438912"/>
          </a:xfrm>
          <a:prstGeom prst="rect">
            <a:avLst/>
          </a:prstGeom>
          <a:noFill/>
          <a:ln/>
        </p:spPr>
        <p:txBody>
          <a:bodyPr wrap="square" lIns="0" tIns="0" rIns="0" bIns="0" rtlCol="0" anchor="ctr"/>
          <a:lstStyle/>
          <a:p>
            <a:pPr indent="0" marL="0">
              <a:buNone/>
            </a:pPr>
            <a:r>
              <a:rPr lang="en-US" sz="1200" b="1" dirty="0">
                <a:solidFill>
                  <a:srgbClr val="1464A8"/>
                </a:solidFill>
                <a:latin typeface="Calibri" pitchFamily="34" charset="0"/>
                <a:ea typeface="Calibri" pitchFamily="34" charset="-122"/>
                <a:cs typeface="Calibri" pitchFamily="34" charset="-120"/>
              </a:rPr>
              <a:t>CL</a:t>
            </a:r>
            <a:endParaRPr lang="en-US" sz="1200" dirty="0"/>
          </a:p>
        </p:txBody>
      </p:sp>
      <p:sp>
        <p:nvSpPr>
          <p:cNvPr id="15" name="Text 12"/>
          <p:cNvSpPr txBox="1"/>
          <p:nvPr/>
        </p:nvSpPr>
        <p:spPr>
          <a:xfrm>
            <a:off x="1783080" y="2660904"/>
            <a:ext cx="4663440" cy="438912"/>
          </a:xfrm>
          <a:prstGeom prst="rect">
            <a:avLst/>
          </a:prstGeom>
          <a:noFill/>
          <a:ln/>
        </p:spPr>
        <p:txBody>
          <a:bodyPr wrap="square" lIns="0" tIns="0" rIns="0" bIns="0" rtlCol="0" anchor="ctr"/>
          <a:lstStyle/>
          <a:p>
            <a:pPr indent="0" marL="0">
              <a:buNone/>
            </a:pPr>
            <a:r>
              <a:rPr lang="en-US" sz="1050" dirty="0">
                <a:solidFill>
                  <a:srgbClr val="0B2545"/>
                </a:solidFill>
                <a:latin typeface="Courier New" pitchFamily="34" charset="0"/>
                <a:ea typeface="Courier New" pitchFamily="34" charset="-122"/>
                <a:cs typeface="Courier New" pitchFamily="34" charset="-120"/>
              </a:rPr>
              <a:t>71.6 × 0.06 = 4.30 L/h</a:t>
            </a:r>
            <a:endParaRPr lang="en-US" sz="1050" dirty="0"/>
          </a:p>
        </p:txBody>
      </p:sp>
      <p:sp>
        <p:nvSpPr>
          <p:cNvPr id="16" name="Text 13"/>
          <p:cNvSpPr txBox="1"/>
          <p:nvPr/>
        </p:nvSpPr>
        <p:spPr>
          <a:xfrm>
            <a:off x="822960" y="3145536"/>
            <a:ext cx="914400" cy="438912"/>
          </a:xfrm>
          <a:prstGeom prst="rect">
            <a:avLst/>
          </a:prstGeom>
          <a:noFill/>
          <a:ln/>
        </p:spPr>
        <p:txBody>
          <a:bodyPr wrap="square" lIns="0" tIns="0" rIns="0" bIns="0" rtlCol="0" anchor="ctr"/>
          <a:lstStyle/>
          <a:p>
            <a:pPr indent="0" marL="0">
              <a:buNone/>
            </a:pPr>
            <a:r>
              <a:rPr lang="en-US" sz="1200" b="1" dirty="0">
                <a:solidFill>
                  <a:srgbClr val="1464A8"/>
                </a:solidFill>
                <a:latin typeface="Calibri" pitchFamily="34" charset="0"/>
                <a:ea typeface="Calibri" pitchFamily="34" charset="-122"/>
                <a:cs typeface="Calibri" pitchFamily="34" charset="-120"/>
              </a:rPr>
              <a:t>Vd</a:t>
            </a:r>
            <a:endParaRPr lang="en-US" sz="1200" dirty="0"/>
          </a:p>
        </p:txBody>
      </p:sp>
      <p:sp>
        <p:nvSpPr>
          <p:cNvPr id="17" name="Text 14"/>
          <p:cNvSpPr txBox="1"/>
          <p:nvPr/>
        </p:nvSpPr>
        <p:spPr>
          <a:xfrm>
            <a:off x="1783080" y="3145536"/>
            <a:ext cx="4663440" cy="438912"/>
          </a:xfrm>
          <a:prstGeom prst="rect">
            <a:avLst/>
          </a:prstGeom>
          <a:noFill/>
          <a:ln/>
        </p:spPr>
        <p:txBody>
          <a:bodyPr wrap="square" lIns="0" tIns="0" rIns="0" bIns="0" rtlCol="0" anchor="ctr"/>
          <a:lstStyle/>
          <a:p>
            <a:pPr indent="0" marL="0">
              <a:buNone/>
            </a:pPr>
            <a:r>
              <a:rPr lang="en-US" sz="1050" dirty="0">
                <a:solidFill>
                  <a:srgbClr val="0B2545"/>
                </a:solidFill>
                <a:latin typeface="Courier New" pitchFamily="34" charset="0"/>
                <a:ea typeface="Courier New" pitchFamily="34" charset="-122"/>
                <a:cs typeface="Courier New" pitchFamily="34" charset="-120"/>
              </a:rPr>
              <a:t>0.7 × 70 = 49.0 L</a:t>
            </a:r>
            <a:endParaRPr lang="en-US" sz="1050" dirty="0"/>
          </a:p>
        </p:txBody>
      </p:sp>
      <p:sp>
        <p:nvSpPr>
          <p:cNvPr id="18" name="Shape 15"/>
          <p:cNvSpPr/>
          <p:nvPr/>
        </p:nvSpPr>
        <p:spPr>
          <a:xfrm>
            <a:off x="640080" y="3630168"/>
            <a:ext cx="5943600" cy="438912"/>
          </a:xfrm>
          <a:prstGeom prst="roundRect">
            <a:avLst>
              <a:gd name="adj" fmla="val 18750"/>
            </a:avLst>
          </a:prstGeom>
          <a:solidFill>
            <a:srgbClr val="F4F6F8"/>
          </a:solidFill>
          <a:ln w="12700">
            <a:solidFill>
              <a:srgbClr val="F4F6F8"/>
            </a:solidFill>
            <a:prstDash val="solid"/>
          </a:ln>
        </p:spPr>
      </p:sp>
      <p:sp>
        <p:nvSpPr>
          <p:cNvPr id="19" name="Text 16"/>
          <p:cNvSpPr txBox="1"/>
          <p:nvPr/>
        </p:nvSpPr>
        <p:spPr>
          <a:xfrm>
            <a:off x="822960" y="3630168"/>
            <a:ext cx="914400" cy="438912"/>
          </a:xfrm>
          <a:prstGeom prst="rect">
            <a:avLst/>
          </a:prstGeom>
          <a:noFill/>
          <a:ln/>
        </p:spPr>
        <p:txBody>
          <a:bodyPr wrap="square" lIns="0" tIns="0" rIns="0" bIns="0" rtlCol="0" anchor="ctr"/>
          <a:lstStyle/>
          <a:p>
            <a:pPr indent="0" marL="0">
              <a:buNone/>
            </a:pPr>
            <a:r>
              <a:rPr lang="en-US" sz="1200" b="1" dirty="0">
                <a:solidFill>
                  <a:srgbClr val="1464A8"/>
                </a:solidFill>
                <a:latin typeface="Calibri" pitchFamily="34" charset="0"/>
                <a:ea typeface="Calibri" pitchFamily="34" charset="-122"/>
                <a:cs typeface="Calibri" pitchFamily="34" charset="-120"/>
              </a:rPr>
              <a:t>ke</a:t>
            </a:r>
            <a:endParaRPr lang="en-US" sz="1200" dirty="0"/>
          </a:p>
        </p:txBody>
      </p:sp>
      <p:sp>
        <p:nvSpPr>
          <p:cNvPr id="20" name="Text 17"/>
          <p:cNvSpPr txBox="1"/>
          <p:nvPr/>
        </p:nvSpPr>
        <p:spPr>
          <a:xfrm>
            <a:off x="1783080" y="3630168"/>
            <a:ext cx="4663440" cy="438912"/>
          </a:xfrm>
          <a:prstGeom prst="rect">
            <a:avLst/>
          </a:prstGeom>
          <a:noFill/>
          <a:ln/>
        </p:spPr>
        <p:txBody>
          <a:bodyPr wrap="square" lIns="0" tIns="0" rIns="0" bIns="0" rtlCol="0" anchor="ctr"/>
          <a:lstStyle/>
          <a:p>
            <a:pPr indent="0" marL="0">
              <a:buNone/>
            </a:pPr>
            <a:r>
              <a:rPr lang="en-US" sz="1050" dirty="0">
                <a:solidFill>
                  <a:srgbClr val="0B2545"/>
                </a:solidFill>
                <a:latin typeface="Courier New" pitchFamily="34" charset="0"/>
                <a:ea typeface="Courier New" pitchFamily="34" charset="-122"/>
                <a:cs typeface="Courier New" pitchFamily="34" charset="-120"/>
              </a:rPr>
              <a:t>4.30 / 49.0 = 0.0877 h⁻¹</a:t>
            </a:r>
            <a:endParaRPr lang="en-US" sz="1050" dirty="0"/>
          </a:p>
        </p:txBody>
      </p:sp>
      <p:sp>
        <p:nvSpPr>
          <p:cNvPr id="21" name="Text 18"/>
          <p:cNvSpPr txBox="1"/>
          <p:nvPr/>
        </p:nvSpPr>
        <p:spPr>
          <a:xfrm>
            <a:off x="822960" y="4114800"/>
            <a:ext cx="914400" cy="438912"/>
          </a:xfrm>
          <a:prstGeom prst="rect">
            <a:avLst/>
          </a:prstGeom>
          <a:noFill/>
          <a:ln/>
        </p:spPr>
        <p:txBody>
          <a:bodyPr wrap="square" lIns="0" tIns="0" rIns="0" bIns="0" rtlCol="0" anchor="ctr"/>
          <a:lstStyle/>
          <a:p>
            <a:pPr indent="0" marL="0">
              <a:buNone/>
            </a:pPr>
            <a:r>
              <a:rPr lang="en-US" sz="1200" b="1" dirty="0">
                <a:solidFill>
                  <a:srgbClr val="1464A8"/>
                </a:solidFill>
                <a:latin typeface="Calibri" pitchFamily="34" charset="0"/>
                <a:ea typeface="Calibri" pitchFamily="34" charset="-122"/>
                <a:cs typeface="Calibri" pitchFamily="34" charset="-120"/>
              </a:rPr>
              <a:t>t½</a:t>
            </a:r>
            <a:endParaRPr lang="en-US" sz="1200" dirty="0"/>
          </a:p>
        </p:txBody>
      </p:sp>
      <p:sp>
        <p:nvSpPr>
          <p:cNvPr id="22" name="Text 19"/>
          <p:cNvSpPr txBox="1"/>
          <p:nvPr/>
        </p:nvSpPr>
        <p:spPr>
          <a:xfrm>
            <a:off x="1783080" y="4114800"/>
            <a:ext cx="4663440" cy="438912"/>
          </a:xfrm>
          <a:prstGeom prst="rect">
            <a:avLst/>
          </a:prstGeom>
          <a:noFill/>
          <a:ln/>
        </p:spPr>
        <p:txBody>
          <a:bodyPr wrap="square" lIns="0" tIns="0" rIns="0" bIns="0" rtlCol="0" anchor="ctr"/>
          <a:lstStyle/>
          <a:p>
            <a:pPr indent="0" marL="0">
              <a:buNone/>
            </a:pPr>
            <a:r>
              <a:rPr lang="en-US" sz="1050" dirty="0">
                <a:solidFill>
                  <a:srgbClr val="0B2545"/>
                </a:solidFill>
                <a:latin typeface="Courier New" pitchFamily="34" charset="0"/>
                <a:ea typeface="Courier New" pitchFamily="34" charset="-122"/>
                <a:cs typeface="Courier New" pitchFamily="34" charset="-120"/>
              </a:rPr>
              <a:t>ln(2) / 0.0877 = 7.9 h</a:t>
            </a:r>
            <a:endParaRPr lang="en-US" sz="1050" dirty="0"/>
          </a:p>
        </p:txBody>
      </p:sp>
      <p:sp>
        <p:nvSpPr>
          <p:cNvPr id="23" name="Shape 20"/>
          <p:cNvSpPr/>
          <p:nvPr/>
        </p:nvSpPr>
        <p:spPr>
          <a:xfrm>
            <a:off x="640080" y="4599432"/>
            <a:ext cx="5943600" cy="438912"/>
          </a:xfrm>
          <a:prstGeom prst="roundRect">
            <a:avLst>
              <a:gd name="adj" fmla="val 18750"/>
            </a:avLst>
          </a:prstGeom>
          <a:solidFill>
            <a:srgbClr val="F4F6F8"/>
          </a:solidFill>
          <a:ln w="12700">
            <a:solidFill>
              <a:srgbClr val="F4F6F8"/>
            </a:solidFill>
            <a:prstDash val="solid"/>
          </a:ln>
        </p:spPr>
      </p:sp>
      <p:sp>
        <p:nvSpPr>
          <p:cNvPr id="24" name="Text 21"/>
          <p:cNvSpPr txBox="1"/>
          <p:nvPr/>
        </p:nvSpPr>
        <p:spPr>
          <a:xfrm>
            <a:off x="822960" y="4599432"/>
            <a:ext cx="914400" cy="438912"/>
          </a:xfrm>
          <a:prstGeom prst="rect">
            <a:avLst/>
          </a:prstGeom>
          <a:noFill/>
          <a:ln/>
        </p:spPr>
        <p:txBody>
          <a:bodyPr wrap="square" lIns="0" tIns="0" rIns="0" bIns="0" rtlCol="0" anchor="ctr"/>
          <a:lstStyle/>
          <a:p>
            <a:pPr indent="0" marL="0">
              <a:buNone/>
            </a:pPr>
            <a:r>
              <a:rPr lang="en-US" sz="1200" b="1" dirty="0">
                <a:solidFill>
                  <a:srgbClr val="1464A8"/>
                </a:solidFill>
                <a:latin typeface="Calibri" pitchFamily="34" charset="0"/>
                <a:ea typeface="Calibri" pitchFamily="34" charset="-122"/>
                <a:cs typeface="Calibri" pitchFamily="34" charset="-120"/>
              </a:rPr>
              <a:t>AUC₂₄</a:t>
            </a:r>
            <a:endParaRPr lang="en-US" sz="1200" dirty="0"/>
          </a:p>
        </p:txBody>
      </p:sp>
      <p:sp>
        <p:nvSpPr>
          <p:cNvPr id="25" name="Text 22"/>
          <p:cNvSpPr txBox="1"/>
          <p:nvPr/>
        </p:nvSpPr>
        <p:spPr>
          <a:xfrm>
            <a:off x="1783080" y="4599432"/>
            <a:ext cx="4663440" cy="438912"/>
          </a:xfrm>
          <a:prstGeom prst="rect">
            <a:avLst/>
          </a:prstGeom>
          <a:noFill/>
          <a:ln/>
        </p:spPr>
        <p:txBody>
          <a:bodyPr wrap="square" lIns="0" tIns="0" rIns="0" bIns="0" rtlCol="0" anchor="ctr"/>
          <a:lstStyle/>
          <a:p>
            <a:pPr indent="0" marL="0">
              <a:buNone/>
            </a:pPr>
            <a:r>
              <a:rPr lang="en-US" sz="1050" dirty="0">
                <a:solidFill>
                  <a:srgbClr val="0B2545"/>
                </a:solidFill>
                <a:latin typeface="Courier New" pitchFamily="34" charset="0"/>
                <a:ea typeface="Courier New" pitchFamily="34" charset="-122"/>
                <a:cs typeface="Courier New" pitchFamily="34" charset="-120"/>
              </a:rPr>
              <a:t>(1000 / 12) × 24 / 4.30 = 465 mg·h/L</a:t>
            </a:r>
            <a:endParaRPr lang="en-US" sz="1050" dirty="0"/>
          </a:p>
        </p:txBody>
      </p:sp>
      <p:sp>
        <p:nvSpPr>
          <p:cNvPr id="26" name="Text 23"/>
          <p:cNvSpPr txBox="1"/>
          <p:nvPr/>
        </p:nvSpPr>
        <p:spPr>
          <a:xfrm>
            <a:off x="822960" y="5084064"/>
            <a:ext cx="914400" cy="438912"/>
          </a:xfrm>
          <a:prstGeom prst="rect">
            <a:avLst/>
          </a:prstGeom>
          <a:noFill/>
          <a:ln/>
        </p:spPr>
        <p:txBody>
          <a:bodyPr wrap="square" lIns="0" tIns="0" rIns="0" bIns="0" rtlCol="0" anchor="ctr"/>
          <a:lstStyle/>
          <a:p>
            <a:pPr indent="0" marL="0">
              <a:buNone/>
            </a:pPr>
            <a:r>
              <a:rPr lang="en-US" sz="1200" b="1" dirty="0">
                <a:solidFill>
                  <a:srgbClr val="1464A8"/>
                </a:solidFill>
                <a:latin typeface="Calibri" pitchFamily="34" charset="0"/>
                <a:ea typeface="Calibri" pitchFamily="34" charset="-122"/>
                <a:cs typeface="Calibri" pitchFamily="34" charset="-120"/>
              </a:rPr>
              <a:t>Dose</a:t>
            </a:r>
            <a:endParaRPr lang="en-US" sz="1200" dirty="0"/>
          </a:p>
        </p:txBody>
      </p:sp>
      <p:sp>
        <p:nvSpPr>
          <p:cNvPr id="27" name="Text 24"/>
          <p:cNvSpPr txBox="1"/>
          <p:nvPr/>
        </p:nvSpPr>
        <p:spPr>
          <a:xfrm>
            <a:off x="1783080" y="5084064"/>
            <a:ext cx="4663440" cy="438912"/>
          </a:xfrm>
          <a:prstGeom prst="rect">
            <a:avLst/>
          </a:prstGeom>
          <a:noFill/>
          <a:ln/>
        </p:spPr>
        <p:txBody>
          <a:bodyPr wrap="square" lIns="0" tIns="0" rIns="0" bIns="0" rtlCol="0" anchor="ctr"/>
          <a:lstStyle/>
          <a:p>
            <a:pPr indent="0" marL="0">
              <a:buNone/>
            </a:pPr>
            <a:r>
              <a:rPr lang="en-US" sz="1050" dirty="0">
                <a:solidFill>
                  <a:srgbClr val="0B2545"/>
                </a:solidFill>
                <a:latin typeface="Courier New" pitchFamily="34" charset="0"/>
                <a:ea typeface="Courier New" pitchFamily="34" charset="-122"/>
                <a:cs typeface="Courier New" pitchFamily="34" charset="-120"/>
              </a:rPr>
              <a:t>500 × 4.30 × 12 / 24 = 1074 mg every 12 h</a:t>
            </a:r>
            <a:endParaRPr lang="en-US" sz="1050" dirty="0"/>
          </a:p>
        </p:txBody>
      </p:sp>
      <p:sp>
        <p:nvSpPr>
          <p:cNvPr id="28" name="Shape 25"/>
          <p:cNvSpPr/>
          <p:nvPr/>
        </p:nvSpPr>
        <p:spPr>
          <a:xfrm>
            <a:off x="640080" y="5623560"/>
            <a:ext cx="5943600" cy="594360"/>
          </a:xfrm>
          <a:prstGeom prst="roundRect">
            <a:avLst>
              <a:gd name="adj" fmla="val 13846"/>
            </a:avLst>
          </a:prstGeom>
          <a:solidFill>
            <a:srgbClr val="00A896"/>
          </a:solidFill>
          <a:ln w="12700">
            <a:solidFill>
              <a:srgbClr val="00A896"/>
            </a:solidFill>
            <a:prstDash val="solid"/>
          </a:ln>
        </p:spPr>
      </p:sp>
      <p:sp>
        <p:nvSpPr>
          <p:cNvPr id="29" name="Text 26"/>
          <p:cNvSpPr txBox="1"/>
          <p:nvPr/>
        </p:nvSpPr>
        <p:spPr>
          <a:xfrm>
            <a:off x="868680" y="5623560"/>
            <a:ext cx="5486400" cy="5943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AUC₂₄ 465 mg·h/L  →  IN TARGET (400–600)</a:t>
            </a:r>
            <a:endParaRPr lang="en-US" sz="1500" dirty="0"/>
          </a:p>
        </p:txBody>
      </p:sp>
      <p:sp>
        <p:nvSpPr>
          <p:cNvPr id="30" name="Shape 27"/>
          <p:cNvSpPr/>
          <p:nvPr/>
        </p:nvSpPr>
        <p:spPr>
          <a:xfrm>
            <a:off x="6903720" y="1691640"/>
            <a:ext cx="4647895" cy="4526280"/>
          </a:xfrm>
          <a:prstGeom prst="roundRect">
            <a:avLst>
              <a:gd name="adj" fmla="val 1818"/>
            </a:avLst>
          </a:prstGeom>
          <a:solidFill>
            <a:srgbClr val="FFFFFF"/>
          </a:solidFill>
          <a:ln w="12700">
            <a:solidFill>
              <a:srgbClr val="D8E1EA"/>
            </a:solidFill>
            <a:prstDash val="solid"/>
          </a:ln>
        </p:spPr>
      </p:sp>
      <p:sp>
        <p:nvSpPr>
          <p:cNvPr id="31" name="Text 28"/>
          <p:cNvSpPr txBox="1"/>
          <p:nvPr/>
        </p:nvSpPr>
        <p:spPr>
          <a:xfrm>
            <a:off x="7178040" y="1828800"/>
            <a:ext cx="4099255" cy="274320"/>
          </a:xfrm>
          <a:prstGeom prst="rect">
            <a:avLst/>
          </a:prstGeom>
          <a:noFill/>
          <a:ln/>
        </p:spPr>
        <p:txBody>
          <a:bodyPr wrap="square" lIns="0" tIns="0" rIns="0" bIns="0"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Predicted concentration–time curve</a:t>
            </a:r>
            <a:endParaRPr lang="en-US" sz="1600" dirty="0"/>
          </a:p>
        </p:txBody>
      </p:sp>
      <p:sp>
        <p:nvSpPr>
          <p:cNvPr id="32" name="Text 29"/>
          <p:cNvSpPr txBox="1"/>
          <p:nvPr/>
        </p:nvSpPr>
        <p:spPr>
          <a:xfrm>
            <a:off x="7178040" y="2103120"/>
            <a:ext cx="4099255" cy="237744"/>
          </a:xfrm>
          <a:prstGeom prst="rect">
            <a:avLst/>
          </a:prstGeom>
          <a:noFill/>
          <a:ln/>
        </p:spPr>
        <p:txBody>
          <a:bodyPr wrap="square" lIns="0" tIns="0" rIns="0" bIns="0" rtlCol="0" anchor="ctr"/>
          <a:lstStyle/>
          <a:p>
            <a:pPr indent="0" marL="0">
              <a:buNone/>
            </a:pPr>
            <a:r>
              <a:rPr lang="en-US" sz="1050" dirty="0">
                <a:solidFill>
                  <a:srgbClr val="5A6672"/>
                </a:solidFill>
                <a:latin typeface="Calibri" pitchFamily="34" charset="0"/>
                <a:ea typeface="Calibri" pitchFamily="34" charset="-122"/>
                <a:cs typeface="Calibri" pitchFamily="34" charset="-120"/>
              </a:rPr>
              <a:t>One-compartment model, hours after dose start</a:t>
            </a:r>
            <a:endParaRPr lang="en-US" sz="1050" dirty="0"/>
          </a:p>
        </p:txBody>
      </p:sp>
      <p:graphicFrame>
        <p:nvGraphicFramePr>
          <p:cNvPr id="33" name="Chart 0" descr=""/>
          <p:cNvGraphicFramePr/>
          <p:nvPr/>
        </p:nvGraphicFramePr>
        <p:xfrm>
          <a:off x="7068312" y="2395728"/>
          <a:ext cx="4318711" cy="3108960"/>
        </p:xfrm>
        <a:graphic xmlns:a="http://schemas.openxmlformats.org/drawingml/2006/main">
          <a:graphicData uri="http://schemas.openxmlformats.org/drawingml/2006/chart">
            <c:chart xmlns:c="http://schemas.openxmlformats.org/drawingml/2006/chart" r:id="rId1"/>
          </a:graphicData>
        </a:graphic>
      </p:graphicFrame>
      <p:sp>
        <p:nvSpPr>
          <p:cNvPr id="34" name="Text 30"/>
          <p:cNvSpPr txBox="1"/>
          <p:nvPr/>
        </p:nvSpPr>
        <p:spPr>
          <a:xfrm>
            <a:off x="7178040" y="5623560"/>
            <a:ext cx="4099255" cy="457200"/>
          </a:xfrm>
          <a:prstGeom prst="rect">
            <a:avLst/>
          </a:prstGeom>
          <a:noFill/>
          <a:ln/>
        </p:spPr>
        <p:txBody>
          <a:bodyPr wrap="square" lIns="0" tIns="0" rIns="0" bIns="0" rtlCol="0" anchor="ctr"/>
          <a:lstStyle/>
          <a:p>
            <a:pPr indent="0" marL="0">
              <a:buNone/>
            </a:pPr>
            <a:r>
              <a:rPr lang="en-US" sz="1100" dirty="0">
                <a:solidFill>
                  <a:srgbClr val="5A6672"/>
                </a:solidFill>
                <a:latin typeface="Calibri" pitchFamily="34" charset="0"/>
                <a:ea typeface="Calibri" pitchFamily="34" charset="-122"/>
                <a:cs typeface="Calibri" pitchFamily="34" charset="-120"/>
              </a:rPr>
              <a:t>Peak ≈ 19.5 mg/L at end of infusion  ·  trough ≈ 7.5 mg/L at 12 h</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07 · THE ENGINE</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Three sampling workflows, one result type</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The workflow the user picks decides how ke is obtained. Everything downstream of ke is identical.</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22</a:t>
            </a:r>
            <a:endParaRPr lang="en-US" sz="900" dirty="0"/>
          </a:p>
        </p:txBody>
      </p:sp>
      <p:sp>
        <p:nvSpPr>
          <p:cNvPr id="8" name="Shape 5"/>
          <p:cNvSpPr/>
          <p:nvPr/>
        </p:nvSpPr>
        <p:spPr>
          <a:xfrm>
            <a:off x="640080" y="1691640"/>
            <a:ext cx="3484778" cy="868680"/>
          </a:xfrm>
          <a:prstGeom prst="roundRect">
            <a:avLst>
              <a:gd name="adj" fmla="val 9474"/>
            </a:avLst>
          </a:prstGeom>
          <a:solidFill>
            <a:srgbClr val="1464A8"/>
          </a:solidFill>
          <a:ln w="12700">
            <a:solidFill>
              <a:srgbClr val="1464A8"/>
            </a:solidFill>
            <a:prstDash val="solid"/>
          </a:ln>
        </p:spPr>
      </p:sp>
      <p:sp>
        <p:nvSpPr>
          <p:cNvPr id="9" name="Text 6"/>
          <p:cNvSpPr txBox="1"/>
          <p:nvPr/>
        </p:nvSpPr>
        <p:spPr>
          <a:xfrm>
            <a:off x="877824" y="1783080"/>
            <a:ext cx="3009290" cy="347472"/>
          </a:xfrm>
          <a:prstGeom prst="rect">
            <a:avLst/>
          </a:prstGeom>
          <a:noFill/>
          <a:ln/>
        </p:spPr>
        <p:txBody>
          <a:bodyPr wrap="square" lIns="0" tIns="0" rIns="0" bIns="0" rtlCol="0" anchor="ctr"/>
          <a:lstStyle/>
          <a:p>
            <a:pPr indent="0" marL="0">
              <a:buNone/>
            </a:pPr>
            <a:r>
              <a:rPr lang="en-US" sz="2000" b="1" dirty="0">
                <a:solidFill>
                  <a:srgbClr val="FFFFFF"/>
                </a:solidFill>
                <a:latin typeface="Courier New" pitchFamily="34" charset="0"/>
                <a:ea typeface="Courier New" pitchFamily="34" charset="-122"/>
                <a:cs typeface="Courier New" pitchFamily="34" charset="-120"/>
              </a:rPr>
              <a:t>PRE</a:t>
            </a:r>
            <a:endParaRPr lang="en-US" sz="2000" dirty="0"/>
          </a:p>
        </p:txBody>
      </p:sp>
      <p:sp>
        <p:nvSpPr>
          <p:cNvPr id="10" name="Text 7"/>
          <p:cNvSpPr txBox="1"/>
          <p:nvPr/>
        </p:nvSpPr>
        <p:spPr>
          <a:xfrm>
            <a:off x="877824" y="2148840"/>
            <a:ext cx="3009290" cy="274320"/>
          </a:xfrm>
          <a:prstGeom prst="rect">
            <a:avLst/>
          </a:prstGeom>
          <a:noFill/>
          <a:ln/>
        </p:spPr>
        <p:txBody>
          <a:bodyPr wrap="square" lIns="0" tIns="0" rIns="0" bIns="0" rtlCol="0" anchor="ctr"/>
          <a:lstStyle/>
          <a:p>
            <a:pPr indent="0" marL="0">
              <a:buNone/>
            </a:pPr>
            <a:r>
              <a:rPr lang="en-US" sz="1250" dirty="0">
                <a:solidFill>
                  <a:srgbClr val="D2E2F0"/>
                </a:solidFill>
                <a:latin typeface="Calibri" pitchFamily="34" charset="0"/>
                <a:ea typeface="Calibri" pitchFamily="34" charset="-122"/>
                <a:cs typeface="Calibri" pitchFamily="34" charset="-120"/>
              </a:rPr>
              <a:t>Trough only</a:t>
            </a:r>
            <a:endParaRPr lang="en-US" sz="1250" dirty="0"/>
          </a:p>
        </p:txBody>
      </p:sp>
      <p:sp>
        <p:nvSpPr>
          <p:cNvPr id="11" name="Shape 8"/>
          <p:cNvSpPr/>
          <p:nvPr/>
        </p:nvSpPr>
        <p:spPr>
          <a:xfrm>
            <a:off x="640080" y="2651760"/>
            <a:ext cx="3484778" cy="3383280"/>
          </a:xfrm>
          <a:prstGeom prst="roundRect">
            <a:avLst>
              <a:gd name="adj" fmla="val 2432"/>
            </a:avLst>
          </a:prstGeom>
          <a:solidFill>
            <a:srgbClr val="F4F6F8"/>
          </a:solidFill>
          <a:ln w="12700">
            <a:solidFill>
              <a:srgbClr val="D8E1EA"/>
            </a:solidFill>
            <a:prstDash val="solid"/>
          </a:ln>
        </p:spPr>
      </p:sp>
      <p:sp>
        <p:nvSpPr>
          <p:cNvPr id="12" name="Text 9"/>
          <p:cNvSpPr txBox="1"/>
          <p:nvPr/>
        </p:nvSpPr>
        <p:spPr>
          <a:xfrm>
            <a:off x="877824" y="2788920"/>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Sample</a:t>
            </a:r>
            <a:endParaRPr lang="en-US" sz="1000" dirty="0"/>
          </a:p>
        </p:txBody>
      </p:sp>
      <p:sp>
        <p:nvSpPr>
          <p:cNvPr id="13" name="Text 10"/>
          <p:cNvSpPr txBox="1"/>
          <p:nvPr/>
        </p:nvSpPr>
        <p:spPr>
          <a:xfrm>
            <a:off x="877824" y="3008376"/>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Pre-dose trough</a:t>
            </a:r>
            <a:endParaRPr lang="en-US" sz="1150" dirty="0"/>
          </a:p>
        </p:txBody>
      </p:sp>
      <p:sp>
        <p:nvSpPr>
          <p:cNvPr id="14" name="Text 11"/>
          <p:cNvSpPr txBox="1"/>
          <p:nvPr/>
        </p:nvSpPr>
        <p:spPr>
          <a:xfrm>
            <a:off x="877824" y="3438144"/>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ke from</a:t>
            </a:r>
            <a:endParaRPr lang="en-US" sz="1000" dirty="0"/>
          </a:p>
        </p:txBody>
      </p:sp>
      <p:sp>
        <p:nvSpPr>
          <p:cNvPr id="15" name="Text 12"/>
          <p:cNvSpPr txBox="1"/>
          <p:nvPr/>
        </p:nvSpPr>
        <p:spPr>
          <a:xfrm>
            <a:off x="877824" y="3657600"/>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Population Vd + CrCl</a:t>
            </a:r>
            <a:endParaRPr lang="en-US" sz="1150" dirty="0"/>
          </a:p>
        </p:txBody>
      </p:sp>
      <p:sp>
        <p:nvSpPr>
          <p:cNvPr id="16" name="Text 13"/>
          <p:cNvSpPr txBox="1"/>
          <p:nvPr/>
        </p:nvSpPr>
        <p:spPr>
          <a:xfrm>
            <a:off x="877824" y="4087368"/>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Method</a:t>
            </a:r>
            <a:endParaRPr lang="en-US" sz="1000" dirty="0"/>
          </a:p>
        </p:txBody>
      </p:sp>
      <p:sp>
        <p:nvSpPr>
          <p:cNvPr id="17" name="Text 14"/>
          <p:cNvSpPr txBox="1"/>
          <p:nvPr/>
        </p:nvSpPr>
        <p:spPr>
          <a:xfrm>
            <a:off x="877824" y="4306824"/>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Cockcroft–Gault</a:t>
            </a:r>
            <a:endParaRPr lang="en-US" sz="1150" dirty="0"/>
          </a:p>
        </p:txBody>
      </p:sp>
      <p:sp>
        <p:nvSpPr>
          <p:cNvPr id="18" name="Text 15"/>
          <p:cNvSpPr txBox="1"/>
          <p:nvPr/>
        </p:nvSpPr>
        <p:spPr>
          <a:xfrm>
            <a:off x="877824" y="4736592"/>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Use when</a:t>
            </a:r>
            <a:endParaRPr lang="en-US" sz="1000" dirty="0"/>
          </a:p>
        </p:txBody>
      </p:sp>
      <p:sp>
        <p:nvSpPr>
          <p:cNvPr id="19" name="Text 16"/>
          <p:cNvSpPr txBox="1"/>
          <p:nvPr/>
        </p:nvSpPr>
        <p:spPr>
          <a:xfrm>
            <a:off x="877824" y="4956048"/>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Only a trough level is available</a:t>
            </a:r>
            <a:endParaRPr lang="en-US" sz="1150" dirty="0"/>
          </a:p>
        </p:txBody>
      </p:sp>
      <p:sp>
        <p:nvSpPr>
          <p:cNvPr id="20" name="Text 17"/>
          <p:cNvSpPr txBox="1"/>
          <p:nvPr/>
        </p:nvSpPr>
        <p:spPr>
          <a:xfrm>
            <a:off x="877824" y="5385816"/>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Trade-off</a:t>
            </a:r>
            <a:endParaRPr lang="en-US" sz="1000" dirty="0"/>
          </a:p>
        </p:txBody>
      </p:sp>
      <p:sp>
        <p:nvSpPr>
          <p:cNvPr id="21" name="Text 18"/>
          <p:cNvSpPr txBox="1"/>
          <p:nvPr/>
        </p:nvSpPr>
        <p:spPr>
          <a:xfrm>
            <a:off x="877824" y="5605272"/>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Fastest, but relies on population priors</a:t>
            </a:r>
            <a:endParaRPr lang="en-US" sz="1150" dirty="0"/>
          </a:p>
        </p:txBody>
      </p:sp>
      <p:sp>
        <p:nvSpPr>
          <p:cNvPr id="22" name="Shape 19"/>
          <p:cNvSpPr/>
          <p:nvPr/>
        </p:nvSpPr>
        <p:spPr>
          <a:xfrm>
            <a:off x="4353458" y="1691640"/>
            <a:ext cx="3484778" cy="868680"/>
          </a:xfrm>
          <a:prstGeom prst="roundRect">
            <a:avLst>
              <a:gd name="adj" fmla="val 9474"/>
            </a:avLst>
          </a:prstGeom>
          <a:solidFill>
            <a:srgbClr val="073A6B"/>
          </a:solidFill>
          <a:ln w="12700">
            <a:solidFill>
              <a:srgbClr val="073A6B"/>
            </a:solidFill>
            <a:prstDash val="solid"/>
          </a:ln>
        </p:spPr>
      </p:sp>
      <p:sp>
        <p:nvSpPr>
          <p:cNvPr id="23" name="Text 20"/>
          <p:cNvSpPr txBox="1"/>
          <p:nvPr/>
        </p:nvSpPr>
        <p:spPr>
          <a:xfrm>
            <a:off x="4591202" y="1783080"/>
            <a:ext cx="3009290" cy="347472"/>
          </a:xfrm>
          <a:prstGeom prst="rect">
            <a:avLst/>
          </a:prstGeom>
          <a:noFill/>
          <a:ln/>
        </p:spPr>
        <p:txBody>
          <a:bodyPr wrap="square" lIns="0" tIns="0" rIns="0" bIns="0" rtlCol="0" anchor="ctr"/>
          <a:lstStyle/>
          <a:p>
            <a:pPr indent="0" marL="0">
              <a:buNone/>
            </a:pPr>
            <a:r>
              <a:rPr lang="en-US" sz="2000" b="1" dirty="0">
                <a:solidFill>
                  <a:srgbClr val="FFFFFF"/>
                </a:solidFill>
                <a:latin typeface="Courier New" pitchFamily="34" charset="0"/>
                <a:ea typeface="Courier New" pitchFamily="34" charset="-122"/>
                <a:cs typeface="Courier New" pitchFamily="34" charset="-120"/>
              </a:rPr>
              <a:t>POST</a:t>
            </a:r>
            <a:endParaRPr lang="en-US" sz="2000" dirty="0"/>
          </a:p>
        </p:txBody>
      </p:sp>
      <p:sp>
        <p:nvSpPr>
          <p:cNvPr id="24" name="Text 21"/>
          <p:cNvSpPr txBox="1"/>
          <p:nvPr/>
        </p:nvSpPr>
        <p:spPr>
          <a:xfrm>
            <a:off x="4591202" y="2148840"/>
            <a:ext cx="3009290" cy="274320"/>
          </a:xfrm>
          <a:prstGeom prst="rect">
            <a:avLst/>
          </a:prstGeom>
          <a:noFill/>
          <a:ln/>
        </p:spPr>
        <p:txBody>
          <a:bodyPr wrap="square" lIns="0" tIns="0" rIns="0" bIns="0" rtlCol="0" anchor="ctr"/>
          <a:lstStyle/>
          <a:p>
            <a:pPr indent="0" marL="0">
              <a:buNone/>
            </a:pPr>
            <a:r>
              <a:rPr lang="en-US" sz="1250" dirty="0">
                <a:solidFill>
                  <a:srgbClr val="D2E2F0"/>
                </a:solidFill>
                <a:latin typeface="Calibri" pitchFamily="34" charset="0"/>
                <a:ea typeface="Calibri" pitchFamily="34" charset="-122"/>
                <a:cs typeface="Calibri" pitchFamily="34" charset="-120"/>
              </a:rPr>
              <a:t>Peak only</a:t>
            </a:r>
            <a:endParaRPr lang="en-US" sz="1250" dirty="0"/>
          </a:p>
        </p:txBody>
      </p:sp>
      <p:sp>
        <p:nvSpPr>
          <p:cNvPr id="25" name="Shape 22"/>
          <p:cNvSpPr/>
          <p:nvPr/>
        </p:nvSpPr>
        <p:spPr>
          <a:xfrm>
            <a:off x="4353458" y="2651760"/>
            <a:ext cx="3484778" cy="3383280"/>
          </a:xfrm>
          <a:prstGeom prst="roundRect">
            <a:avLst>
              <a:gd name="adj" fmla="val 2432"/>
            </a:avLst>
          </a:prstGeom>
          <a:solidFill>
            <a:srgbClr val="F4F6F8"/>
          </a:solidFill>
          <a:ln w="12700">
            <a:solidFill>
              <a:srgbClr val="D8E1EA"/>
            </a:solidFill>
            <a:prstDash val="solid"/>
          </a:ln>
        </p:spPr>
      </p:sp>
      <p:sp>
        <p:nvSpPr>
          <p:cNvPr id="26" name="Text 23"/>
          <p:cNvSpPr txBox="1"/>
          <p:nvPr/>
        </p:nvSpPr>
        <p:spPr>
          <a:xfrm>
            <a:off x="4591202" y="2788920"/>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Sample</a:t>
            </a:r>
            <a:endParaRPr lang="en-US" sz="1000" dirty="0"/>
          </a:p>
        </p:txBody>
      </p:sp>
      <p:sp>
        <p:nvSpPr>
          <p:cNvPr id="27" name="Text 24"/>
          <p:cNvSpPr txBox="1"/>
          <p:nvPr/>
        </p:nvSpPr>
        <p:spPr>
          <a:xfrm>
            <a:off x="4591202" y="3008376"/>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One post-dose level</a:t>
            </a:r>
            <a:endParaRPr lang="en-US" sz="1150" dirty="0"/>
          </a:p>
        </p:txBody>
      </p:sp>
      <p:sp>
        <p:nvSpPr>
          <p:cNvPr id="28" name="Text 25"/>
          <p:cNvSpPr txBox="1"/>
          <p:nvPr/>
        </p:nvSpPr>
        <p:spPr>
          <a:xfrm>
            <a:off x="4591202" y="3438144"/>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ke from</a:t>
            </a:r>
            <a:endParaRPr lang="en-US" sz="1000" dirty="0"/>
          </a:p>
        </p:txBody>
      </p:sp>
      <p:sp>
        <p:nvSpPr>
          <p:cNvPr id="29" name="Text 26"/>
          <p:cNvSpPr txBox="1"/>
          <p:nvPr/>
        </p:nvSpPr>
        <p:spPr>
          <a:xfrm>
            <a:off x="4591202" y="3657600"/>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Iterative curve fit</a:t>
            </a:r>
            <a:endParaRPr lang="en-US" sz="1150" dirty="0"/>
          </a:p>
        </p:txBody>
      </p:sp>
      <p:sp>
        <p:nvSpPr>
          <p:cNvPr id="30" name="Text 27"/>
          <p:cNvSpPr txBox="1"/>
          <p:nvPr/>
        </p:nvSpPr>
        <p:spPr>
          <a:xfrm>
            <a:off x="4591202" y="4087368"/>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Method</a:t>
            </a:r>
            <a:endParaRPr lang="en-US" sz="1000" dirty="0"/>
          </a:p>
        </p:txBody>
      </p:sp>
      <p:sp>
        <p:nvSpPr>
          <p:cNvPr id="31" name="Text 28"/>
          <p:cNvSpPr txBox="1"/>
          <p:nvPr/>
        </p:nvSpPr>
        <p:spPr>
          <a:xfrm>
            <a:off x="4591202" y="4306824"/>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Newton–Raphson on the infusion model</a:t>
            </a:r>
            <a:endParaRPr lang="en-US" sz="1150" dirty="0"/>
          </a:p>
        </p:txBody>
      </p:sp>
      <p:sp>
        <p:nvSpPr>
          <p:cNvPr id="32" name="Text 29"/>
          <p:cNvSpPr txBox="1"/>
          <p:nvPr/>
        </p:nvSpPr>
        <p:spPr>
          <a:xfrm>
            <a:off x="4591202" y="4736592"/>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Use when</a:t>
            </a:r>
            <a:endParaRPr lang="en-US" sz="1000" dirty="0"/>
          </a:p>
        </p:txBody>
      </p:sp>
      <p:sp>
        <p:nvSpPr>
          <p:cNvPr id="33" name="Text 30"/>
          <p:cNvSpPr txBox="1"/>
          <p:nvPr/>
        </p:nvSpPr>
        <p:spPr>
          <a:xfrm>
            <a:off x="4591202" y="4956048"/>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Only a post-dose level was drawn</a:t>
            </a:r>
            <a:endParaRPr lang="en-US" sz="1150" dirty="0"/>
          </a:p>
        </p:txBody>
      </p:sp>
      <p:sp>
        <p:nvSpPr>
          <p:cNvPr id="34" name="Text 31"/>
          <p:cNvSpPr txBox="1"/>
          <p:nvPr/>
        </p:nvSpPr>
        <p:spPr>
          <a:xfrm>
            <a:off x="4591202" y="5385816"/>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Trade-off</a:t>
            </a:r>
            <a:endParaRPr lang="en-US" sz="1000" dirty="0"/>
          </a:p>
        </p:txBody>
      </p:sp>
      <p:sp>
        <p:nvSpPr>
          <p:cNvPr id="35" name="Text 32"/>
          <p:cNvSpPr txBox="1"/>
          <p:nvPr/>
        </p:nvSpPr>
        <p:spPr>
          <a:xfrm>
            <a:off x="4591202" y="5605272"/>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Fits ke from real data, still assumes Vd</a:t>
            </a:r>
            <a:endParaRPr lang="en-US" sz="1150" dirty="0"/>
          </a:p>
        </p:txBody>
      </p:sp>
      <p:sp>
        <p:nvSpPr>
          <p:cNvPr id="36" name="Shape 33"/>
          <p:cNvSpPr/>
          <p:nvPr/>
        </p:nvSpPr>
        <p:spPr>
          <a:xfrm>
            <a:off x="8066837" y="1691640"/>
            <a:ext cx="3484778" cy="868680"/>
          </a:xfrm>
          <a:prstGeom prst="roundRect">
            <a:avLst>
              <a:gd name="adj" fmla="val 9474"/>
            </a:avLst>
          </a:prstGeom>
          <a:solidFill>
            <a:srgbClr val="0F6B6B"/>
          </a:solidFill>
          <a:ln w="12700">
            <a:solidFill>
              <a:srgbClr val="0F6B6B"/>
            </a:solidFill>
            <a:prstDash val="solid"/>
          </a:ln>
        </p:spPr>
      </p:sp>
      <p:sp>
        <p:nvSpPr>
          <p:cNvPr id="37" name="Text 34"/>
          <p:cNvSpPr txBox="1"/>
          <p:nvPr/>
        </p:nvSpPr>
        <p:spPr>
          <a:xfrm>
            <a:off x="8304581" y="1783080"/>
            <a:ext cx="3009290" cy="347472"/>
          </a:xfrm>
          <a:prstGeom prst="rect">
            <a:avLst/>
          </a:prstGeom>
          <a:noFill/>
          <a:ln/>
        </p:spPr>
        <p:txBody>
          <a:bodyPr wrap="square" lIns="0" tIns="0" rIns="0" bIns="0" rtlCol="0" anchor="ctr"/>
          <a:lstStyle/>
          <a:p>
            <a:pPr indent="0" marL="0">
              <a:buNone/>
            </a:pPr>
            <a:r>
              <a:rPr lang="en-US" sz="2000" b="1" dirty="0">
                <a:solidFill>
                  <a:srgbClr val="FFFFFF"/>
                </a:solidFill>
                <a:latin typeface="Courier New" pitchFamily="34" charset="0"/>
                <a:ea typeface="Courier New" pitchFamily="34" charset="-122"/>
                <a:cs typeface="Courier New" pitchFamily="34" charset="-120"/>
              </a:rPr>
              <a:t>PRE_POST</a:t>
            </a:r>
            <a:endParaRPr lang="en-US" sz="2000" dirty="0"/>
          </a:p>
        </p:txBody>
      </p:sp>
      <p:sp>
        <p:nvSpPr>
          <p:cNvPr id="38" name="Text 35"/>
          <p:cNvSpPr txBox="1"/>
          <p:nvPr/>
        </p:nvSpPr>
        <p:spPr>
          <a:xfrm>
            <a:off x="8304581" y="2148840"/>
            <a:ext cx="3009290" cy="274320"/>
          </a:xfrm>
          <a:prstGeom prst="rect">
            <a:avLst/>
          </a:prstGeom>
          <a:noFill/>
          <a:ln/>
        </p:spPr>
        <p:txBody>
          <a:bodyPr wrap="square" lIns="0" tIns="0" rIns="0" bIns="0" rtlCol="0" anchor="ctr"/>
          <a:lstStyle/>
          <a:p>
            <a:pPr indent="0" marL="0">
              <a:buNone/>
            </a:pPr>
            <a:r>
              <a:rPr lang="en-US" sz="1250" dirty="0">
                <a:solidFill>
                  <a:srgbClr val="D2E2F0"/>
                </a:solidFill>
                <a:latin typeface="Calibri" pitchFamily="34" charset="0"/>
                <a:ea typeface="Calibri" pitchFamily="34" charset="-122"/>
                <a:cs typeface="Calibri" pitchFamily="34" charset="-120"/>
              </a:rPr>
              <a:t>Trough + peak</a:t>
            </a:r>
            <a:endParaRPr lang="en-US" sz="1250" dirty="0"/>
          </a:p>
        </p:txBody>
      </p:sp>
      <p:sp>
        <p:nvSpPr>
          <p:cNvPr id="39" name="Shape 36"/>
          <p:cNvSpPr/>
          <p:nvPr/>
        </p:nvSpPr>
        <p:spPr>
          <a:xfrm>
            <a:off x="8066837" y="2651760"/>
            <a:ext cx="3484778" cy="3383280"/>
          </a:xfrm>
          <a:prstGeom prst="roundRect">
            <a:avLst>
              <a:gd name="adj" fmla="val 2432"/>
            </a:avLst>
          </a:prstGeom>
          <a:solidFill>
            <a:srgbClr val="EAF2FA"/>
          </a:solidFill>
          <a:ln w="12700">
            <a:solidFill>
              <a:srgbClr val="D8E1EA"/>
            </a:solidFill>
            <a:prstDash val="solid"/>
          </a:ln>
        </p:spPr>
      </p:sp>
      <p:sp>
        <p:nvSpPr>
          <p:cNvPr id="40" name="Text 37"/>
          <p:cNvSpPr txBox="1"/>
          <p:nvPr/>
        </p:nvSpPr>
        <p:spPr>
          <a:xfrm>
            <a:off x="8304581" y="2788920"/>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Sample</a:t>
            </a:r>
            <a:endParaRPr lang="en-US" sz="1000" dirty="0"/>
          </a:p>
        </p:txBody>
      </p:sp>
      <p:sp>
        <p:nvSpPr>
          <p:cNvPr id="41" name="Text 38"/>
          <p:cNvSpPr txBox="1"/>
          <p:nvPr/>
        </p:nvSpPr>
        <p:spPr>
          <a:xfrm>
            <a:off x="8304581" y="3008376"/>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Both trough and peak</a:t>
            </a:r>
            <a:endParaRPr lang="en-US" sz="1150" dirty="0"/>
          </a:p>
        </p:txBody>
      </p:sp>
      <p:sp>
        <p:nvSpPr>
          <p:cNvPr id="42" name="Text 39"/>
          <p:cNvSpPr txBox="1"/>
          <p:nvPr/>
        </p:nvSpPr>
        <p:spPr>
          <a:xfrm>
            <a:off x="8304581" y="3438144"/>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ke from</a:t>
            </a:r>
            <a:endParaRPr lang="en-US" sz="1000" dirty="0"/>
          </a:p>
        </p:txBody>
      </p:sp>
      <p:sp>
        <p:nvSpPr>
          <p:cNvPr id="43" name="Text 40"/>
          <p:cNvSpPr txBox="1"/>
          <p:nvPr/>
        </p:nvSpPr>
        <p:spPr>
          <a:xfrm>
            <a:off x="8304581" y="3657600"/>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Two measured points</a:t>
            </a:r>
            <a:endParaRPr lang="en-US" sz="1150" dirty="0"/>
          </a:p>
        </p:txBody>
      </p:sp>
      <p:sp>
        <p:nvSpPr>
          <p:cNvPr id="44" name="Text 41"/>
          <p:cNvSpPr txBox="1"/>
          <p:nvPr/>
        </p:nvSpPr>
        <p:spPr>
          <a:xfrm>
            <a:off x="8304581" y="4087368"/>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Method</a:t>
            </a:r>
            <a:endParaRPr lang="en-US" sz="1000" dirty="0"/>
          </a:p>
        </p:txBody>
      </p:sp>
      <p:sp>
        <p:nvSpPr>
          <p:cNvPr id="45" name="Text 42"/>
          <p:cNvSpPr txBox="1"/>
          <p:nvPr/>
        </p:nvSpPr>
        <p:spPr>
          <a:xfrm>
            <a:off x="8304581" y="4306824"/>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Sawchuk–Zaske log-linear regression</a:t>
            </a:r>
            <a:endParaRPr lang="en-US" sz="1150" dirty="0"/>
          </a:p>
        </p:txBody>
      </p:sp>
      <p:sp>
        <p:nvSpPr>
          <p:cNvPr id="46" name="Text 43"/>
          <p:cNvSpPr txBox="1"/>
          <p:nvPr/>
        </p:nvSpPr>
        <p:spPr>
          <a:xfrm>
            <a:off x="8304581" y="4736592"/>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Use when</a:t>
            </a:r>
            <a:endParaRPr lang="en-US" sz="1000" dirty="0"/>
          </a:p>
        </p:txBody>
      </p:sp>
      <p:sp>
        <p:nvSpPr>
          <p:cNvPr id="47" name="Text 44"/>
          <p:cNvSpPr txBox="1"/>
          <p:nvPr/>
        </p:nvSpPr>
        <p:spPr>
          <a:xfrm>
            <a:off x="8304581" y="4956048"/>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Both levels are available</a:t>
            </a:r>
            <a:endParaRPr lang="en-US" sz="1150" dirty="0"/>
          </a:p>
        </p:txBody>
      </p:sp>
      <p:sp>
        <p:nvSpPr>
          <p:cNvPr id="48" name="Text 45"/>
          <p:cNvSpPr txBox="1"/>
          <p:nvPr/>
        </p:nvSpPr>
        <p:spPr>
          <a:xfrm>
            <a:off x="8304581" y="5385816"/>
            <a:ext cx="3009290" cy="219456"/>
          </a:xfrm>
          <a:prstGeom prst="rect">
            <a:avLst/>
          </a:prstGeom>
          <a:noFill/>
          <a:ln/>
        </p:spPr>
        <p:txBody>
          <a:bodyPr wrap="square" lIns="0" tIns="0" rIns="0" bIns="0" rtlCol="0" anchor="ctr"/>
          <a:lstStyle/>
          <a:p>
            <a:pPr indent="0" marL="0">
              <a:buNone/>
            </a:pPr>
            <a:r>
              <a:rPr lang="en-US" sz="1000" b="1" spc="100" kern="0" dirty="0">
                <a:solidFill>
                  <a:srgbClr val="8A96A3"/>
                </a:solidFill>
                <a:latin typeface="Calibri" pitchFamily="34" charset="0"/>
                <a:ea typeface="Calibri" pitchFamily="34" charset="-122"/>
                <a:cs typeface="Calibri" pitchFamily="34" charset="-120"/>
              </a:rPr>
              <a:t>Trade-off</a:t>
            </a:r>
            <a:endParaRPr lang="en-US" sz="1000" dirty="0"/>
          </a:p>
        </p:txBody>
      </p:sp>
      <p:sp>
        <p:nvSpPr>
          <p:cNvPr id="49" name="Text 46"/>
          <p:cNvSpPr txBox="1"/>
          <p:nvPr/>
        </p:nvSpPr>
        <p:spPr>
          <a:xfrm>
            <a:off x="8304581" y="5605272"/>
            <a:ext cx="3009290" cy="402336"/>
          </a:xfrm>
          <a:prstGeom prst="rect">
            <a:avLst/>
          </a:prstGeom>
          <a:noFill/>
          <a:ln/>
        </p:spPr>
        <p:txBody>
          <a:bodyPr wrap="square" lIns="0" tIns="0" rIns="0" bIns="0" rtlCol="0" anchor="ctr"/>
          <a:lstStyle/>
          <a:p>
            <a:pPr indent="0" marL="0">
              <a:lnSpc>
                <a:spcPts val="1500"/>
              </a:lnSpc>
              <a:buNone/>
            </a:pPr>
            <a:r>
              <a:rPr lang="en-US" sz="1150" dirty="0">
                <a:solidFill>
                  <a:srgbClr val="0B2545"/>
                </a:solidFill>
                <a:latin typeface="Calibri" pitchFamily="34" charset="0"/>
                <a:ea typeface="Calibri" pitchFamily="34" charset="-122"/>
                <a:cs typeface="Calibri" pitchFamily="34" charset="-120"/>
              </a:rPr>
              <a:t>Most patient-specific — the default</a:t>
            </a:r>
            <a:endParaRPr lang="en-US" sz="1150" dirty="0"/>
          </a:p>
        </p:txBody>
      </p:sp>
      <p:sp>
        <p:nvSpPr>
          <p:cNvPr id="50" name="Text 47"/>
          <p:cNvSpPr txBox="1"/>
          <p:nvPr/>
        </p:nvSpPr>
        <p:spPr>
          <a:xfrm>
            <a:off x="640080" y="6144768"/>
            <a:ext cx="10911535" cy="274320"/>
          </a:xfrm>
          <a:prstGeom prst="rect">
            <a:avLst/>
          </a:prstGeom>
          <a:noFill/>
          <a:ln/>
        </p:spPr>
        <p:txBody>
          <a:bodyPr wrap="square" lIns="0" tIns="0" rIns="0" bIns="0" rtlCol="0" anchor="ctr"/>
          <a:lstStyle/>
          <a:p>
            <a:pPr algn="ctr" indent="0" marL="0">
              <a:buNone/>
            </a:pPr>
            <a:r>
              <a:rPr lang="en-US" sz="1050" dirty="0">
                <a:solidFill>
                  <a:srgbClr val="073A6B"/>
                </a:solidFill>
                <a:latin typeface="Courier New" pitchFamily="34" charset="0"/>
                <a:ea typeface="Courier New" pitchFamily="34" charset="-122"/>
                <a:cs typeface="Courier New" pitchFamily="34" charset="-120"/>
              </a:rPr>
              <a:t>Sawchuk–Zaske:  ke = ln(C_peak / C_trough) / (t_trough − t_peak)      →      Vd = D × (1 − e^(−ke·T)) / (ke × T × C_peak)</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07 · THE ENGINE</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The calculation workflow — three paths, one answer</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The workflows differ in exactly one place: how ke is obtained. After that they converge completely.</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23</a:t>
            </a:r>
            <a:endParaRPr lang="en-US" sz="900" dirty="0"/>
          </a:p>
        </p:txBody>
      </p:sp>
      <p:sp>
        <p:nvSpPr>
          <p:cNvPr id="8" name="Shape 5"/>
          <p:cNvSpPr/>
          <p:nvPr/>
        </p:nvSpPr>
        <p:spPr>
          <a:xfrm>
            <a:off x="640080" y="3246120"/>
            <a:ext cx="1783080" cy="1051560"/>
          </a:xfrm>
          <a:prstGeom prst="roundRect">
            <a:avLst>
              <a:gd name="adj" fmla="val 6957"/>
            </a:avLst>
          </a:prstGeom>
          <a:solidFill>
            <a:srgbClr val="0B2545"/>
          </a:solidFill>
          <a:ln w="12700">
            <a:solidFill>
              <a:srgbClr val="0B2545"/>
            </a:solidFill>
            <a:prstDash val="solid"/>
          </a:ln>
        </p:spPr>
      </p:sp>
      <p:sp>
        <p:nvSpPr>
          <p:cNvPr id="9" name="Text 6"/>
          <p:cNvSpPr txBox="1"/>
          <p:nvPr/>
        </p:nvSpPr>
        <p:spPr>
          <a:xfrm>
            <a:off x="749808" y="3337560"/>
            <a:ext cx="156362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Inputs</a:t>
            </a:r>
            <a:endParaRPr lang="en-US" sz="1200" dirty="0"/>
          </a:p>
        </p:txBody>
      </p:sp>
      <p:sp>
        <p:nvSpPr>
          <p:cNvPr id="10" name="Text 7"/>
          <p:cNvSpPr txBox="1"/>
          <p:nvPr/>
        </p:nvSpPr>
        <p:spPr>
          <a:xfrm>
            <a:off x="749808" y="3557016"/>
            <a:ext cx="1563624" cy="649224"/>
          </a:xfrm>
          <a:prstGeom prst="rect">
            <a:avLst/>
          </a:prstGeom>
          <a:noFill/>
          <a:ln/>
        </p:spPr>
        <p:txBody>
          <a:bodyPr wrap="square" lIns="0" tIns="0" rIns="0" bIns="0" rtlCol="0" anchor="ctr"/>
          <a:lstStyle/>
          <a:p>
            <a:pPr algn="ctr" indent="0" marL="0">
              <a:lnSpc>
                <a:spcPts val="1300"/>
              </a:lnSpc>
              <a:buNone/>
            </a:pPr>
            <a:r>
              <a:rPr lang="en-US" sz="1000" dirty="0">
                <a:solidFill>
                  <a:srgbClr val="FFFFFF"/>
                </a:solidFill>
                <a:latin typeface="Calibri" pitchFamily="34" charset="0"/>
                <a:ea typeface="Calibri" pitchFamily="34" charset="-122"/>
                <a:cs typeface="Calibri" pitchFamily="34" charset="-120"/>
              </a:rPr>
              <a:t>patient · dosing</a:t>
            </a:r>
            <a:endParaRPr lang="en-US" sz="1000" dirty="0"/>
          </a:p>
          <a:p>
            <a:pPr algn="ctr" indent="0" marL="0">
              <a:lnSpc>
                <a:spcPts val="1300"/>
              </a:lnSpc>
              <a:buNone/>
            </a:pPr>
            <a:r>
              <a:rPr lang="en-US" sz="1000" dirty="0">
                <a:solidFill>
                  <a:srgbClr val="FFFFFF"/>
                </a:solidFill>
                <a:latin typeface="Calibri" pitchFamily="34" charset="0"/>
                <a:ea typeface="Calibri" pitchFamily="34" charset="-122"/>
                <a:cs typeface="Calibri" pitchFamily="34" charset="-120"/>
              </a:rPr>
              <a:t>concentration samples</a:t>
            </a:r>
            <a:endParaRPr lang="en-US" sz="1000" dirty="0"/>
          </a:p>
        </p:txBody>
      </p:sp>
      <p:sp>
        <p:nvSpPr>
          <p:cNvPr id="11" name="Shape 8"/>
          <p:cNvSpPr/>
          <p:nvPr/>
        </p:nvSpPr>
        <p:spPr>
          <a:xfrm>
            <a:off x="2423160" y="3767328"/>
            <a:ext cx="365760" cy="0"/>
          </a:xfrm>
          <a:prstGeom prst="line">
            <a:avLst/>
          </a:prstGeom>
          <a:noFill/>
          <a:ln w="22225">
            <a:solidFill>
              <a:srgbClr val="8A96A3"/>
            </a:solidFill>
            <a:prstDash val="solid"/>
            <a:tailEnd type="triangle"/>
          </a:ln>
        </p:spPr>
      </p:sp>
      <p:sp>
        <p:nvSpPr>
          <p:cNvPr id="12" name="Shape 9"/>
          <p:cNvSpPr/>
          <p:nvPr/>
        </p:nvSpPr>
        <p:spPr>
          <a:xfrm>
            <a:off x="2788920" y="3200400"/>
            <a:ext cx="1371600" cy="1143000"/>
          </a:xfrm>
          <a:prstGeom prst="diamond">
            <a:avLst/>
          </a:prstGeom>
          <a:solidFill>
            <a:srgbClr val="EAF2FA"/>
          </a:solidFill>
          <a:ln w="12700">
            <a:solidFill>
              <a:srgbClr val="EAF2FA"/>
            </a:solidFill>
            <a:prstDash val="solid"/>
          </a:ln>
        </p:spPr>
      </p:sp>
      <p:sp>
        <p:nvSpPr>
          <p:cNvPr id="13" name="Text 10"/>
          <p:cNvSpPr txBox="1"/>
          <p:nvPr/>
        </p:nvSpPr>
        <p:spPr>
          <a:xfrm>
            <a:off x="2967228" y="3200400"/>
            <a:ext cx="1014984" cy="1143000"/>
          </a:xfrm>
          <a:prstGeom prst="rect">
            <a:avLst/>
          </a:prstGeom>
          <a:noFill/>
          <a:ln/>
        </p:spPr>
        <p:txBody>
          <a:bodyPr wrap="square" lIns="0" tIns="0" rIns="0" bIns="0" rtlCol="0" anchor="ctr"/>
          <a:lstStyle/>
          <a:p>
            <a:pPr algn="ctr" indent="0" marL="0">
              <a:buNone/>
            </a:pPr>
            <a:r>
              <a:rPr lang="en-US" sz="950" b="1" dirty="0">
                <a:solidFill>
                  <a:srgbClr val="073A6B"/>
                </a:solidFill>
                <a:latin typeface="Calibri" pitchFamily="34" charset="0"/>
                <a:ea typeface="Calibri" pitchFamily="34" charset="-122"/>
                <a:cs typeface="Calibri" pitchFamily="34" charset="-120"/>
              </a:rPr>
              <a:t>Which workflow?</a:t>
            </a:r>
            <a:endParaRPr lang="en-US" sz="950" dirty="0"/>
          </a:p>
        </p:txBody>
      </p:sp>
      <p:sp>
        <p:nvSpPr>
          <p:cNvPr id="14" name="Shape 11"/>
          <p:cNvSpPr/>
          <p:nvPr/>
        </p:nvSpPr>
        <p:spPr>
          <a:xfrm>
            <a:off x="4434840" y="1874520"/>
            <a:ext cx="3200400" cy="1097280"/>
          </a:xfrm>
          <a:prstGeom prst="roundRect">
            <a:avLst>
              <a:gd name="adj" fmla="val 6667"/>
            </a:avLst>
          </a:prstGeom>
          <a:solidFill>
            <a:srgbClr val="1464A8"/>
          </a:solidFill>
          <a:ln w="12700">
            <a:solidFill>
              <a:srgbClr val="1464A8"/>
            </a:solidFill>
            <a:prstDash val="solid"/>
          </a:ln>
        </p:spPr>
      </p:sp>
      <p:sp>
        <p:nvSpPr>
          <p:cNvPr id="15" name="Text 12"/>
          <p:cNvSpPr txBox="1"/>
          <p:nvPr/>
        </p:nvSpPr>
        <p:spPr>
          <a:xfrm>
            <a:off x="4544568" y="1965960"/>
            <a:ext cx="29809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   ·   Trough only</a:t>
            </a:r>
            <a:endParaRPr lang="en-US" sz="1200" dirty="0"/>
          </a:p>
        </p:txBody>
      </p:sp>
      <p:sp>
        <p:nvSpPr>
          <p:cNvPr id="16" name="Text 13"/>
          <p:cNvSpPr txBox="1"/>
          <p:nvPr/>
        </p:nvSpPr>
        <p:spPr>
          <a:xfrm>
            <a:off x="4544568" y="2185416"/>
            <a:ext cx="2980944" cy="694944"/>
          </a:xfrm>
          <a:prstGeom prst="rect">
            <a:avLst/>
          </a:prstGeom>
          <a:noFill/>
          <a:ln/>
        </p:spPr>
        <p:txBody>
          <a:bodyPr wrap="square" lIns="0" tIns="0" rIns="0" bIns="0" rtlCol="0" anchor="ctr"/>
          <a:lstStyle/>
          <a:p>
            <a:pPr algn="ctr" indent="0" marL="0">
              <a:lnSpc>
                <a:spcPts val="1300"/>
              </a:lnSpc>
              <a:buNone/>
            </a:pPr>
            <a:r>
              <a:rPr lang="en-US" sz="1000" dirty="0">
                <a:solidFill>
                  <a:srgbClr val="FFFFFF"/>
                </a:solidFill>
                <a:latin typeface="Calibri" pitchFamily="34" charset="0"/>
                <a:ea typeface="Calibri" pitchFamily="34" charset="-122"/>
                <a:cs typeface="Calibri" pitchFamily="34" charset="-120"/>
              </a:rPr>
              <a:t>CrCl (Cockcroft–Gault) → CL</a:t>
            </a:r>
            <a:endParaRPr lang="en-US" sz="1000" dirty="0"/>
          </a:p>
          <a:p>
            <a:pPr algn="ctr" indent="0" marL="0">
              <a:lnSpc>
                <a:spcPts val="1300"/>
              </a:lnSpc>
              <a:buNone/>
            </a:pPr>
            <a:r>
              <a:rPr lang="en-US" sz="1000" dirty="0">
                <a:solidFill>
                  <a:srgbClr val="FFFFFF"/>
                </a:solidFill>
                <a:latin typeface="Calibri" pitchFamily="34" charset="0"/>
                <a:ea typeface="Calibri" pitchFamily="34" charset="-122"/>
                <a:cs typeface="Calibri" pitchFamily="34" charset="-120"/>
              </a:rPr>
              <a:t>Vd = 0.7 L/kg → ke = CL / Vd</a:t>
            </a:r>
            <a:endParaRPr lang="en-US" sz="1000" dirty="0"/>
          </a:p>
        </p:txBody>
      </p:sp>
      <p:sp>
        <p:nvSpPr>
          <p:cNvPr id="17" name="Shape 14"/>
          <p:cNvSpPr/>
          <p:nvPr/>
        </p:nvSpPr>
        <p:spPr>
          <a:xfrm flipV="1">
            <a:off x="4160520" y="2423160"/>
            <a:ext cx="274320" cy="1344168"/>
          </a:xfrm>
          <a:prstGeom prst="line">
            <a:avLst/>
          </a:prstGeom>
          <a:noFill/>
          <a:ln w="22225">
            <a:solidFill>
              <a:srgbClr val="9FB4C8"/>
            </a:solidFill>
            <a:prstDash val="solid"/>
            <a:tailEnd type="triangle"/>
          </a:ln>
        </p:spPr>
      </p:sp>
      <p:sp>
        <p:nvSpPr>
          <p:cNvPr id="18" name="Shape 15"/>
          <p:cNvSpPr/>
          <p:nvPr/>
        </p:nvSpPr>
        <p:spPr>
          <a:xfrm>
            <a:off x="7635240" y="2423160"/>
            <a:ext cx="365760" cy="795528"/>
          </a:xfrm>
          <a:prstGeom prst="line">
            <a:avLst/>
          </a:prstGeom>
          <a:noFill/>
          <a:ln w="22225">
            <a:solidFill>
              <a:srgbClr val="9FB4C8"/>
            </a:solidFill>
            <a:prstDash val="solid"/>
            <a:tailEnd type="triangle"/>
          </a:ln>
        </p:spPr>
      </p:sp>
      <p:sp>
        <p:nvSpPr>
          <p:cNvPr id="19" name="Shape 16"/>
          <p:cNvSpPr/>
          <p:nvPr/>
        </p:nvSpPr>
        <p:spPr>
          <a:xfrm>
            <a:off x="4434840" y="3246120"/>
            <a:ext cx="3200400" cy="1097280"/>
          </a:xfrm>
          <a:prstGeom prst="roundRect">
            <a:avLst>
              <a:gd name="adj" fmla="val 6667"/>
            </a:avLst>
          </a:prstGeom>
          <a:solidFill>
            <a:srgbClr val="073A6B"/>
          </a:solidFill>
          <a:ln w="12700">
            <a:solidFill>
              <a:srgbClr val="073A6B"/>
            </a:solidFill>
            <a:prstDash val="solid"/>
          </a:ln>
        </p:spPr>
      </p:sp>
      <p:sp>
        <p:nvSpPr>
          <p:cNvPr id="20" name="Text 17"/>
          <p:cNvSpPr txBox="1"/>
          <p:nvPr/>
        </p:nvSpPr>
        <p:spPr>
          <a:xfrm>
            <a:off x="4544568" y="3337560"/>
            <a:ext cx="29809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POST   ·   Peak only</a:t>
            </a:r>
            <a:endParaRPr lang="en-US" sz="1200" dirty="0"/>
          </a:p>
        </p:txBody>
      </p:sp>
      <p:sp>
        <p:nvSpPr>
          <p:cNvPr id="21" name="Text 18"/>
          <p:cNvSpPr txBox="1"/>
          <p:nvPr/>
        </p:nvSpPr>
        <p:spPr>
          <a:xfrm>
            <a:off x="4544568" y="3557016"/>
            <a:ext cx="2980944" cy="694944"/>
          </a:xfrm>
          <a:prstGeom prst="rect">
            <a:avLst/>
          </a:prstGeom>
          <a:noFill/>
          <a:ln/>
        </p:spPr>
        <p:txBody>
          <a:bodyPr wrap="square" lIns="0" tIns="0" rIns="0" bIns="0" rtlCol="0" anchor="ctr"/>
          <a:lstStyle/>
          <a:p>
            <a:pPr algn="ctr" indent="0" marL="0">
              <a:lnSpc>
                <a:spcPts val="1300"/>
              </a:lnSpc>
              <a:buNone/>
            </a:pPr>
            <a:r>
              <a:rPr lang="en-US" sz="1000" dirty="0">
                <a:solidFill>
                  <a:srgbClr val="FFFFFF"/>
                </a:solidFill>
                <a:latin typeface="Calibri" pitchFamily="34" charset="0"/>
                <a:ea typeface="Calibri" pitchFamily="34" charset="-122"/>
                <a:cs typeface="Calibri" pitchFamily="34" charset="-120"/>
              </a:rPr>
              <a:t>Newton–Raphson fit of the</a:t>
            </a:r>
            <a:endParaRPr lang="en-US" sz="1000" dirty="0"/>
          </a:p>
          <a:p>
            <a:pPr algn="ctr" indent="0" marL="0">
              <a:lnSpc>
                <a:spcPts val="1300"/>
              </a:lnSpc>
              <a:buNone/>
            </a:pPr>
            <a:r>
              <a:rPr lang="en-US" sz="1000" dirty="0">
                <a:solidFill>
                  <a:srgbClr val="FFFFFF"/>
                </a:solidFill>
                <a:latin typeface="Calibri" pitchFamily="34" charset="0"/>
                <a:ea typeface="Calibri" pitchFamily="34" charset="-122"/>
                <a:cs typeface="Calibri" pitchFamily="34" charset="-120"/>
              </a:rPr>
              <a:t>infusion model → ke</a:t>
            </a:r>
            <a:endParaRPr lang="en-US" sz="1000" dirty="0"/>
          </a:p>
        </p:txBody>
      </p:sp>
      <p:sp>
        <p:nvSpPr>
          <p:cNvPr id="22" name="Shape 19"/>
          <p:cNvSpPr/>
          <p:nvPr/>
        </p:nvSpPr>
        <p:spPr>
          <a:xfrm>
            <a:off x="4160520" y="3767328"/>
            <a:ext cx="274320" cy="27432"/>
          </a:xfrm>
          <a:prstGeom prst="line">
            <a:avLst/>
          </a:prstGeom>
          <a:noFill/>
          <a:ln w="22225">
            <a:solidFill>
              <a:srgbClr val="9FB4C8"/>
            </a:solidFill>
            <a:prstDash val="solid"/>
            <a:tailEnd type="triangle"/>
          </a:ln>
        </p:spPr>
      </p:sp>
      <p:sp>
        <p:nvSpPr>
          <p:cNvPr id="23" name="Shape 20"/>
          <p:cNvSpPr/>
          <p:nvPr/>
        </p:nvSpPr>
        <p:spPr>
          <a:xfrm flipV="1">
            <a:off x="7635240" y="3218688"/>
            <a:ext cx="365760" cy="576072"/>
          </a:xfrm>
          <a:prstGeom prst="line">
            <a:avLst/>
          </a:prstGeom>
          <a:noFill/>
          <a:ln w="22225">
            <a:solidFill>
              <a:srgbClr val="9FB4C8"/>
            </a:solidFill>
            <a:prstDash val="solid"/>
            <a:tailEnd type="triangle"/>
          </a:ln>
        </p:spPr>
      </p:sp>
      <p:sp>
        <p:nvSpPr>
          <p:cNvPr id="24" name="Shape 21"/>
          <p:cNvSpPr/>
          <p:nvPr/>
        </p:nvSpPr>
        <p:spPr>
          <a:xfrm>
            <a:off x="4434840" y="4617720"/>
            <a:ext cx="3200400" cy="1097280"/>
          </a:xfrm>
          <a:prstGeom prst="roundRect">
            <a:avLst>
              <a:gd name="adj" fmla="val 6667"/>
            </a:avLst>
          </a:prstGeom>
          <a:solidFill>
            <a:srgbClr val="0F6B6B"/>
          </a:solidFill>
          <a:ln w="12700">
            <a:solidFill>
              <a:srgbClr val="0F6B6B"/>
            </a:solidFill>
            <a:prstDash val="solid"/>
          </a:ln>
        </p:spPr>
      </p:sp>
      <p:sp>
        <p:nvSpPr>
          <p:cNvPr id="25" name="Text 22"/>
          <p:cNvSpPr txBox="1"/>
          <p:nvPr/>
        </p:nvSpPr>
        <p:spPr>
          <a:xfrm>
            <a:off x="4544568" y="4709160"/>
            <a:ext cx="29809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PRE_POST   ·   Trough + peak</a:t>
            </a:r>
            <a:endParaRPr lang="en-US" sz="1200" dirty="0"/>
          </a:p>
        </p:txBody>
      </p:sp>
      <p:sp>
        <p:nvSpPr>
          <p:cNvPr id="26" name="Text 23"/>
          <p:cNvSpPr txBox="1"/>
          <p:nvPr/>
        </p:nvSpPr>
        <p:spPr>
          <a:xfrm>
            <a:off x="4544568" y="4928616"/>
            <a:ext cx="2980944" cy="694944"/>
          </a:xfrm>
          <a:prstGeom prst="rect">
            <a:avLst/>
          </a:prstGeom>
          <a:noFill/>
          <a:ln/>
        </p:spPr>
        <p:txBody>
          <a:bodyPr wrap="square" lIns="0" tIns="0" rIns="0" bIns="0" rtlCol="0" anchor="ctr"/>
          <a:lstStyle/>
          <a:p>
            <a:pPr algn="ctr" indent="0" marL="0">
              <a:lnSpc>
                <a:spcPts val="1300"/>
              </a:lnSpc>
              <a:buNone/>
            </a:pPr>
            <a:r>
              <a:rPr lang="en-US" sz="1000" dirty="0">
                <a:solidFill>
                  <a:srgbClr val="FFFFFF"/>
                </a:solidFill>
                <a:latin typeface="Calibri" pitchFamily="34" charset="0"/>
                <a:ea typeface="Calibri" pitchFamily="34" charset="-122"/>
                <a:cs typeface="Calibri" pitchFamily="34" charset="-120"/>
              </a:rPr>
              <a:t>Sawchuk–Zaske:</a:t>
            </a:r>
            <a:endParaRPr lang="en-US" sz="1000" dirty="0"/>
          </a:p>
          <a:p>
            <a:pPr algn="ctr" indent="0" marL="0">
              <a:lnSpc>
                <a:spcPts val="1300"/>
              </a:lnSpc>
              <a:buNone/>
            </a:pPr>
            <a:r>
              <a:rPr lang="en-US" sz="1000" dirty="0">
                <a:solidFill>
                  <a:srgbClr val="FFFFFF"/>
                </a:solidFill>
                <a:latin typeface="Calibri" pitchFamily="34" charset="0"/>
                <a:ea typeface="Calibri" pitchFamily="34" charset="-122"/>
                <a:cs typeface="Calibri" pitchFamily="34" charset="-120"/>
              </a:rPr>
              <a:t>ke = ln(Cpeak/Ctrough) / Δt</a:t>
            </a:r>
            <a:endParaRPr lang="en-US" sz="1000" dirty="0"/>
          </a:p>
        </p:txBody>
      </p:sp>
      <p:sp>
        <p:nvSpPr>
          <p:cNvPr id="27" name="Shape 24"/>
          <p:cNvSpPr/>
          <p:nvPr/>
        </p:nvSpPr>
        <p:spPr>
          <a:xfrm>
            <a:off x="4160520" y="3767328"/>
            <a:ext cx="274320" cy="1399032"/>
          </a:xfrm>
          <a:prstGeom prst="line">
            <a:avLst/>
          </a:prstGeom>
          <a:noFill/>
          <a:ln w="22225">
            <a:solidFill>
              <a:srgbClr val="9FB4C8"/>
            </a:solidFill>
            <a:prstDash val="solid"/>
            <a:tailEnd type="triangle"/>
          </a:ln>
        </p:spPr>
      </p:sp>
      <p:sp>
        <p:nvSpPr>
          <p:cNvPr id="28" name="Shape 25"/>
          <p:cNvSpPr/>
          <p:nvPr/>
        </p:nvSpPr>
        <p:spPr>
          <a:xfrm flipV="1">
            <a:off x="7635240" y="3218688"/>
            <a:ext cx="365760" cy="1947672"/>
          </a:xfrm>
          <a:prstGeom prst="line">
            <a:avLst/>
          </a:prstGeom>
          <a:noFill/>
          <a:ln w="22225">
            <a:solidFill>
              <a:srgbClr val="9FB4C8"/>
            </a:solidFill>
            <a:prstDash val="solid"/>
            <a:tailEnd type="triangle"/>
          </a:ln>
        </p:spPr>
      </p:sp>
      <p:sp>
        <p:nvSpPr>
          <p:cNvPr id="29" name="Shape 26"/>
          <p:cNvSpPr/>
          <p:nvPr/>
        </p:nvSpPr>
        <p:spPr>
          <a:xfrm>
            <a:off x="8001000" y="2880360"/>
            <a:ext cx="1965960" cy="685800"/>
          </a:xfrm>
          <a:prstGeom prst="roundRect">
            <a:avLst>
              <a:gd name="adj" fmla="val 10667"/>
            </a:avLst>
          </a:prstGeom>
          <a:solidFill>
            <a:srgbClr val="1E5C96"/>
          </a:solidFill>
          <a:ln w="12700">
            <a:solidFill>
              <a:srgbClr val="1E5C96"/>
            </a:solidFill>
            <a:prstDash val="solid"/>
          </a:ln>
        </p:spPr>
      </p:sp>
      <p:sp>
        <p:nvSpPr>
          <p:cNvPr id="30" name="Text 27"/>
          <p:cNvSpPr txBox="1"/>
          <p:nvPr/>
        </p:nvSpPr>
        <p:spPr>
          <a:xfrm>
            <a:off x="8110728" y="2971800"/>
            <a:ext cx="174650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  and  Vd</a:t>
            </a:r>
            <a:endParaRPr lang="en-US" sz="1200" dirty="0"/>
          </a:p>
        </p:txBody>
      </p:sp>
      <p:sp>
        <p:nvSpPr>
          <p:cNvPr id="31" name="Text 28"/>
          <p:cNvSpPr txBox="1"/>
          <p:nvPr/>
        </p:nvSpPr>
        <p:spPr>
          <a:xfrm>
            <a:off x="8110728" y="3191256"/>
            <a:ext cx="1746504" cy="283464"/>
          </a:xfrm>
          <a:prstGeom prst="rect">
            <a:avLst/>
          </a:prstGeom>
          <a:noFill/>
          <a:ln/>
        </p:spPr>
        <p:txBody>
          <a:bodyPr wrap="square" lIns="0" tIns="0" rIns="0" bIns="0" rtlCol="0" anchor="ctr"/>
          <a:lstStyle/>
          <a:p>
            <a:pPr algn="ctr" indent="0" marL="0">
              <a:lnSpc>
                <a:spcPts val="1300"/>
              </a:lnSpc>
              <a:buNone/>
            </a:pPr>
            <a:r>
              <a:rPr lang="en-US" sz="1000" dirty="0">
                <a:solidFill>
                  <a:srgbClr val="FFFFFF"/>
                </a:solidFill>
                <a:latin typeface="Calibri" pitchFamily="34" charset="0"/>
                <a:ea typeface="Calibri" pitchFamily="34" charset="-122"/>
                <a:cs typeface="Calibri" pitchFamily="34" charset="-120"/>
              </a:rPr>
              <a:t>every path must produce these two</a:t>
            </a:r>
            <a:endParaRPr lang="en-US" sz="1000" dirty="0"/>
          </a:p>
        </p:txBody>
      </p:sp>
      <p:sp>
        <p:nvSpPr>
          <p:cNvPr id="32" name="Shape 29"/>
          <p:cNvSpPr/>
          <p:nvPr/>
        </p:nvSpPr>
        <p:spPr>
          <a:xfrm>
            <a:off x="8983980" y="3566160"/>
            <a:ext cx="0" cy="164592"/>
          </a:xfrm>
          <a:prstGeom prst="line">
            <a:avLst/>
          </a:prstGeom>
          <a:noFill/>
          <a:ln w="22225">
            <a:solidFill>
              <a:srgbClr val="8A96A3"/>
            </a:solidFill>
            <a:prstDash val="solid"/>
            <a:tailEnd type="triangle"/>
          </a:ln>
        </p:spPr>
      </p:sp>
      <p:sp>
        <p:nvSpPr>
          <p:cNvPr id="33" name="Shape 30"/>
          <p:cNvSpPr/>
          <p:nvPr/>
        </p:nvSpPr>
        <p:spPr>
          <a:xfrm>
            <a:off x="8001000" y="3749040"/>
            <a:ext cx="1965960" cy="548640"/>
          </a:xfrm>
          <a:prstGeom prst="roundRect">
            <a:avLst>
              <a:gd name="adj" fmla="val 13333"/>
            </a:avLst>
          </a:prstGeom>
          <a:solidFill>
            <a:srgbClr val="17527F"/>
          </a:solidFill>
          <a:ln w="12700">
            <a:solidFill>
              <a:srgbClr val="17527F"/>
            </a:solidFill>
            <a:prstDash val="solid"/>
          </a:ln>
        </p:spPr>
      </p:sp>
      <p:sp>
        <p:nvSpPr>
          <p:cNvPr id="34" name="Text 31"/>
          <p:cNvSpPr txBox="1"/>
          <p:nvPr/>
        </p:nvSpPr>
        <p:spPr>
          <a:xfrm>
            <a:off x="8092440" y="3749040"/>
            <a:ext cx="17830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 = ke × Vd</a:t>
            </a:r>
            <a:endParaRPr lang="en-US" sz="1200" dirty="0"/>
          </a:p>
        </p:txBody>
      </p:sp>
      <p:sp>
        <p:nvSpPr>
          <p:cNvPr id="35" name="Shape 32"/>
          <p:cNvSpPr/>
          <p:nvPr/>
        </p:nvSpPr>
        <p:spPr>
          <a:xfrm>
            <a:off x="8983980" y="4297680"/>
            <a:ext cx="0" cy="228600"/>
          </a:xfrm>
          <a:prstGeom prst="line">
            <a:avLst/>
          </a:prstGeom>
          <a:noFill/>
          <a:ln w="22225">
            <a:solidFill>
              <a:srgbClr val="8A96A3"/>
            </a:solidFill>
            <a:prstDash val="solid"/>
            <a:tailEnd type="triangle"/>
          </a:ln>
        </p:spPr>
      </p:sp>
      <p:sp>
        <p:nvSpPr>
          <p:cNvPr id="36" name="Shape 33"/>
          <p:cNvSpPr/>
          <p:nvPr/>
        </p:nvSpPr>
        <p:spPr>
          <a:xfrm>
            <a:off x="8001000" y="4544568"/>
            <a:ext cx="1965960" cy="548640"/>
          </a:xfrm>
          <a:prstGeom prst="roundRect">
            <a:avLst>
              <a:gd name="adj" fmla="val 13333"/>
            </a:avLst>
          </a:prstGeom>
          <a:solidFill>
            <a:srgbClr val="14456E"/>
          </a:solidFill>
          <a:ln w="12700">
            <a:solidFill>
              <a:srgbClr val="14456E"/>
            </a:solidFill>
            <a:prstDash val="solid"/>
          </a:ln>
        </p:spPr>
      </p:sp>
      <p:sp>
        <p:nvSpPr>
          <p:cNvPr id="37" name="Text 34"/>
          <p:cNvSpPr txBox="1"/>
          <p:nvPr/>
        </p:nvSpPr>
        <p:spPr>
          <a:xfrm>
            <a:off x="8092440" y="4544568"/>
            <a:ext cx="178308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AUC₂₄ = (D/τ)×24/CL</a:t>
            </a:r>
            <a:endParaRPr lang="en-US" sz="1100" dirty="0"/>
          </a:p>
        </p:txBody>
      </p:sp>
      <p:sp>
        <p:nvSpPr>
          <p:cNvPr id="38" name="Shape 35"/>
          <p:cNvSpPr/>
          <p:nvPr/>
        </p:nvSpPr>
        <p:spPr>
          <a:xfrm>
            <a:off x="8983980" y="5093208"/>
            <a:ext cx="0" cy="256032"/>
          </a:xfrm>
          <a:prstGeom prst="line">
            <a:avLst/>
          </a:prstGeom>
          <a:noFill/>
          <a:ln w="22225">
            <a:solidFill>
              <a:srgbClr val="8A96A3"/>
            </a:solidFill>
            <a:prstDash val="solid"/>
            <a:tailEnd type="triangle"/>
          </a:ln>
        </p:spPr>
      </p:sp>
      <p:sp>
        <p:nvSpPr>
          <p:cNvPr id="39" name="Shape 36"/>
          <p:cNvSpPr/>
          <p:nvPr/>
        </p:nvSpPr>
        <p:spPr>
          <a:xfrm>
            <a:off x="8001000" y="5367528"/>
            <a:ext cx="1965960" cy="548640"/>
          </a:xfrm>
          <a:prstGeom prst="roundRect">
            <a:avLst>
              <a:gd name="adj" fmla="val 13333"/>
            </a:avLst>
          </a:prstGeom>
          <a:solidFill>
            <a:srgbClr val="0B2545"/>
          </a:solidFill>
          <a:ln w="12700">
            <a:solidFill>
              <a:srgbClr val="0B2545"/>
            </a:solidFill>
            <a:prstDash val="solid"/>
          </a:ln>
        </p:spPr>
      </p:sp>
      <p:sp>
        <p:nvSpPr>
          <p:cNvPr id="40" name="Text 37"/>
          <p:cNvSpPr txBox="1"/>
          <p:nvPr/>
        </p:nvSpPr>
        <p:spPr>
          <a:xfrm>
            <a:off x="8092440" y="5367528"/>
            <a:ext cx="178308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Recommended dose</a:t>
            </a:r>
            <a:endParaRPr lang="en-US" sz="1100" dirty="0"/>
          </a:p>
        </p:txBody>
      </p:sp>
      <p:sp>
        <p:nvSpPr>
          <p:cNvPr id="41" name="Shape 38"/>
          <p:cNvSpPr/>
          <p:nvPr/>
        </p:nvSpPr>
        <p:spPr>
          <a:xfrm>
            <a:off x="10378440" y="4389120"/>
            <a:ext cx="1173175" cy="868680"/>
          </a:xfrm>
          <a:prstGeom prst="diamond">
            <a:avLst/>
          </a:prstGeom>
          <a:solidFill>
            <a:srgbClr val="FFF3DC"/>
          </a:solidFill>
          <a:ln w="12700">
            <a:solidFill>
              <a:srgbClr val="E3C88A"/>
            </a:solidFill>
            <a:prstDash val="solid"/>
          </a:ln>
        </p:spPr>
      </p:sp>
      <p:sp>
        <p:nvSpPr>
          <p:cNvPr id="42" name="Text 39"/>
          <p:cNvSpPr txBox="1"/>
          <p:nvPr/>
        </p:nvSpPr>
        <p:spPr>
          <a:xfrm>
            <a:off x="10530953" y="4389120"/>
            <a:ext cx="868150" cy="868680"/>
          </a:xfrm>
          <a:prstGeom prst="rect">
            <a:avLst/>
          </a:prstGeom>
          <a:noFill/>
          <a:ln/>
        </p:spPr>
        <p:txBody>
          <a:bodyPr wrap="square" lIns="0" tIns="0" rIns="0" bIns="0" rtlCol="0" anchor="ctr"/>
          <a:lstStyle/>
          <a:p>
            <a:pPr algn="ctr" indent="0" marL="0">
              <a:buNone/>
            </a:pPr>
            <a:r>
              <a:rPr lang="en-US" sz="950" b="1" dirty="0">
                <a:solidFill>
                  <a:srgbClr val="7A5510"/>
                </a:solidFill>
                <a:latin typeface="Calibri" pitchFamily="34" charset="0"/>
                <a:ea typeface="Calibri" pitchFamily="34" charset="-122"/>
                <a:cs typeface="Calibri" pitchFamily="34" charset="-120"/>
              </a:rPr>
              <a:t>AUC₂₄ in 400–600?</a:t>
            </a:r>
            <a:endParaRPr lang="en-US" sz="950" dirty="0"/>
          </a:p>
        </p:txBody>
      </p:sp>
      <p:sp>
        <p:nvSpPr>
          <p:cNvPr id="43" name="Shape 40"/>
          <p:cNvSpPr/>
          <p:nvPr/>
        </p:nvSpPr>
        <p:spPr>
          <a:xfrm>
            <a:off x="9966960" y="4818888"/>
            <a:ext cx="411480" cy="0"/>
          </a:xfrm>
          <a:prstGeom prst="line">
            <a:avLst/>
          </a:prstGeom>
          <a:noFill/>
          <a:ln w="22225">
            <a:solidFill>
              <a:srgbClr val="9FB4C8"/>
            </a:solidFill>
            <a:prstDash val="solid"/>
            <a:tailEnd type="triangle"/>
          </a:ln>
        </p:spPr>
      </p:sp>
      <p:sp>
        <p:nvSpPr>
          <p:cNvPr id="44" name="Shape 41"/>
          <p:cNvSpPr/>
          <p:nvPr/>
        </p:nvSpPr>
        <p:spPr>
          <a:xfrm>
            <a:off x="10378440" y="3611880"/>
            <a:ext cx="1173175" cy="548640"/>
          </a:xfrm>
          <a:prstGeom prst="roundRect">
            <a:avLst>
              <a:gd name="adj" fmla="val 13333"/>
            </a:avLst>
          </a:prstGeom>
          <a:solidFill>
            <a:srgbClr val="00A896"/>
          </a:solidFill>
          <a:ln w="12700">
            <a:solidFill>
              <a:srgbClr val="00A896"/>
            </a:solidFill>
            <a:prstDash val="solid"/>
          </a:ln>
        </p:spPr>
      </p:sp>
      <p:sp>
        <p:nvSpPr>
          <p:cNvPr id="45" name="Text 42"/>
          <p:cNvSpPr txBox="1"/>
          <p:nvPr/>
        </p:nvSpPr>
        <p:spPr>
          <a:xfrm>
            <a:off x="10469880" y="3611880"/>
            <a:ext cx="990295"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 target  ·  therapeutic</a:t>
            </a:r>
            <a:endParaRPr lang="en-US" sz="1100" dirty="0"/>
          </a:p>
        </p:txBody>
      </p:sp>
      <p:sp>
        <p:nvSpPr>
          <p:cNvPr id="46" name="Shape 43"/>
          <p:cNvSpPr/>
          <p:nvPr/>
        </p:nvSpPr>
        <p:spPr>
          <a:xfrm flipV="1">
            <a:off x="10965028" y="4160520"/>
            <a:ext cx="0" cy="228600"/>
          </a:xfrm>
          <a:prstGeom prst="line">
            <a:avLst/>
          </a:prstGeom>
          <a:noFill/>
          <a:ln w="22225">
            <a:solidFill>
              <a:srgbClr val="00A896"/>
            </a:solidFill>
            <a:prstDash val="solid"/>
            <a:tailEnd type="triangle"/>
          </a:ln>
        </p:spPr>
      </p:sp>
      <p:sp>
        <p:nvSpPr>
          <p:cNvPr id="47" name="Text 44"/>
          <p:cNvSpPr txBox="1"/>
          <p:nvPr/>
        </p:nvSpPr>
        <p:spPr>
          <a:xfrm>
            <a:off x="11038180" y="4160520"/>
            <a:ext cx="457200" cy="219456"/>
          </a:xfrm>
          <a:prstGeom prst="rect">
            <a:avLst/>
          </a:prstGeom>
          <a:noFill/>
          <a:ln/>
        </p:spPr>
        <p:txBody>
          <a:bodyPr wrap="square" lIns="0" tIns="0" rIns="0" bIns="0" rtlCol="0" anchor="ctr"/>
          <a:lstStyle/>
          <a:p>
            <a:pPr algn="ctr" indent="0" marL="0">
              <a:buNone/>
            </a:pPr>
            <a:r>
              <a:rPr lang="en-US" sz="900" dirty="0">
                <a:solidFill>
                  <a:srgbClr val="1B7A4B"/>
                </a:solidFill>
                <a:latin typeface="Calibri" pitchFamily="34" charset="0"/>
                <a:ea typeface="Calibri" pitchFamily="34" charset="-122"/>
                <a:cs typeface="Calibri" pitchFamily="34" charset="-120"/>
              </a:rPr>
              <a:t>Yes</a:t>
            </a:r>
            <a:endParaRPr lang="en-US" sz="900" dirty="0"/>
          </a:p>
        </p:txBody>
      </p:sp>
      <p:sp>
        <p:nvSpPr>
          <p:cNvPr id="48" name="Shape 45"/>
          <p:cNvSpPr/>
          <p:nvPr/>
        </p:nvSpPr>
        <p:spPr>
          <a:xfrm>
            <a:off x="10378440" y="5486400"/>
            <a:ext cx="1173175" cy="548640"/>
          </a:xfrm>
          <a:prstGeom prst="roundRect">
            <a:avLst>
              <a:gd name="adj" fmla="val 13333"/>
            </a:avLst>
          </a:prstGeom>
          <a:solidFill>
            <a:srgbClr val="B26B00"/>
          </a:solidFill>
          <a:ln w="12700">
            <a:solidFill>
              <a:srgbClr val="B26B00"/>
            </a:solidFill>
            <a:prstDash val="solid"/>
          </a:ln>
        </p:spPr>
      </p:sp>
      <p:sp>
        <p:nvSpPr>
          <p:cNvPr id="49" name="Text 46"/>
          <p:cNvSpPr txBox="1"/>
          <p:nvPr/>
        </p:nvSpPr>
        <p:spPr>
          <a:xfrm>
            <a:off x="10469880" y="5486400"/>
            <a:ext cx="990295"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 of target  ·  adjust</a:t>
            </a:r>
            <a:endParaRPr lang="en-US" sz="1100" dirty="0"/>
          </a:p>
        </p:txBody>
      </p:sp>
      <p:sp>
        <p:nvSpPr>
          <p:cNvPr id="50" name="Shape 47"/>
          <p:cNvSpPr/>
          <p:nvPr/>
        </p:nvSpPr>
        <p:spPr>
          <a:xfrm>
            <a:off x="10965028" y="5257800"/>
            <a:ext cx="0" cy="228600"/>
          </a:xfrm>
          <a:prstGeom prst="line">
            <a:avLst/>
          </a:prstGeom>
          <a:noFill/>
          <a:ln w="22225">
            <a:solidFill>
              <a:srgbClr val="B26B00"/>
            </a:solidFill>
            <a:prstDash val="solid"/>
            <a:tailEnd type="triangle"/>
          </a:ln>
        </p:spPr>
      </p:sp>
      <p:sp>
        <p:nvSpPr>
          <p:cNvPr id="51" name="Text 48"/>
          <p:cNvSpPr txBox="1"/>
          <p:nvPr/>
        </p:nvSpPr>
        <p:spPr>
          <a:xfrm>
            <a:off x="11038180" y="5266944"/>
            <a:ext cx="457200" cy="219456"/>
          </a:xfrm>
          <a:prstGeom prst="rect">
            <a:avLst/>
          </a:prstGeom>
          <a:noFill/>
          <a:ln/>
        </p:spPr>
        <p:txBody>
          <a:bodyPr wrap="square" lIns="0" tIns="0" rIns="0" bIns="0" rtlCol="0" anchor="ctr"/>
          <a:lstStyle/>
          <a:p>
            <a:pPr algn="ctr" indent="0" marL="0">
              <a:buNone/>
            </a:pPr>
            <a:r>
              <a:rPr lang="en-US" sz="900" dirty="0">
                <a:solidFill>
                  <a:srgbClr val="B26B00"/>
                </a:solidFill>
                <a:latin typeface="Calibri" pitchFamily="34" charset="0"/>
                <a:ea typeface="Calibri" pitchFamily="34" charset="-122"/>
                <a:cs typeface="Calibri" pitchFamily="34" charset="-120"/>
              </a:rPr>
              <a:t>No</a:t>
            </a:r>
            <a:endParaRPr lang="en-US" sz="900" dirty="0"/>
          </a:p>
        </p:txBody>
      </p:sp>
      <p:sp>
        <p:nvSpPr>
          <p:cNvPr id="52" name="Text 49"/>
          <p:cNvSpPr txBox="1"/>
          <p:nvPr/>
        </p:nvSpPr>
        <p:spPr>
          <a:xfrm>
            <a:off x="640080" y="6108192"/>
            <a:ext cx="10911535" cy="256032"/>
          </a:xfrm>
          <a:prstGeom prst="rect">
            <a:avLst/>
          </a:prstGeom>
          <a:noFill/>
          <a:ln/>
        </p:spPr>
        <p:txBody>
          <a:bodyPr wrap="square" lIns="0" tIns="0" rIns="0" bIns="0" rtlCol="0" anchor="ctr"/>
          <a:lstStyle/>
          <a:p>
            <a:pPr algn="ctr" indent="0" marL="0">
              <a:buNone/>
            </a:pPr>
            <a:r>
              <a:rPr lang="en-US" sz="1000" i="1" dirty="0">
                <a:solidFill>
                  <a:srgbClr val="8A96A3"/>
                </a:solidFill>
                <a:latin typeface="Calibri" pitchFamily="34" charset="0"/>
                <a:ea typeface="Calibri" pitchFamily="34" charset="-122"/>
                <a:cs typeface="Calibri" pitchFamily="34" charset="-120"/>
              </a:rPr>
              <a:t>Recommended dose = AUC_target × CL × τ / 24, with AUC_target = 500 mg·h/L — the centre of the therapeutic band.</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07 · THE ENGINE</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Validation and error handling</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A clinical calculator must fail loudly, never silently. Nothing reaches the engine unchecked.</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24</a:t>
            </a:r>
            <a:endParaRPr lang="en-US" sz="900" dirty="0"/>
          </a:p>
        </p:txBody>
      </p:sp>
      <p:sp>
        <p:nvSpPr>
          <p:cNvPr id="8" name="Shape 5"/>
          <p:cNvSpPr/>
          <p:nvPr/>
        </p:nvSpPr>
        <p:spPr>
          <a:xfrm>
            <a:off x="640080" y="1691640"/>
            <a:ext cx="6583680" cy="1767840"/>
          </a:xfrm>
          <a:prstGeom prst="roundRect">
            <a:avLst>
              <a:gd name="adj" fmla="val 4655"/>
            </a:avLst>
          </a:prstGeom>
          <a:solidFill>
            <a:srgbClr val="0F2237"/>
          </a:solidFill>
          <a:ln w="12700">
            <a:solidFill>
              <a:srgbClr val="0F2237"/>
            </a:solidFill>
            <a:prstDash val="solid"/>
          </a:ln>
        </p:spPr>
      </p:sp>
      <p:sp>
        <p:nvSpPr>
          <p:cNvPr id="9" name="Text 6"/>
          <p:cNvSpPr txBox="1"/>
          <p:nvPr/>
        </p:nvSpPr>
        <p:spPr>
          <a:xfrm>
            <a:off x="804672" y="1828800"/>
            <a:ext cx="6254496" cy="1493520"/>
          </a:xfrm>
          <a:prstGeom prst="rect">
            <a:avLst/>
          </a:prstGeom>
          <a:noFill/>
          <a:ln/>
        </p:spPr>
        <p:txBody>
          <a:bodyPr wrap="square" lIns="0" tIns="0" rIns="0" bIns="0" rtlCol="0" anchor="t"/>
          <a:lstStyle/>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sealed class CalculationResult {</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data class Success(</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val workflow: VancoWorkflow,</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val intermediate: PkResults,</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 : CalculationResult()</a:t>
            </a:r>
            <a:endParaRPr lang="en-US" sz="1050" dirty="0"/>
          </a:p>
          <a:p>
            <a:pPr indent="0" marL="0">
              <a:lnSpc>
                <a:spcPts val="1470"/>
              </a:lnSpc>
              <a:buNone/>
            </a:pP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    data class Failure(val message: String) : CalculationResult()</a:t>
            </a:r>
            <a:endParaRPr lang="en-US" sz="1050" dirty="0"/>
          </a:p>
          <a:p>
            <a:pPr indent="0" marL="0">
              <a:lnSpc>
                <a:spcPts val="1470"/>
              </a:lnSpc>
              <a:buNone/>
            </a:pPr>
            <a:r>
              <a:rPr lang="en-US" sz="1050" dirty="0">
                <a:solidFill>
                  <a:srgbClr val="CFE3F5"/>
                </a:solidFill>
                <a:latin typeface="Courier New" pitchFamily="34" charset="0"/>
                <a:ea typeface="Courier New" pitchFamily="34" charset="-122"/>
                <a:cs typeface="Courier New" pitchFamily="34" charset="-120"/>
              </a:rPr>
              <a:t>}</a:t>
            </a:r>
            <a:endParaRPr lang="en-US" sz="1050" dirty="0"/>
          </a:p>
        </p:txBody>
      </p:sp>
      <p:sp>
        <p:nvSpPr>
          <p:cNvPr id="10" name="Text 7"/>
          <p:cNvSpPr txBox="1"/>
          <p:nvPr/>
        </p:nvSpPr>
        <p:spPr>
          <a:xfrm>
            <a:off x="640080" y="3611880"/>
            <a:ext cx="6583680" cy="457200"/>
          </a:xfrm>
          <a:prstGeom prst="rect">
            <a:avLst/>
          </a:prstGeom>
          <a:noFill/>
          <a:ln/>
        </p:spPr>
        <p:txBody>
          <a:bodyPr wrap="square" lIns="0" tIns="0" rIns="0" bIns="0" rtlCol="0" anchor="ctr"/>
          <a:lstStyle/>
          <a:p>
            <a:pPr indent="0" marL="0">
              <a:buNone/>
            </a:pPr>
            <a:r>
              <a:rPr lang="en-US" sz="1200" dirty="0">
                <a:solidFill>
                  <a:srgbClr val="5A6672"/>
                </a:solidFill>
                <a:latin typeface="Calibri" pitchFamily="34" charset="0"/>
                <a:ea typeface="Calibri" pitchFamily="34" charset="-122"/>
                <a:cs typeface="Calibri" pitchFamily="34" charset="-120"/>
              </a:rPr>
              <a:t>The result is a closed set, so the UI must handle both branches — the compiler will not let a failure be ignored.</a:t>
            </a:r>
            <a:endParaRPr lang="en-US" sz="1200" dirty="0"/>
          </a:p>
        </p:txBody>
      </p:sp>
      <p:sp>
        <p:nvSpPr>
          <p:cNvPr id="11" name="Shape 8"/>
          <p:cNvSpPr/>
          <p:nvPr/>
        </p:nvSpPr>
        <p:spPr>
          <a:xfrm>
            <a:off x="7543800" y="1691640"/>
            <a:ext cx="4007815" cy="786384"/>
          </a:xfrm>
          <a:prstGeom prst="roundRect">
            <a:avLst>
              <a:gd name="adj" fmla="val 10465"/>
            </a:avLst>
          </a:prstGeom>
          <a:solidFill>
            <a:srgbClr val="EAF2FA"/>
          </a:solidFill>
          <a:ln w="12700">
            <a:solidFill>
              <a:srgbClr val="D8E1EA"/>
            </a:solidFill>
            <a:prstDash val="solid"/>
          </a:ln>
        </p:spPr>
      </p:sp>
      <p:sp>
        <p:nvSpPr>
          <p:cNvPr id="12" name="Shape 9"/>
          <p:cNvSpPr/>
          <p:nvPr/>
        </p:nvSpPr>
        <p:spPr>
          <a:xfrm>
            <a:off x="7726680" y="1901952"/>
            <a:ext cx="365760" cy="365760"/>
          </a:xfrm>
          <a:prstGeom prst="ellipse">
            <a:avLst/>
          </a:prstGeom>
          <a:solidFill>
            <a:srgbClr val="1464A8"/>
          </a:solidFill>
          <a:ln w="12700">
            <a:solidFill>
              <a:srgbClr val="1464A8"/>
            </a:solidFill>
            <a:prstDash val="solid"/>
          </a:ln>
        </p:spPr>
      </p:sp>
      <p:sp>
        <p:nvSpPr>
          <p:cNvPr id="13" name="Text 10"/>
          <p:cNvSpPr txBox="1"/>
          <p:nvPr/>
        </p:nvSpPr>
        <p:spPr>
          <a:xfrm>
            <a:off x="7726680" y="19019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1"/>
          <p:cNvSpPr txBox="1"/>
          <p:nvPr/>
        </p:nvSpPr>
        <p:spPr>
          <a:xfrm>
            <a:off x="8202168" y="1773936"/>
            <a:ext cx="3139135"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Field level</a:t>
            </a:r>
            <a:endParaRPr lang="en-US" sz="1300" dirty="0"/>
          </a:p>
        </p:txBody>
      </p:sp>
      <p:sp>
        <p:nvSpPr>
          <p:cNvPr id="15" name="Text 12"/>
          <p:cNvSpPr txBox="1"/>
          <p:nvPr/>
        </p:nvSpPr>
        <p:spPr>
          <a:xfrm>
            <a:off x="8202168" y="2020824"/>
            <a:ext cx="3139135" cy="402336"/>
          </a:xfrm>
          <a:prstGeom prst="rect">
            <a:avLst/>
          </a:prstGeom>
          <a:noFill/>
          <a:ln/>
        </p:spPr>
        <p:txBody>
          <a:bodyPr wrap="square" lIns="0" tIns="0" rIns="0" bIns="0" rtlCol="0" anchor="ctr"/>
          <a:lstStyle/>
          <a:p>
            <a:pPr indent="0" marL="0">
              <a:lnSpc>
                <a:spcPts val="1400"/>
              </a:lnSpc>
              <a:buNone/>
            </a:pPr>
            <a:r>
              <a:rPr lang="en-US" sz="1050" dirty="0">
                <a:solidFill>
                  <a:srgbClr val="5A6672"/>
                </a:solidFill>
                <a:latin typeface="Calibri" pitchFamily="34" charset="0"/>
                <a:ea typeface="Calibri" pitchFamily="34" charset="-122"/>
                <a:cs typeface="Calibri" pitchFamily="34" charset="-120"/>
              </a:rPr>
              <a:t>InputValidator checks each value as it is typed — weight, age, creatinine, dose, interval, sample times.</a:t>
            </a:r>
            <a:endParaRPr lang="en-US" sz="1050" dirty="0"/>
          </a:p>
        </p:txBody>
      </p:sp>
      <p:sp>
        <p:nvSpPr>
          <p:cNvPr id="16" name="Shape 13"/>
          <p:cNvSpPr/>
          <p:nvPr/>
        </p:nvSpPr>
        <p:spPr>
          <a:xfrm>
            <a:off x="7543800" y="2587752"/>
            <a:ext cx="4007815" cy="786384"/>
          </a:xfrm>
          <a:prstGeom prst="roundRect">
            <a:avLst>
              <a:gd name="adj" fmla="val 10465"/>
            </a:avLst>
          </a:prstGeom>
          <a:solidFill>
            <a:srgbClr val="F4F6F8"/>
          </a:solidFill>
          <a:ln w="12700">
            <a:solidFill>
              <a:srgbClr val="D8E1EA"/>
            </a:solidFill>
            <a:prstDash val="solid"/>
          </a:ln>
        </p:spPr>
      </p:sp>
      <p:sp>
        <p:nvSpPr>
          <p:cNvPr id="17" name="Shape 14"/>
          <p:cNvSpPr/>
          <p:nvPr/>
        </p:nvSpPr>
        <p:spPr>
          <a:xfrm>
            <a:off x="7726680" y="2798064"/>
            <a:ext cx="365760" cy="365760"/>
          </a:xfrm>
          <a:prstGeom prst="ellipse">
            <a:avLst/>
          </a:prstGeom>
          <a:solidFill>
            <a:srgbClr val="1464A8"/>
          </a:solidFill>
          <a:ln w="12700">
            <a:solidFill>
              <a:srgbClr val="1464A8"/>
            </a:solidFill>
            <a:prstDash val="solid"/>
          </a:ln>
        </p:spPr>
      </p:sp>
      <p:sp>
        <p:nvSpPr>
          <p:cNvPr id="18" name="Text 15"/>
          <p:cNvSpPr txBox="1"/>
          <p:nvPr/>
        </p:nvSpPr>
        <p:spPr>
          <a:xfrm>
            <a:off x="7726680" y="27980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6"/>
          <p:cNvSpPr txBox="1"/>
          <p:nvPr/>
        </p:nvSpPr>
        <p:spPr>
          <a:xfrm>
            <a:off x="8202168" y="2670048"/>
            <a:ext cx="3139135"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Cross-field</a:t>
            </a:r>
            <a:endParaRPr lang="en-US" sz="1300" dirty="0"/>
          </a:p>
        </p:txBody>
      </p:sp>
      <p:sp>
        <p:nvSpPr>
          <p:cNvPr id="20" name="Text 17"/>
          <p:cNvSpPr txBox="1"/>
          <p:nvPr/>
        </p:nvSpPr>
        <p:spPr>
          <a:xfrm>
            <a:off x="8202168" y="2916936"/>
            <a:ext cx="3139135" cy="402336"/>
          </a:xfrm>
          <a:prstGeom prst="rect">
            <a:avLst/>
          </a:prstGeom>
          <a:noFill/>
          <a:ln/>
        </p:spPr>
        <p:txBody>
          <a:bodyPr wrap="square" lIns="0" tIns="0" rIns="0" bIns="0" rtlCol="0" anchor="ctr"/>
          <a:lstStyle/>
          <a:p>
            <a:pPr indent="0" marL="0">
              <a:lnSpc>
                <a:spcPts val="1400"/>
              </a:lnSpc>
              <a:buNone/>
            </a:pPr>
            <a:r>
              <a:rPr lang="en-US" sz="1050" dirty="0">
                <a:solidFill>
                  <a:srgbClr val="5A6672"/>
                </a:solidFill>
                <a:latin typeface="Calibri" pitchFamily="34" charset="0"/>
                <a:ea typeface="Calibri" pitchFamily="34" charset="-122"/>
                <a:cs typeface="Calibri" pitchFamily="34" charset="-120"/>
              </a:rPr>
              <a:t>validateTimingRelation() confirms the trough is drawn after the peak, so Δt is positive.</a:t>
            </a:r>
            <a:endParaRPr lang="en-US" sz="1050" dirty="0"/>
          </a:p>
        </p:txBody>
      </p:sp>
      <p:sp>
        <p:nvSpPr>
          <p:cNvPr id="21" name="Shape 18"/>
          <p:cNvSpPr/>
          <p:nvPr/>
        </p:nvSpPr>
        <p:spPr>
          <a:xfrm>
            <a:off x="7543800" y="3483864"/>
            <a:ext cx="4007815" cy="786384"/>
          </a:xfrm>
          <a:prstGeom prst="roundRect">
            <a:avLst>
              <a:gd name="adj" fmla="val 10465"/>
            </a:avLst>
          </a:prstGeom>
          <a:solidFill>
            <a:srgbClr val="EAF2FA"/>
          </a:solidFill>
          <a:ln w="12700">
            <a:solidFill>
              <a:srgbClr val="D8E1EA"/>
            </a:solidFill>
            <a:prstDash val="solid"/>
          </a:ln>
        </p:spPr>
      </p:sp>
      <p:sp>
        <p:nvSpPr>
          <p:cNvPr id="22" name="Shape 19"/>
          <p:cNvSpPr/>
          <p:nvPr/>
        </p:nvSpPr>
        <p:spPr>
          <a:xfrm>
            <a:off x="7726680" y="3694176"/>
            <a:ext cx="365760" cy="365760"/>
          </a:xfrm>
          <a:prstGeom prst="ellipse">
            <a:avLst/>
          </a:prstGeom>
          <a:solidFill>
            <a:srgbClr val="1464A8"/>
          </a:solidFill>
          <a:ln w="12700">
            <a:solidFill>
              <a:srgbClr val="1464A8"/>
            </a:solidFill>
            <a:prstDash val="solid"/>
          </a:ln>
        </p:spPr>
      </p:sp>
      <p:sp>
        <p:nvSpPr>
          <p:cNvPr id="23" name="Text 20"/>
          <p:cNvSpPr txBox="1"/>
          <p:nvPr/>
        </p:nvSpPr>
        <p:spPr>
          <a:xfrm>
            <a:off x="7726680" y="36941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1"/>
          <p:cNvSpPr txBox="1"/>
          <p:nvPr/>
        </p:nvSpPr>
        <p:spPr>
          <a:xfrm>
            <a:off x="8202168" y="3566160"/>
            <a:ext cx="3139135"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Mathematical</a:t>
            </a:r>
            <a:endParaRPr lang="en-US" sz="1300" dirty="0"/>
          </a:p>
        </p:txBody>
      </p:sp>
      <p:sp>
        <p:nvSpPr>
          <p:cNvPr id="25" name="Text 22"/>
          <p:cNvSpPr txBox="1"/>
          <p:nvPr/>
        </p:nvSpPr>
        <p:spPr>
          <a:xfrm>
            <a:off x="8202168" y="3813048"/>
            <a:ext cx="3139135" cy="402336"/>
          </a:xfrm>
          <a:prstGeom prst="rect">
            <a:avLst/>
          </a:prstGeom>
          <a:noFill/>
          <a:ln/>
        </p:spPr>
        <p:txBody>
          <a:bodyPr wrap="square" lIns="0" tIns="0" rIns="0" bIns="0" rtlCol="0" anchor="ctr"/>
          <a:lstStyle/>
          <a:p>
            <a:pPr indent="0" marL="0">
              <a:lnSpc>
                <a:spcPts val="1400"/>
              </a:lnSpc>
              <a:buNone/>
            </a:pPr>
            <a:r>
              <a:rPr lang="en-US" sz="1050" dirty="0">
                <a:solidFill>
                  <a:srgbClr val="5A6672"/>
                </a:solidFill>
                <a:latin typeface="Calibri" pitchFamily="34" charset="0"/>
                <a:ea typeface="Calibri" pitchFamily="34" charset="-122"/>
                <a:cs typeface="Calibri" pitchFamily="34" charset="-120"/>
              </a:rPr>
              <a:t>guardLogSafety() blocks a log of zero or a negative ratio; guardPositive() rejects a non-positive CL, τ, ke or Vd.</a:t>
            </a:r>
            <a:endParaRPr lang="en-US" sz="1050" dirty="0"/>
          </a:p>
        </p:txBody>
      </p:sp>
      <p:sp>
        <p:nvSpPr>
          <p:cNvPr id="26" name="Shape 23"/>
          <p:cNvSpPr/>
          <p:nvPr/>
        </p:nvSpPr>
        <p:spPr>
          <a:xfrm>
            <a:off x="7543800" y="4379976"/>
            <a:ext cx="4007815" cy="786384"/>
          </a:xfrm>
          <a:prstGeom prst="roundRect">
            <a:avLst>
              <a:gd name="adj" fmla="val 10465"/>
            </a:avLst>
          </a:prstGeom>
          <a:solidFill>
            <a:srgbClr val="F4F6F8"/>
          </a:solidFill>
          <a:ln w="12700">
            <a:solidFill>
              <a:srgbClr val="D8E1EA"/>
            </a:solidFill>
            <a:prstDash val="solid"/>
          </a:ln>
        </p:spPr>
      </p:sp>
      <p:sp>
        <p:nvSpPr>
          <p:cNvPr id="27" name="Shape 24"/>
          <p:cNvSpPr/>
          <p:nvPr/>
        </p:nvSpPr>
        <p:spPr>
          <a:xfrm>
            <a:off x="7726680" y="4590288"/>
            <a:ext cx="365760" cy="365760"/>
          </a:xfrm>
          <a:prstGeom prst="ellipse">
            <a:avLst/>
          </a:prstGeom>
          <a:solidFill>
            <a:srgbClr val="1464A8"/>
          </a:solidFill>
          <a:ln w="12700">
            <a:solidFill>
              <a:srgbClr val="1464A8"/>
            </a:solidFill>
            <a:prstDash val="solid"/>
          </a:ln>
        </p:spPr>
      </p:sp>
      <p:sp>
        <p:nvSpPr>
          <p:cNvPr id="28" name="Text 25"/>
          <p:cNvSpPr txBox="1"/>
          <p:nvPr/>
        </p:nvSpPr>
        <p:spPr>
          <a:xfrm>
            <a:off x="7726680" y="45902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6"/>
          <p:cNvSpPr txBox="1"/>
          <p:nvPr/>
        </p:nvSpPr>
        <p:spPr>
          <a:xfrm>
            <a:off x="8202168" y="4462272"/>
            <a:ext cx="3139135"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Runtime</a:t>
            </a:r>
            <a:endParaRPr lang="en-US" sz="1300" dirty="0"/>
          </a:p>
        </p:txBody>
      </p:sp>
      <p:sp>
        <p:nvSpPr>
          <p:cNvPr id="30" name="Text 27"/>
          <p:cNvSpPr txBox="1"/>
          <p:nvPr/>
        </p:nvSpPr>
        <p:spPr>
          <a:xfrm>
            <a:off x="8202168" y="4709160"/>
            <a:ext cx="3139135" cy="402336"/>
          </a:xfrm>
          <a:prstGeom prst="rect">
            <a:avLst/>
          </a:prstGeom>
          <a:noFill/>
          <a:ln/>
        </p:spPr>
        <p:txBody>
          <a:bodyPr wrap="square" lIns="0" tIns="0" rIns="0" bIns="0" rtlCol="0" anchor="ctr"/>
          <a:lstStyle/>
          <a:p>
            <a:pPr indent="0" marL="0">
              <a:lnSpc>
                <a:spcPts val="1400"/>
              </a:lnSpc>
              <a:buNone/>
            </a:pPr>
            <a:r>
              <a:rPr lang="en-US" sz="1050" dirty="0">
                <a:solidFill>
                  <a:srgbClr val="5A6672"/>
                </a:solidFill>
                <a:latin typeface="Calibri" pitchFamily="34" charset="0"/>
                <a:ea typeface="Calibri" pitchFamily="34" charset="-122"/>
                <a:cs typeface="Calibri" pitchFamily="34" charset="-120"/>
              </a:rPr>
              <a:t>ArithmeticException is caught inside the engine and converted into a CalculationResult.Failure with a readable message.</a:t>
            </a:r>
            <a:endParaRPr lang="en-US" sz="1050" dirty="0"/>
          </a:p>
        </p:txBody>
      </p:sp>
      <p:sp>
        <p:nvSpPr>
          <p:cNvPr id="31" name="Shape 28"/>
          <p:cNvSpPr/>
          <p:nvPr/>
        </p:nvSpPr>
        <p:spPr>
          <a:xfrm>
            <a:off x="7543800" y="5276088"/>
            <a:ext cx="4007815" cy="786384"/>
          </a:xfrm>
          <a:prstGeom prst="roundRect">
            <a:avLst>
              <a:gd name="adj" fmla="val 10465"/>
            </a:avLst>
          </a:prstGeom>
          <a:solidFill>
            <a:srgbClr val="EAF2FA"/>
          </a:solidFill>
          <a:ln w="12700">
            <a:solidFill>
              <a:srgbClr val="D8E1EA"/>
            </a:solidFill>
            <a:prstDash val="solid"/>
          </a:ln>
        </p:spPr>
      </p:sp>
      <p:sp>
        <p:nvSpPr>
          <p:cNvPr id="32" name="Shape 29"/>
          <p:cNvSpPr/>
          <p:nvPr/>
        </p:nvSpPr>
        <p:spPr>
          <a:xfrm>
            <a:off x="7726680" y="5486400"/>
            <a:ext cx="365760" cy="365760"/>
          </a:xfrm>
          <a:prstGeom prst="ellipse">
            <a:avLst/>
          </a:prstGeom>
          <a:solidFill>
            <a:srgbClr val="00A896"/>
          </a:solidFill>
          <a:ln w="12700">
            <a:solidFill>
              <a:srgbClr val="00A896"/>
            </a:solidFill>
            <a:prstDash val="solid"/>
          </a:ln>
        </p:spPr>
      </p:sp>
      <p:sp>
        <p:nvSpPr>
          <p:cNvPr id="33" name="Text 30"/>
          <p:cNvSpPr txBox="1"/>
          <p:nvPr/>
        </p:nvSpPr>
        <p:spPr>
          <a:xfrm>
            <a:off x="7726680" y="54864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 31"/>
          <p:cNvSpPr txBox="1"/>
          <p:nvPr/>
        </p:nvSpPr>
        <p:spPr>
          <a:xfrm>
            <a:off x="8202168" y="5358384"/>
            <a:ext cx="3139135"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UI</a:t>
            </a:r>
            <a:endParaRPr lang="en-US" sz="1300" dirty="0"/>
          </a:p>
        </p:txBody>
      </p:sp>
      <p:sp>
        <p:nvSpPr>
          <p:cNvPr id="35" name="Text 32"/>
          <p:cNvSpPr txBox="1"/>
          <p:nvPr/>
        </p:nvSpPr>
        <p:spPr>
          <a:xfrm>
            <a:off x="8202168" y="5605272"/>
            <a:ext cx="3139135" cy="402336"/>
          </a:xfrm>
          <a:prstGeom prst="rect">
            <a:avLst/>
          </a:prstGeom>
          <a:noFill/>
          <a:ln/>
        </p:spPr>
        <p:txBody>
          <a:bodyPr wrap="square" lIns="0" tIns="0" rIns="0" bIns="0" rtlCol="0" anchor="ctr"/>
          <a:lstStyle/>
          <a:p>
            <a:pPr indent="0" marL="0">
              <a:lnSpc>
                <a:spcPts val="1400"/>
              </a:lnSpc>
              <a:buNone/>
            </a:pPr>
            <a:r>
              <a:rPr lang="en-US" sz="1050" dirty="0">
                <a:solidFill>
                  <a:srgbClr val="5A6672"/>
                </a:solidFill>
                <a:latin typeface="Calibri" pitchFamily="34" charset="0"/>
                <a:ea typeface="Calibri" pitchFamily="34" charset="-122"/>
                <a:cs typeface="Calibri" pitchFamily="34" charset="-120"/>
              </a:rPr>
              <a:t>ErrorScreen shows the message; the Results screen is never reached with invalid numbers.</a:t>
            </a:r>
            <a:endParaRPr lang="en-US" sz="1050" dirty="0"/>
          </a:p>
        </p:txBody>
      </p:sp>
      <p:sp>
        <p:nvSpPr>
          <p:cNvPr id="36" name="Shape 33"/>
          <p:cNvSpPr/>
          <p:nvPr/>
        </p:nvSpPr>
        <p:spPr>
          <a:xfrm>
            <a:off x="640080" y="4617720"/>
            <a:ext cx="6583680" cy="1417320"/>
          </a:xfrm>
          <a:prstGeom prst="roundRect">
            <a:avLst>
              <a:gd name="adj" fmla="val 5806"/>
            </a:avLst>
          </a:prstGeom>
          <a:solidFill>
            <a:srgbClr val="0B2545"/>
          </a:solidFill>
          <a:ln w="12700">
            <a:solidFill>
              <a:srgbClr val="0B2545"/>
            </a:solidFill>
            <a:prstDash val="solid"/>
          </a:ln>
        </p:spPr>
      </p:sp>
      <p:sp>
        <p:nvSpPr>
          <p:cNvPr id="37" name="Text 34"/>
          <p:cNvSpPr txBox="1"/>
          <p:nvPr/>
        </p:nvSpPr>
        <p:spPr>
          <a:xfrm>
            <a:off x="914400" y="4773168"/>
            <a:ext cx="6035040" cy="274320"/>
          </a:xfrm>
          <a:prstGeom prst="rect">
            <a:avLst/>
          </a:prstGeom>
          <a:noFill/>
          <a:ln/>
        </p:spPr>
        <p:txBody>
          <a:bodyPr wrap="square" lIns="0" tIns="0" rIns="0" bIns="0" rtlCol="0" anchor="ctr"/>
          <a:lstStyle/>
          <a:p>
            <a:pPr indent="0" marL="0">
              <a:buNone/>
            </a:pPr>
            <a:r>
              <a:rPr lang="en-US" sz="1300" b="1" dirty="0">
                <a:solidFill>
                  <a:srgbClr val="6FB3E8"/>
                </a:solidFill>
                <a:latin typeface="Calibri" pitchFamily="34" charset="0"/>
                <a:ea typeface="Calibri" pitchFamily="34" charset="-122"/>
                <a:cs typeface="Calibri" pitchFamily="34" charset="-120"/>
              </a:rPr>
              <a:t>Five independent checks before a number is ever shown</a:t>
            </a:r>
            <a:endParaRPr lang="en-US" sz="1300" dirty="0"/>
          </a:p>
        </p:txBody>
      </p:sp>
      <p:sp>
        <p:nvSpPr>
          <p:cNvPr id="38" name="Text 35"/>
          <p:cNvSpPr txBox="1"/>
          <p:nvPr/>
        </p:nvSpPr>
        <p:spPr>
          <a:xfrm>
            <a:off x="914400" y="5102352"/>
            <a:ext cx="6035040" cy="822960"/>
          </a:xfrm>
          <a:prstGeom prst="rect">
            <a:avLst/>
          </a:prstGeom>
          <a:noFill/>
          <a:ln/>
        </p:spPr>
        <p:txBody>
          <a:bodyPr wrap="square" lIns="0" tIns="0" rIns="0" bIns="0" rtlCol="0" anchor="ctr"/>
          <a:lstStyle/>
          <a:p>
            <a:pPr indent="0" marL="0">
              <a:lnSpc>
                <a:spcPts val="1700"/>
              </a:lnSpc>
              <a:buNone/>
            </a:pPr>
            <a:r>
              <a:rPr lang="en-US" sz="1200" dirty="0">
                <a:solidFill>
                  <a:srgbClr val="D2E2F0"/>
                </a:solidFill>
                <a:latin typeface="Calibri" pitchFamily="34" charset="0"/>
                <a:ea typeface="Calibri" pitchFamily="34" charset="-122"/>
                <a:cs typeface="Calibri" pitchFamily="34" charset="-120"/>
              </a:rPr>
              <a:t>Validation runs in the ViewModel before the engine is called, and again inside the engine itself. A user can never reach the Results screen with a value the model cannot support.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08 · BACKEND</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Layer 4 — Supabase as the database API</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There is no server of my own to deploy. Supabase hosts the database and generates the REST API the app calls.</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25</a:t>
            </a:r>
            <a:endParaRPr lang="en-US" sz="900" dirty="0"/>
          </a:p>
        </p:txBody>
      </p:sp>
      <p:sp>
        <p:nvSpPr>
          <p:cNvPr id="8" name="Shape 5"/>
          <p:cNvSpPr/>
          <p:nvPr/>
        </p:nvSpPr>
        <p:spPr>
          <a:xfrm>
            <a:off x="640080" y="1737360"/>
            <a:ext cx="3246120" cy="1371600"/>
          </a:xfrm>
          <a:prstGeom prst="roundRect">
            <a:avLst>
              <a:gd name="adj" fmla="val 6000"/>
            </a:avLst>
          </a:prstGeom>
          <a:solidFill>
            <a:srgbClr val="1464A8"/>
          </a:solidFill>
          <a:ln w="12700">
            <a:solidFill>
              <a:srgbClr val="1464A8"/>
            </a:solidFill>
            <a:prstDash val="solid"/>
          </a:ln>
        </p:spPr>
      </p:sp>
      <p:sp>
        <p:nvSpPr>
          <p:cNvPr id="9" name="Text 6"/>
          <p:cNvSpPr txBox="1"/>
          <p:nvPr/>
        </p:nvSpPr>
        <p:spPr>
          <a:xfrm>
            <a:off x="868680" y="1874520"/>
            <a:ext cx="278892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Android app</a:t>
            </a:r>
            <a:endParaRPr lang="en-US" sz="1700" dirty="0"/>
          </a:p>
        </p:txBody>
      </p:sp>
      <p:sp>
        <p:nvSpPr>
          <p:cNvPr id="10" name="Text 7"/>
          <p:cNvSpPr txBox="1"/>
          <p:nvPr/>
        </p:nvSpPr>
        <p:spPr>
          <a:xfrm>
            <a:off x="868680" y="2240280"/>
            <a:ext cx="2788920" cy="731520"/>
          </a:xfrm>
          <a:prstGeom prst="rect">
            <a:avLst/>
          </a:prstGeom>
          <a:noFill/>
          <a:ln/>
        </p:spPr>
        <p:txBody>
          <a:bodyPr wrap="square" lIns="0" tIns="0" rIns="0" bIns="0" rtlCol="0" anchor="ctr"/>
          <a:lstStyle/>
          <a:p>
            <a:pPr indent="0" marL="0">
              <a:lnSpc>
                <a:spcPts val="1600"/>
              </a:lnSpc>
              <a:buNone/>
            </a:pPr>
            <a:r>
              <a:rPr lang="en-US" sz="1150" dirty="0">
                <a:solidFill>
                  <a:srgbClr val="D2E2F0"/>
                </a:solidFill>
                <a:latin typeface="Calibri" pitchFamily="34" charset="0"/>
                <a:ea typeface="Calibri" pitchFamily="34" charset="-122"/>
                <a:cs typeface="Calibri" pitchFamily="34" charset="-120"/>
              </a:rPr>
              <a:t>SupabaseRepository builds a typed request</a:t>
            </a:r>
            <a:endParaRPr lang="en-US" sz="1150" dirty="0"/>
          </a:p>
        </p:txBody>
      </p:sp>
      <p:sp>
        <p:nvSpPr>
          <p:cNvPr id="11" name="Shape 8"/>
          <p:cNvSpPr/>
          <p:nvPr/>
        </p:nvSpPr>
        <p:spPr>
          <a:xfrm>
            <a:off x="3959352" y="2423160"/>
            <a:ext cx="440284" cy="0"/>
          </a:xfrm>
          <a:prstGeom prst="line">
            <a:avLst/>
          </a:prstGeom>
          <a:noFill/>
          <a:ln w="25400">
            <a:solidFill>
              <a:srgbClr val="8A96A3"/>
            </a:solidFill>
            <a:prstDash val="solid"/>
            <a:tailEnd type="triangle"/>
          </a:ln>
        </p:spPr>
      </p:sp>
      <p:sp>
        <p:nvSpPr>
          <p:cNvPr id="12" name="Shape 9"/>
          <p:cNvSpPr/>
          <p:nvPr/>
        </p:nvSpPr>
        <p:spPr>
          <a:xfrm>
            <a:off x="4472788" y="1737360"/>
            <a:ext cx="3246120" cy="1371600"/>
          </a:xfrm>
          <a:prstGeom prst="roundRect">
            <a:avLst>
              <a:gd name="adj" fmla="val 6000"/>
            </a:avLst>
          </a:prstGeom>
          <a:solidFill>
            <a:srgbClr val="073A6B"/>
          </a:solidFill>
          <a:ln w="12700">
            <a:solidFill>
              <a:srgbClr val="073A6B"/>
            </a:solidFill>
            <a:prstDash val="solid"/>
          </a:ln>
        </p:spPr>
      </p:sp>
      <p:sp>
        <p:nvSpPr>
          <p:cNvPr id="13" name="Text 10"/>
          <p:cNvSpPr txBox="1"/>
          <p:nvPr/>
        </p:nvSpPr>
        <p:spPr>
          <a:xfrm>
            <a:off x="4701388" y="1874520"/>
            <a:ext cx="278892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Supabase REST</a:t>
            </a:r>
            <a:endParaRPr lang="en-US" sz="1700" dirty="0"/>
          </a:p>
        </p:txBody>
      </p:sp>
      <p:sp>
        <p:nvSpPr>
          <p:cNvPr id="14" name="Text 11"/>
          <p:cNvSpPr txBox="1"/>
          <p:nvPr/>
        </p:nvSpPr>
        <p:spPr>
          <a:xfrm>
            <a:off x="4701388" y="2240280"/>
            <a:ext cx="2788920" cy="731520"/>
          </a:xfrm>
          <a:prstGeom prst="rect">
            <a:avLst/>
          </a:prstGeom>
          <a:noFill/>
          <a:ln/>
        </p:spPr>
        <p:txBody>
          <a:bodyPr wrap="square" lIns="0" tIns="0" rIns="0" bIns="0" rtlCol="0" anchor="ctr"/>
          <a:lstStyle/>
          <a:p>
            <a:pPr indent="0" marL="0">
              <a:lnSpc>
                <a:spcPts val="1600"/>
              </a:lnSpc>
              <a:buNone/>
            </a:pPr>
            <a:r>
              <a:rPr lang="en-US" sz="1150" dirty="0">
                <a:solidFill>
                  <a:srgbClr val="D2E2F0"/>
                </a:solidFill>
                <a:latin typeface="Calibri" pitchFamily="34" charset="0"/>
                <a:ea typeface="Calibri" pitchFamily="34" charset="-122"/>
                <a:cs typeface="Calibri" pitchFamily="34" charset="-120"/>
              </a:rPr>
              <a:t>PostgREST endpoint, authenticated by the anon key</a:t>
            </a:r>
            <a:endParaRPr lang="en-US" sz="1150" dirty="0"/>
          </a:p>
        </p:txBody>
      </p:sp>
      <p:sp>
        <p:nvSpPr>
          <p:cNvPr id="15" name="Shape 12"/>
          <p:cNvSpPr/>
          <p:nvPr/>
        </p:nvSpPr>
        <p:spPr>
          <a:xfrm>
            <a:off x="7792060" y="2423160"/>
            <a:ext cx="440284" cy="0"/>
          </a:xfrm>
          <a:prstGeom prst="line">
            <a:avLst/>
          </a:prstGeom>
          <a:noFill/>
          <a:ln w="25400">
            <a:solidFill>
              <a:srgbClr val="8A96A3"/>
            </a:solidFill>
            <a:prstDash val="solid"/>
            <a:tailEnd type="triangle"/>
          </a:ln>
        </p:spPr>
      </p:sp>
      <p:sp>
        <p:nvSpPr>
          <p:cNvPr id="16" name="Shape 13"/>
          <p:cNvSpPr/>
          <p:nvPr/>
        </p:nvSpPr>
        <p:spPr>
          <a:xfrm>
            <a:off x="8305495" y="1737360"/>
            <a:ext cx="3246120" cy="1371600"/>
          </a:xfrm>
          <a:prstGeom prst="roundRect">
            <a:avLst>
              <a:gd name="adj" fmla="val 6000"/>
            </a:avLst>
          </a:prstGeom>
          <a:solidFill>
            <a:srgbClr val="0F6B6B"/>
          </a:solidFill>
          <a:ln w="12700">
            <a:solidFill>
              <a:srgbClr val="0F6B6B"/>
            </a:solidFill>
            <a:prstDash val="solid"/>
          </a:ln>
        </p:spPr>
      </p:sp>
      <p:sp>
        <p:nvSpPr>
          <p:cNvPr id="17" name="Text 14"/>
          <p:cNvSpPr txBox="1"/>
          <p:nvPr/>
        </p:nvSpPr>
        <p:spPr>
          <a:xfrm>
            <a:off x="8534095" y="1874520"/>
            <a:ext cx="278892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PostgreSQL</a:t>
            </a:r>
            <a:endParaRPr lang="en-US" sz="1700" dirty="0"/>
          </a:p>
        </p:txBody>
      </p:sp>
      <p:sp>
        <p:nvSpPr>
          <p:cNvPr id="18" name="Text 15"/>
          <p:cNvSpPr txBox="1"/>
          <p:nvPr/>
        </p:nvSpPr>
        <p:spPr>
          <a:xfrm>
            <a:off x="8534095" y="2240280"/>
            <a:ext cx="2788920" cy="731520"/>
          </a:xfrm>
          <a:prstGeom prst="rect">
            <a:avLst/>
          </a:prstGeom>
          <a:noFill/>
          <a:ln/>
        </p:spPr>
        <p:txBody>
          <a:bodyPr wrap="square" lIns="0" tIns="0" rIns="0" bIns="0" rtlCol="0" anchor="ctr"/>
          <a:lstStyle/>
          <a:p>
            <a:pPr indent="0" marL="0">
              <a:lnSpc>
                <a:spcPts val="1600"/>
              </a:lnSpc>
              <a:buNone/>
            </a:pPr>
            <a:r>
              <a:rPr lang="en-US" sz="1150" dirty="0">
                <a:solidFill>
                  <a:srgbClr val="D2E2F0"/>
                </a:solidFill>
                <a:latin typeface="Calibri" pitchFamily="34" charset="0"/>
                <a:ea typeface="Calibri" pitchFamily="34" charset="-122"/>
                <a:cs typeface="Calibri" pitchFamily="34" charset="-120"/>
              </a:rPr>
              <a:t>cases and user_profiles tables, RLS enabled</a:t>
            </a:r>
            <a:endParaRPr lang="en-US" sz="1150" dirty="0"/>
          </a:p>
        </p:txBody>
      </p:sp>
      <p:sp>
        <p:nvSpPr>
          <p:cNvPr id="19" name="Shape 16"/>
          <p:cNvSpPr/>
          <p:nvPr/>
        </p:nvSpPr>
        <p:spPr>
          <a:xfrm>
            <a:off x="640080" y="3337560"/>
            <a:ext cx="6583680" cy="2148840"/>
          </a:xfrm>
          <a:prstGeom prst="roundRect">
            <a:avLst>
              <a:gd name="adj" fmla="val 3830"/>
            </a:avLst>
          </a:prstGeom>
          <a:solidFill>
            <a:srgbClr val="0F2237"/>
          </a:solidFill>
          <a:ln w="12700">
            <a:solidFill>
              <a:srgbClr val="0F2237"/>
            </a:solidFill>
            <a:prstDash val="solid"/>
          </a:ln>
        </p:spPr>
      </p:sp>
      <p:sp>
        <p:nvSpPr>
          <p:cNvPr id="20" name="Text 17"/>
          <p:cNvSpPr txBox="1"/>
          <p:nvPr/>
        </p:nvSpPr>
        <p:spPr>
          <a:xfrm>
            <a:off x="804672" y="3474720"/>
            <a:ext cx="6254496" cy="1874520"/>
          </a:xfrm>
          <a:prstGeom prst="rect">
            <a:avLst/>
          </a:prstGeom>
          <a:noFill/>
          <a:ln/>
        </p:spPr>
        <p:txBody>
          <a:bodyPr wrap="square" lIns="0" tIns="0" rIns="0" bIns="0" rtlCol="0" anchor="t"/>
          <a:lstStyle/>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suspend fun saveCase(...): Boolean = withContext(Dispatchers.IO) {</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client.from("cases").insert(caseRow)</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a:t>
            </a:r>
            <a:endParaRPr lang="en-US" sz="1000" dirty="0"/>
          </a:p>
          <a:p>
            <a:pPr indent="0" marL="0">
              <a:lnSpc>
                <a:spcPts val="1400"/>
              </a:lnSpc>
              <a:buNone/>
            </a:pP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internal suspend fun loadRecentCases(limit: Int = 20) =</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client.from("cases")</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.select()</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.decodeList&lt;CaseRow&gt;()</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.filter { it.userId == currentUserId }</a:t>
            </a:r>
            <a:endParaRPr lang="en-US" sz="1000" dirty="0"/>
          </a:p>
        </p:txBody>
      </p:sp>
      <p:sp>
        <p:nvSpPr>
          <p:cNvPr id="21" name="Shape 18"/>
          <p:cNvSpPr/>
          <p:nvPr/>
        </p:nvSpPr>
        <p:spPr>
          <a:xfrm>
            <a:off x="7543800" y="3337560"/>
            <a:ext cx="4007815" cy="2148840"/>
          </a:xfrm>
          <a:prstGeom prst="roundRect">
            <a:avLst>
              <a:gd name="adj" fmla="val 3830"/>
            </a:avLst>
          </a:prstGeom>
          <a:solidFill>
            <a:srgbClr val="EAF2FA"/>
          </a:solidFill>
          <a:ln w="12700">
            <a:solidFill>
              <a:srgbClr val="D8E1EA"/>
            </a:solidFill>
            <a:prstDash val="solid"/>
          </a:ln>
        </p:spPr>
      </p:sp>
      <p:sp>
        <p:nvSpPr>
          <p:cNvPr id="22" name="Text 19"/>
          <p:cNvSpPr txBox="1"/>
          <p:nvPr/>
        </p:nvSpPr>
        <p:spPr>
          <a:xfrm>
            <a:off x="7799832" y="3493008"/>
            <a:ext cx="3495751" cy="274320"/>
          </a:xfrm>
          <a:prstGeom prst="rect">
            <a:avLst/>
          </a:prstGeom>
          <a:noFill/>
          <a:ln/>
        </p:spPr>
        <p:txBody>
          <a:bodyPr wrap="square" lIns="0" tIns="0" rIns="0" bIns="0" rtlCol="0" anchor="ctr"/>
          <a:lstStyle/>
          <a:p>
            <a:pPr indent="0" marL="0">
              <a:buNone/>
            </a:pPr>
            <a:r>
              <a:rPr lang="en-US" sz="1300" b="1" dirty="0">
                <a:solidFill>
                  <a:srgbClr val="073A6B"/>
                </a:solidFill>
                <a:latin typeface="Calibri" pitchFamily="34" charset="0"/>
                <a:ea typeface="Calibri" pitchFamily="34" charset="-122"/>
                <a:cs typeface="Calibri" pitchFamily="34" charset="-120"/>
              </a:rPr>
              <a:t>What the repository guarantees</a:t>
            </a:r>
            <a:endParaRPr lang="en-US" sz="1300" dirty="0"/>
          </a:p>
        </p:txBody>
      </p:sp>
      <p:sp>
        <p:nvSpPr>
          <p:cNvPr id="23" name="Text 20"/>
          <p:cNvSpPr txBox="1"/>
          <p:nvPr/>
        </p:nvSpPr>
        <p:spPr>
          <a:xfrm>
            <a:off x="7799832" y="3822192"/>
            <a:ext cx="3495751" cy="155448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073A6B"/>
                </a:solidFill>
                <a:latin typeface="Calibri" pitchFamily="34" charset="0"/>
                <a:ea typeface="Calibri" pitchFamily="34" charset="-122"/>
                <a:cs typeface="Calibri" pitchFamily="34" charset="-120"/>
              </a:rPr>
              <a:t>Every network call is a suspend function on Dispatchers.IO — never on the main thread.</a:t>
            </a:r>
            <a:endParaRPr lang="en-US" sz="1150" dirty="0"/>
          </a:p>
          <a:p>
            <a:pPr marL="342900" indent="-342900">
              <a:spcAft>
                <a:spcPts val="700"/>
              </a:spcAft>
              <a:buSzPct val="100000"/>
              <a:buChar char="•"/>
            </a:pPr>
            <a:r>
              <a:rPr lang="en-US" sz="1150" dirty="0">
                <a:solidFill>
                  <a:srgbClr val="073A6B"/>
                </a:solidFill>
                <a:latin typeface="Calibri" pitchFamily="34" charset="0"/>
                <a:ea typeface="Calibri" pitchFamily="34" charset="-122"/>
                <a:cs typeface="Calibri" pitchFamily="34" charset="-120"/>
              </a:rPr>
              <a:t>Rows are stamped with the signed-in Clerk user ID, so History only ever shows your own cases.</a:t>
            </a:r>
            <a:endParaRPr lang="en-US" sz="1150" dirty="0"/>
          </a:p>
          <a:p>
            <a:pPr marL="342900" indent="-342900">
              <a:spcAft>
                <a:spcPts val="700"/>
              </a:spcAft>
              <a:buSzPct val="100000"/>
              <a:buChar char="•"/>
            </a:pPr>
            <a:r>
              <a:rPr lang="en-US" sz="1150" dirty="0">
                <a:solidFill>
                  <a:srgbClr val="073A6B"/>
                </a:solidFill>
                <a:latin typeface="Calibri" pitchFamily="34" charset="0"/>
                <a:ea typeface="Calibri" pitchFamily="34" charset="-122"/>
                <a:cs typeface="Calibri" pitchFamily="34" charset="-120"/>
              </a:rPr>
              <a:t>A failed write is logged and swallowed — the calculation the user is looking at is never lost.</a:t>
            </a:r>
            <a:endParaRPr lang="en-US" sz="1150" dirty="0"/>
          </a:p>
        </p:txBody>
      </p:sp>
      <p:sp>
        <p:nvSpPr>
          <p:cNvPr id="24" name="Text 21"/>
          <p:cNvSpPr txBox="1"/>
          <p:nvPr/>
        </p:nvSpPr>
        <p:spPr>
          <a:xfrm>
            <a:off x="640080" y="5669280"/>
            <a:ext cx="10911535" cy="365760"/>
          </a:xfrm>
          <a:prstGeom prst="rect">
            <a:avLst/>
          </a:prstGeom>
          <a:noFill/>
          <a:ln/>
        </p:spPr>
        <p:txBody>
          <a:bodyPr wrap="square" lIns="0" tIns="0" rIns="0" bIns="0" rtlCol="0" anchor="ctr"/>
          <a:lstStyle/>
          <a:p>
            <a:pPr algn="ctr" indent="0" marL="0">
              <a:buNone/>
            </a:pPr>
            <a:r>
              <a:rPr lang="en-US" sz="1150" dirty="0">
                <a:solidFill>
                  <a:srgbClr val="5A6672"/>
                </a:solidFill>
                <a:latin typeface="Calibri" pitchFamily="34" charset="0"/>
                <a:ea typeface="Calibri" pitchFamily="34" charset="-122"/>
                <a:cs typeface="Calibri" pitchFamily="34" charset="-120"/>
              </a:rPr>
              <a:t>Repository operations:  saveCase()  ·  loadRecentCases()  ·  syncUserProfile()  ·  loadUserProfile()  ·  deleteAllCases()  ·  deleteAllUserData()</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08 · BACKEND</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The database schema</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Two tables, created by supabase/schema.sql. One row in cases is one complete, auditable calculation.</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26</a:t>
            </a:r>
            <a:endParaRPr lang="en-US" sz="900" dirty="0"/>
          </a:p>
        </p:txBody>
      </p:sp>
      <p:sp>
        <p:nvSpPr>
          <p:cNvPr id="8" name="Shape 5"/>
          <p:cNvSpPr/>
          <p:nvPr/>
        </p:nvSpPr>
        <p:spPr>
          <a:xfrm>
            <a:off x="640080" y="1691640"/>
            <a:ext cx="6675120" cy="4389120"/>
          </a:xfrm>
          <a:prstGeom prst="roundRect">
            <a:avLst>
              <a:gd name="adj" fmla="val 1875"/>
            </a:avLst>
          </a:prstGeom>
          <a:solidFill>
            <a:srgbClr val="F4F6F8"/>
          </a:solidFill>
          <a:ln w="12700">
            <a:solidFill>
              <a:srgbClr val="F4F6F8"/>
            </a:solidFill>
            <a:prstDash val="solid"/>
          </a:ln>
        </p:spPr>
      </p:sp>
      <p:sp>
        <p:nvSpPr>
          <p:cNvPr id="9" name="Text 6"/>
          <p:cNvSpPr txBox="1"/>
          <p:nvPr/>
        </p:nvSpPr>
        <p:spPr>
          <a:xfrm>
            <a:off x="914400" y="1828800"/>
            <a:ext cx="2743200" cy="310896"/>
          </a:xfrm>
          <a:prstGeom prst="rect">
            <a:avLst/>
          </a:prstGeom>
          <a:noFill/>
          <a:ln/>
        </p:spPr>
        <p:txBody>
          <a:bodyPr wrap="square" lIns="0" tIns="0" rIns="0" bIns="0" rtlCol="0" anchor="ctr"/>
          <a:lstStyle/>
          <a:p>
            <a:pPr indent="0" marL="0">
              <a:buNone/>
            </a:pPr>
            <a:r>
              <a:rPr lang="en-US" sz="2000" b="1" dirty="0">
                <a:solidFill>
                  <a:srgbClr val="1464A8"/>
                </a:solidFill>
                <a:latin typeface="Courier New" pitchFamily="34" charset="0"/>
                <a:ea typeface="Courier New" pitchFamily="34" charset="-122"/>
                <a:cs typeface="Courier New" pitchFamily="34" charset="-120"/>
              </a:rPr>
              <a:t>cases</a:t>
            </a:r>
            <a:endParaRPr lang="en-US" sz="2000" dirty="0"/>
          </a:p>
        </p:txBody>
      </p:sp>
      <p:sp>
        <p:nvSpPr>
          <p:cNvPr id="10" name="Text 7"/>
          <p:cNvSpPr txBox="1"/>
          <p:nvPr/>
        </p:nvSpPr>
        <p:spPr>
          <a:xfrm>
            <a:off x="2651760" y="1874520"/>
            <a:ext cx="4389120" cy="274320"/>
          </a:xfrm>
          <a:prstGeom prst="rect">
            <a:avLst/>
          </a:prstGeom>
          <a:noFill/>
          <a:ln/>
        </p:spPr>
        <p:txBody>
          <a:bodyPr wrap="square" lIns="0" tIns="0" rIns="0" bIns="0" rtlCol="0" anchor="ctr"/>
          <a:lstStyle/>
          <a:p>
            <a:pPr indent="0" marL="0">
              <a:buNone/>
            </a:pPr>
            <a:r>
              <a:rPr lang="en-US" sz="1100" i="1" dirty="0">
                <a:solidFill>
                  <a:srgbClr val="5A6672"/>
                </a:solidFill>
                <a:latin typeface="Calibri" pitchFamily="34" charset="0"/>
                <a:ea typeface="Calibri" pitchFamily="34" charset="-122"/>
                <a:cs typeface="Calibri" pitchFamily="34" charset="-120"/>
              </a:rPr>
              <a:t>one row per completed calculation</a:t>
            </a:r>
            <a:endParaRPr lang="en-US" sz="1100" dirty="0"/>
          </a:p>
        </p:txBody>
      </p:sp>
      <p:sp>
        <p:nvSpPr>
          <p:cNvPr id="11" name="Text 8"/>
          <p:cNvSpPr txBox="1"/>
          <p:nvPr/>
        </p:nvSpPr>
        <p:spPr>
          <a:xfrm>
            <a:off x="914400" y="2286000"/>
            <a:ext cx="1234440" cy="475488"/>
          </a:xfrm>
          <a:prstGeom prst="rect">
            <a:avLst/>
          </a:prstGeom>
          <a:noFill/>
          <a:ln/>
        </p:spPr>
        <p:txBody>
          <a:bodyPr wrap="square" lIns="0" tIns="0" rIns="0" bIns="0" rtlCol="0" anchor="ctr"/>
          <a:lstStyle/>
          <a:p>
            <a:pPr indent="0" marL="0">
              <a:buNone/>
            </a:pPr>
            <a:r>
              <a:rPr lang="en-US" sz="1100" b="1" dirty="0">
                <a:solidFill>
                  <a:srgbClr val="073A6B"/>
                </a:solidFill>
                <a:latin typeface="Calibri" pitchFamily="34" charset="0"/>
                <a:ea typeface="Calibri" pitchFamily="34" charset="-122"/>
                <a:cs typeface="Calibri" pitchFamily="34" charset="-120"/>
              </a:rPr>
              <a:t>Identity</a:t>
            </a:r>
            <a:endParaRPr lang="en-US" sz="1100" dirty="0"/>
          </a:p>
        </p:txBody>
      </p:sp>
      <p:sp>
        <p:nvSpPr>
          <p:cNvPr id="12" name="Text 9"/>
          <p:cNvSpPr txBox="1"/>
          <p:nvPr/>
        </p:nvSpPr>
        <p:spPr>
          <a:xfrm>
            <a:off x="2194560" y="2286000"/>
            <a:ext cx="4892040" cy="47548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id uuid PK · user_id text · created_at timestamptz</a:t>
            </a:r>
            <a:endParaRPr lang="en-US" sz="950" dirty="0"/>
          </a:p>
        </p:txBody>
      </p:sp>
      <p:sp>
        <p:nvSpPr>
          <p:cNvPr id="13" name="Text 10"/>
          <p:cNvSpPr txBox="1"/>
          <p:nvPr/>
        </p:nvSpPr>
        <p:spPr>
          <a:xfrm>
            <a:off x="914400" y="2816352"/>
            <a:ext cx="1234440" cy="475488"/>
          </a:xfrm>
          <a:prstGeom prst="rect">
            <a:avLst/>
          </a:prstGeom>
          <a:noFill/>
          <a:ln/>
        </p:spPr>
        <p:txBody>
          <a:bodyPr wrap="square" lIns="0" tIns="0" rIns="0" bIns="0" rtlCol="0" anchor="ctr"/>
          <a:lstStyle/>
          <a:p>
            <a:pPr indent="0" marL="0">
              <a:buNone/>
            </a:pPr>
            <a:r>
              <a:rPr lang="en-US" sz="1100" b="1" dirty="0">
                <a:solidFill>
                  <a:srgbClr val="073A6B"/>
                </a:solidFill>
                <a:latin typeface="Calibri" pitchFamily="34" charset="0"/>
                <a:ea typeface="Calibri" pitchFamily="34" charset="-122"/>
                <a:cs typeface="Calibri" pitchFamily="34" charset="-120"/>
              </a:rPr>
              <a:t>Case</a:t>
            </a:r>
            <a:endParaRPr lang="en-US" sz="1100" dirty="0"/>
          </a:p>
        </p:txBody>
      </p:sp>
      <p:sp>
        <p:nvSpPr>
          <p:cNvPr id="14" name="Text 11"/>
          <p:cNvSpPr txBox="1"/>
          <p:nvPr/>
        </p:nvSpPr>
        <p:spPr>
          <a:xfrm>
            <a:off x="2194560" y="2816352"/>
            <a:ext cx="4892040" cy="47548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case_label text · workflow text (PRE | POST | PRE_POST)</a:t>
            </a:r>
            <a:endParaRPr lang="en-US" sz="950" dirty="0"/>
          </a:p>
        </p:txBody>
      </p:sp>
      <p:sp>
        <p:nvSpPr>
          <p:cNvPr id="15" name="Text 12"/>
          <p:cNvSpPr txBox="1"/>
          <p:nvPr/>
        </p:nvSpPr>
        <p:spPr>
          <a:xfrm>
            <a:off x="914400" y="3346704"/>
            <a:ext cx="1234440" cy="475488"/>
          </a:xfrm>
          <a:prstGeom prst="rect">
            <a:avLst/>
          </a:prstGeom>
          <a:noFill/>
          <a:ln/>
        </p:spPr>
        <p:txBody>
          <a:bodyPr wrap="square" lIns="0" tIns="0" rIns="0" bIns="0" rtlCol="0" anchor="ctr"/>
          <a:lstStyle/>
          <a:p>
            <a:pPr indent="0" marL="0">
              <a:buNone/>
            </a:pPr>
            <a:r>
              <a:rPr lang="en-US" sz="1100" b="1" dirty="0">
                <a:solidFill>
                  <a:srgbClr val="073A6B"/>
                </a:solidFill>
                <a:latin typeface="Calibri" pitchFamily="34" charset="0"/>
                <a:ea typeface="Calibri" pitchFamily="34" charset="-122"/>
                <a:cs typeface="Calibri" pitchFamily="34" charset="-120"/>
              </a:rPr>
              <a:t>Patient</a:t>
            </a:r>
            <a:endParaRPr lang="en-US" sz="1100" dirty="0"/>
          </a:p>
        </p:txBody>
      </p:sp>
      <p:sp>
        <p:nvSpPr>
          <p:cNvPr id="16" name="Text 13"/>
          <p:cNvSpPr txBox="1"/>
          <p:nvPr/>
        </p:nvSpPr>
        <p:spPr>
          <a:xfrm>
            <a:off x="2194560" y="3346704"/>
            <a:ext cx="4892040" cy="47548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weight_kg · age_years · is_male · scr_umol_l</a:t>
            </a:r>
            <a:endParaRPr lang="en-US" sz="950" dirty="0"/>
          </a:p>
        </p:txBody>
      </p:sp>
      <p:sp>
        <p:nvSpPr>
          <p:cNvPr id="17" name="Text 14"/>
          <p:cNvSpPr txBox="1"/>
          <p:nvPr/>
        </p:nvSpPr>
        <p:spPr>
          <a:xfrm>
            <a:off x="914400" y="3877056"/>
            <a:ext cx="1234440" cy="475488"/>
          </a:xfrm>
          <a:prstGeom prst="rect">
            <a:avLst/>
          </a:prstGeom>
          <a:noFill/>
          <a:ln/>
        </p:spPr>
        <p:txBody>
          <a:bodyPr wrap="square" lIns="0" tIns="0" rIns="0" bIns="0" rtlCol="0" anchor="ctr"/>
          <a:lstStyle/>
          <a:p>
            <a:pPr indent="0" marL="0">
              <a:buNone/>
            </a:pPr>
            <a:r>
              <a:rPr lang="en-US" sz="1100" b="1" dirty="0">
                <a:solidFill>
                  <a:srgbClr val="073A6B"/>
                </a:solidFill>
                <a:latin typeface="Calibri" pitchFamily="34" charset="0"/>
                <a:ea typeface="Calibri" pitchFamily="34" charset="-122"/>
                <a:cs typeface="Calibri" pitchFamily="34" charset="-120"/>
              </a:rPr>
              <a:t>Regimen</a:t>
            </a:r>
            <a:endParaRPr lang="en-US" sz="1100" dirty="0"/>
          </a:p>
        </p:txBody>
      </p:sp>
      <p:sp>
        <p:nvSpPr>
          <p:cNvPr id="18" name="Text 15"/>
          <p:cNvSpPr txBox="1"/>
          <p:nvPr/>
        </p:nvSpPr>
        <p:spPr>
          <a:xfrm>
            <a:off x="2194560" y="3877056"/>
            <a:ext cx="4892040" cy="47548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dose_mg · interval_hours · infusion_duration_hours</a:t>
            </a:r>
            <a:endParaRPr lang="en-US" sz="950" dirty="0"/>
          </a:p>
        </p:txBody>
      </p:sp>
      <p:sp>
        <p:nvSpPr>
          <p:cNvPr id="19" name="Text 16"/>
          <p:cNvSpPr txBox="1"/>
          <p:nvPr/>
        </p:nvSpPr>
        <p:spPr>
          <a:xfrm>
            <a:off x="914400" y="4407408"/>
            <a:ext cx="1234440" cy="475488"/>
          </a:xfrm>
          <a:prstGeom prst="rect">
            <a:avLst/>
          </a:prstGeom>
          <a:noFill/>
          <a:ln/>
        </p:spPr>
        <p:txBody>
          <a:bodyPr wrap="square" lIns="0" tIns="0" rIns="0" bIns="0" rtlCol="0" anchor="ctr"/>
          <a:lstStyle/>
          <a:p>
            <a:pPr indent="0" marL="0">
              <a:buNone/>
            </a:pPr>
            <a:r>
              <a:rPr lang="en-US" sz="1100" b="1" dirty="0">
                <a:solidFill>
                  <a:srgbClr val="073A6B"/>
                </a:solidFill>
                <a:latin typeface="Calibri" pitchFamily="34" charset="0"/>
                <a:ea typeface="Calibri" pitchFamily="34" charset="-122"/>
                <a:cs typeface="Calibri" pitchFamily="34" charset="-120"/>
              </a:rPr>
              <a:t>Samples</a:t>
            </a:r>
            <a:endParaRPr lang="en-US" sz="1100" dirty="0"/>
          </a:p>
        </p:txBody>
      </p:sp>
      <p:sp>
        <p:nvSpPr>
          <p:cNvPr id="20" name="Text 17"/>
          <p:cNvSpPr txBox="1"/>
          <p:nvPr/>
        </p:nvSpPr>
        <p:spPr>
          <a:xfrm>
            <a:off x="2194560" y="4407408"/>
            <a:ext cx="4892040" cy="47548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pre_conc_mg_l · pre_time_h · post_conc_mg_l · post_time_h</a:t>
            </a:r>
            <a:endParaRPr lang="en-US" sz="950" dirty="0"/>
          </a:p>
        </p:txBody>
      </p:sp>
      <p:sp>
        <p:nvSpPr>
          <p:cNvPr id="21" name="Text 18"/>
          <p:cNvSpPr txBox="1"/>
          <p:nvPr/>
        </p:nvSpPr>
        <p:spPr>
          <a:xfrm>
            <a:off x="914400" y="4937760"/>
            <a:ext cx="1234440" cy="475488"/>
          </a:xfrm>
          <a:prstGeom prst="rect">
            <a:avLst/>
          </a:prstGeom>
          <a:noFill/>
          <a:ln/>
        </p:spPr>
        <p:txBody>
          <a:bodyPr wrap="square" lIns="0" tIns="0" rIns="0" bIns="0" rtlCol="0" anchor="ctr"/>
          <a:lstStyle/>
          <a:p>
            <a:pPr indent="0" marL="0">
              <a:buNone/>
            </a:pPr>
            <a:r>
              <a:rPr lang="en-US" sz="1100" b="1" dirty="0">
                <a:solidFill>
                  <a:srgbClr val="073A6B"/>
                </a:solidFill>
                <a:latin typeface="Calibri" pitchFamily="34" charset="0"/>
                <a:ea typeface="Calibri" pitchFamily="34" charset="-122"/>
                <a:cs typeface="Calibri" pitchFamily="34" charset="-120"/>
              </a:rPr>
              <a:t>PK results</a:t>
            </a:r>
            <a:endParaRPr lang="en-US" sz="1100" dirty="0"/>
          </a:p>
        </p:txBody>
      </p:sp>
      <p:sp>
        <p:nvSpPr>
          <p:cNvPr id="22" name="Text 19"/>
          <p:cNvSpPr txBox="1"/>
          <p:nvPr/>
        </p:nvSpPr>
        <p:spPr>
          <a:xfrm>
            <a:off x="2194560" y="4937760"/>
            <a:ext cx="4892040" cy="47548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ke_per_hour · half_life_hours · vd_l · vd_l_per_kg · clearance_l_per_hour</a:t>
            </a:r>
            <a:endParaRPr lang="en-US" sz="950" dirty="0"/>
          </a:p>
        </p:txBody>
      </p:sp>
      <p:sp>
        <p:nvSpPr>
          <p:cNvPr id="23" name="Text 20"/>
          <p:cNvSpPr txBox="1"/>
          <p:nvPr/>
        </p:nvSpPr>
        <p:spPr>
          <a:xfrm>
            <a:off x="914400" y="5468112"/>
            <a:ext cx="1234440" cy="475488"/>
          </a:xfrm>
          <a:prstGeom prst="rect">
            <a:avLst/>
          </a:prstGeom>
          <a:noFill/>
          <a:ln/>
        </p:spPr>
        <p:txBody>
          <a:bodyPr wrap="square" lIns="0" tIns="0" rIns="0" bIns="0" rtlCol="0" anchor="ctr"/>
          <a:lstStyle/>
          <a:p>
            <a:pPr indent="0" marL="0">
              <a:buNone/>
            </a:pPr>
            <a:r>
              <a:rPr lang="en-US" sz="1100" b="1" dirty="0">
                <a:solidFill>
                  <a:srgbClr val="073A6B"/>
                </a:solidFill>
                <a:latin typeface="Calibri" pitchFamily="34" charset="0"/>
                <a:ea typeface="Calibri" pitchFamily="34" charset="-122"/>
                <a:cs typeface="Calibri" pitchFamily="34" charset="-120"/>
              </a:rPr>
              <a:t>Outputs</a:t>
            </a:r>
            <a:endParaRPr lang="en-US" sz="1100" dirty="0"/>
          </a:p>
        </p:txBody>
      </p:sp>
      <p:sp>
        <p:nvSpPr>
          <p:cNvPr id="24" name="Text 21"/>
          <p:cNvSpPr txBox="1"/>
          <p:nvPr/>
        </p:nvSpPr>
        <p:spPr>
          <a:xfrm>
            <a:off x="2194560" y="5468112"/>
            <a:ext cx="4892040" cy="475488"/>
          </a:xfrm>
          <a:prstGeom prst="rect">
            <a:avLst/>
          </a:prstGeom>
          <a:noFill/>
          <a:ln/>
        </p:spPr>
        <p:txBody>
          <a:bodyPr wrap="square" lIns="0" tIns="0" rIns="0" bIns="0" rtlCol="0" anchor="ctr"/>
          <a:lstStyle/>
          <a:p>
            <a:pPr indent="0" marL="0">
              <a:buNone/>
            </a:pPr>
            <a:r>
              <a:rPr lang="en-US" sz="950" dirty="0">
                <a:solidFill>
                  <a:srgbClr val="0B2545"/>
                </a:solidFill>
                <a:latin typeface="Courier New" pitchFamily="34" charset="0"/>
                <a:ea typeface="Courier New" pitchFamily="34" charset="-122"/>
                <a:cs typeface="Courier New" pitchFamily="34" charset="-120"/>
              </a:rPr>
              <a:t>auc24 · recommended_dose_mg · c_min · c_max</a:t>
            </a:r>
            <a:endParaRPr lang="en-US" sz="950" dirty="0"/>
          </a:p>
        </p:txBody>
      </p:sp>
      <p:sp>
        <p:nvSpPr>
          <p:cNvPr id="25" name="Text 22"/>
          <p:cNvSpPr txBox="1"/>
          <p:nvPr/>
        </p:nvSpPr>
        <p:spPr>
          <a:xfrm>
            <a:off x="914400" y="5623560"/>
            <a:ext cx="6126480" cy="274320"/>
          </a:xfrm>
          <a:prstGeom prst="rect">
            <a:avLst/>
          </a:prstGeom>
          <a:noFill/>
          <a:ln/>
        </p:spPr>
        <p:txBody>
          <a:bodyPr wrap="square" lIns="0" tIns="0" rIns="0" bIns="0" rtlCol="0" anchor="ctr"/>
          <a:lstStyle/>
          <a:p>
            <a:pPr indent="0" marL="0">
              <a:buNone/>
            </a:pPr>
            <a:r>
              <a:rPr lang="en-US" sz="1050" i="1" dirty="0">
                <a:solidFill>
                  <a:srgbClr val="5A6672"/>
                </a:solidFill>
                <a:latin typeface="Calibri" pitchFamily="34" charset="0"/>
                <a:ea typeface="Calibri" pitchFamily="34" charset="-122"/>
                <a:cs typeface="Calibri" pitchFamily="34" charset="-120"/>
              </a:rPr>
              <a:t>Index:  cases_user_created_idx (user_id, created_at desc)</a:t>
            </a:r>
            <a:endParaRPr lang="en-US" sz="1050" dirty="0"/>
          </a:p>
        </p:txBody>
      </p:sp>
      <p:sp>
        <p:nvSpPr>
          <p:cNvPr id="26" name="Shape 23"/>
          <p:cNvSpPr/>
          <p:nvPr/>
        </p:nvSpPr>
        <p:spPr>
          <a:xfrm>
            <a:off x="7635240" y="1691640"/>
            <a:ext cx="3916375" cy="2057400"/>
          </a:xfrm>
          <a:prstGeom prst="roundRect">
            <a:avLst>
              <a:gd name="adj" fmla="val 4000"/>
            </a:avLst>
          </a:prstGeom>
          <a:solidFill>
            <a:srgbClr val="EAF2FA"/>
          </a:solidFill>
          <a:ln w="12700">
            <a:solidFill>
              <a:srgbClr val="EAF2FA"/>
            </a:solidFill>
            <a:prstDash val="solid"/>
          </a:ln>
        </p:spPr>
      </p:sp>
      <p:sp>
        <p:nvSpPr>
          <p:cNvPr id="27" name="Text 24"/>
          <p:cNvSpPr txBox="1"/>
          <p:nvPr/>
        </p:nvSpPr>
        <p:spPr>
          <a:xfrm>
            <a:off x="7909560" y="1828800"/>
            <a:ext cx="3367735" cy="310896"/>
          </a:xfrm>
          <a:prstGeom prst="rect">
            <a:avLst/>
          </a:prstGeom>
          <a:noFill/>
          <a:ln/>
        </p:spPr>
        <p:txBody>
          <a:bodyPr wrap="square" lIns="0" tIns="0" rIns="0" bIns="0" rtlCol="0" anchor="ctr"/>
          <a:lstStyle/>
          <a:p>
            <a:pPr indent="0" marL="0">
              <a:buNone/>
            </a:pPr>
            <a:r>
              <a:rPr lang="en-US" sz="1700" b="1" dirty="0">
                <a:solidFill>
                  <a:srgbClr val="073A6B"/>
                </a:solidFill>
                <a:latin typeface="Courier New" pitchFamily="34" charset="0"/>
                <a:ea typeface="Courier New" pitchFamily="34" charset="-122"/>
                <a:cs typeface="Courier New" pitchFamily="34" charset="-120"/>
              </a:rPr>
              <a:t>user_profiles</a:t>
            </a:r>
            <a:endParaRPr lang="en-US" sz="1700" dirty="0"/>
          </a:p>
        </p:txBody>
      </p:sp>
      <p:sp>
        <p:nvSpPr>
          <p:cNvPr id="28" name="Text 25"/>
          <p:cNvSpPr txBox="1"/>
          <p:nvPr/>
        </p:nvSpPr>
        <p:spPr>
          <a:xfrm>
            <a:off x="7909560" y="2212848"/>
            <a:ext cx="3367735" cy="1371600"/>
          </a:xfrm>
          <a:prstGeom prst="rect">
            <a:avLst/>
          </a:prstGeom>
          <a:noFill/>
          <a:ln/>
        </p:spPr>
        <p:txBody>
          <a:bodyPr wrap="square" lIns="0" tIns="0" rIns="0" bIns="0" rtlCol="0" anchor="ctr"/>
          <a:lstStyle/>
          <a:p>
            <a:pPr indent="0" marL="0">
              <a:lnSpc>
                <a:spcPts val="1600"/>
              </a:lnSpc>
              <a:buNone/>
            </a:pPr>
            <a:r>
              <a:rPr lang="en-US" sz="1000" dirty="0">
                <a:solidFill>
                  <a:srgbClr val="0B2545"/>
                </a:solidFill>
                <a:latin typeface="Courier New" pitchFamily="34" charset="0"/>
                <a:ea typeface="Courier New" pitchFamily="34" charset="-122"/>
                <a:cs typeface="Courier New" pitchFamily="34" charset="-120"/>
              </a:rPr>
              <a:t>user_id text PK  —  the Clerk user ID</a:t>
            </a:r>
            <a:endParaRPr lang="en-US" sz="1000" dirty="0"/>
          </a:p>
          <a:p>
            <a:pPr indent="0" marL="0">
              <a:lnSpc>
                <a:spcPts val="1600"/>
              </a:lnSpc>
              <a:buNone/>
            </a:pPr>
            <a:r>
              <a:rPr lang="en-US" sz="1000" dirty="0">
                <a:solidFill>
                  <a:srgbClr val="0B2545"/>
                </a:solidFill>
                <a:latin typeface="Courier New" pitchFamily="34" charset="0"/>
                <a:ea typeface="Courier New" pitchFamily="34" charset="-122"/>
                <a:cs typeface="Courier New" pitchFamily="34" charset="-120"/>
              </a:rPr>
              <a:t>display_name · institution · department</a:t>
            </a:r>
            <a:endParaRPr lang="en-US" sz="1000" dirty="0"/>
          </a:p>
          <a:p>
            <a:pPr indent="0" marL="0">
              <a:lnSpc>
                <a:spcPts val="1600"/>
              </a:lnSpc>
              <a:buNone/>
            </a:pPr>
            <a:r>
              <a:rPr lang="en-US" sz="1000" dirty="0">
                <a:solidFill>
                  <a:srgbClr val="0B2545"/>
                </a:solidFill>
                <a:latin typeface="Courier New" pitchFamily="34" charset="0"/>
                <a:ea typeface="Courier New" pitchFamily="34" charset="-122"/>
                <a:cs typeface="Courier New" pitchFamily="34" charset="-120"/>
              </a:rPr>
              <a:t>role (student | pharmacist | doctor)</a:t>
            </a:r>
            <a:endParaRPr lang="en-US" sz="1000" dirty="0"/>
          </a:p>
          <a:p>
            <a:pPr indent="0" marL="0">
              <a:lnSpc>
                <a:spcPts val="1600"/>
              </a:lnSpc>
              <a:buNone/>
            </a:pPr>
            <a:r>
              <a:rPr lang="en-US" sz="1000" dirty="0">
                <a:solidFill>
                  <a:srgbClr val="0B2545"/>
                </a:solidFill>
                <a:latin typeface="Courier New" pitchFamily="34" charset="0"/>
                <a:ea typeface="Courier New" pitchFamily="34" charset="-122"/>
                <a:cs typeface="Courier New" pitchFamily="34" charset="-120"/>
              </a:rPr>
              <a:t>created_at · updated_at</a:t>
            </a:r>
            <a:endParaRPr lang="en-US" sz="1000" dirty="0"/>
          </a:p>
        </p:txBody>
      </p:sp>
      <p:sp>
        <p:nvSpPr>
          <p:cNvPr id="29" name="Shape 26"/>
          <p:cNvSpPr/>
          <p:nvPr/>
        </p:nvSpPr>
        <p:spPr>
          <a:xfrm>
            <a:off x="7635240" y="3931920"/>
            <a:ext cx="3916375" cy="2148840"/>
          </a:xfrm>
          <a:prstGeom prst="roundRect">
            <a:avLst>
              <a:gd name="adj" fmla="val 3830"/>
            </a:avLst>
          </a:prstGeom>
          <a:solidFill>
            <a:srgbClr val="0B2545"/>
          </a:solidFill>
          <a:ln w="12700">
            <a:solidFill>
              <a:srgbClr val="0B2545"/>
            </a:solidFill>
            <a:prstDash val="solid"/>
          </a:ln>
        </p:spPr>
      </p:sp>
      <p:sp>
        <p:nvSpPr>
          <p:cNvPr id="30" name="Text 27"/>
          <p:cNvSpPr txBox="1"/>
          <p:nvPr/>
        </p:nvSpPr>
        <p:spPr>
          <a:xfrm>
            <a:off x="7909560" y="4087368"/>
            <a:ext cx="3367735" cy="274320"/>
          </a:xfrm>
          <a:prstGeom prst="rect">
            <a:avLst/>
          </a:prstGeom>
          <a:noFill/>
          <a:ln/>
        </p:spPr>
        <p:txBody>
          <a:bodyPr wrap="square" lIns="0" tIns="0" rIns="0" bIns="0" rtlCol="0" anchor="ctr"/>
          <a:lstStyle/>
          <a:p>
            <a:pPr indent="0" marL="0">
              <a:buNone/>
            </a:pPr>
            <a:r>
              <a:rPr lang="en-US" sz="1300" b="1" dirty="0">
                <a:solidFill>
                  <a:srgbClr val="6FB3E8"/>
                </a:solidFill>
                <a:latin typeface="Calibri" pitchFamily="34" charset="0"/>
                <a:ea typeface="Calibri" pitchFamily="34" charset="-122"/>
                <a:cs typeface="Calibri" pitchFamily="34" charset="-120"/>
              </a:rPr>
              <a:t>Row-level security</a:t>
            </a:r>
            <a:endParaRPr lang="en-US" sz="1300" dirty="0"/>
          </a:p>
        </p:txBody>
      </p:sp>
      <p:sp>
        <p:nvSpPr>
          <p:cNvPr id="31" name="Text 28"/>
          <p:cNvSpPr txBox="1"/>
          <p:nvPr/>
        </p:nvSpPr>
        <p:spPr>
          <a:xfrm>
            <a:off x="7909560" y="4407408"/>
            <a:ext cx="3367735" cy="1463040"/>
          </a:xfrm>
          <a:prstGeom prst="rect">
            <a:avLst/>
          </a:prstGeom>
          <a:noFill/>
          <a:ln/>
        </p:spPr>
        <p:txBody>
          <a:bodyPr wrap="square" lIns="0" tIns="0" rIns="0" bIns="0" rtlCol="0" anchor="ctr"/>
          <a:lstStyle/>
          <a:p>
            <a:pPr indent="0" marL="0">
              <a:lnSpc>
                <a:spcPts val="1700"/>
              </a:lnSpc>
              <a:buNone/>
            </a:pPr>
            <a:r>
              <a:rPr lang="en-US" sz="1150" dirty="0">
                <a:solidFill>
                  <a:srgbClr val="D2E2F0"/>
                </a:solidFill>
                <a:latin typeface="Calibri" pitchFamily="34" charset="0"/>
                <a:ea typeface="Calibri" pitchFamily="34" charset="-122"/>
                <a:cs typeface="Calibri" pitchFamily="34" charset="-120"/>
              </a:rPr>
              <a:t>RLS is enabled on both tables. For this academic build the anon policies allow read and insert, and the app filters by Clerk user ID. A production build would tighten these policies to the authenticated JWT.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08 · BACKEND</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Entity relationship diagram</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Identity comes from Clerk, not from my database — the Clerk user ID is the key that joins the two tables.</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27</a:t>
            </a:r>
            <a:endParaRPr lang="en-US" sz="900" dirty="0"/>
          </a:p>
        </p:txBody>
      </p:sp>
      <p:sp>
        <p:nvSpPr>
          <p:cNvPr id="8" name="Shape 5"/>
          <p:cNvSpPr/>
          <p:nvPr/>
        </p:nvSpPr>
        <p:spPr>
          <a:xfrm>
            <a:off x="4206240" y="1691640"/>
            <a:ext cx="3749040" cy="658368"/>
          </a:xfrm>
          <a:prstGeom prst="roundRect">
            <a:avLst>
              <a:gd name="adj" fmla="val 11111"/>
            </a:avLst>
          </a:prstGeom>
          <a:solidFill>
            <a:srgbClr val="8A96A3"/>
          </a:solidFill>
          <a:ln w="12700">
            <a:solidFill>
              <a:srgbClr val="8A96A3"/>
            </a:solidFill>
            <a:prstDash val="solid"/>
          </a:ln>
        </p:spPr>
      </p:sp>
      <p:sp>
        <p:nvSpPr>
          <p:cNvPr id="9" name="Text 6"/>
          <p:cNvSpPr txBox="1"/>
          <p:nvPr/>
        </p:nvSpPr>
        <p:spPr>
          <a:xfrm>
            <a:off x="4315968" y="1783080"/>
            <a:ext cx="352958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  ·  external identity provider</a:t>
            </a:r>
            <a:endParaRPr lang="en-US" sz="1200" dirty="0"/>
          </a:p>
        </p:txBody>
      </p:sp>
      <p:sp>
        <p:nvSpPr>
          <p:cNvPr id="10" name="Text 7"/>
          <p:cNvSpPr txBox="1"/>
          <p:nvPr/>
        </p:nvSpPr>
        <p:spPr>
          <a:xfrm>
            <a:off x="4315968" y="2002536"/>
            <a:ext cx="3529584" cy="256032"/>
          </a:xfrm>
          <a:prstGeom prst="rect">
            <a:avLst/>
          </a:prstGeom>
          <a:noFill/>
          <a:ln/>
        </p:spPr>
        <p:txBody>
          <a:bodyPr wrap="square" lIns="0" tIns="0" rIns="0" bIns="0" rtlCol="0" anchor="ctr"/>
          <a:lstStyle/>
          <a:p>
            <a:pPr algn="ctr" indent="0" marL="0">
              <a:lnSpc>
                <a:spcPts val="1300"/>
              </a:lnSpc>
              <a:buNone/>
            </a:pPr>
            <a:r>
              <a:rPr lang="en-US" sz="1000" dirty="0">
                <a:solidFill>
                  <a:srgbClr val="FFFFFF"/>
                </a:solidFill>
                <a:latin typeface="Calibri" pitchFamily="34" charset="0"/>
                <a:ea typeface="Calibri" pitchFamily="34" charset="-122"/>
                <a:cs typeface="Calibri" pitchFamily="34" charset="-120"/>
              </a:rPr>
              <a:t>issues user_id  (e.g. user_2ab4Xk…)</a:t>
            </a:r>
            <a:endParaRPr lang="en-US" sz="1000" dirty="0"/>
          </a:p>
        </p:txBody>
      </p:sp>
      <p:sp>
        <p:nvSpPr>
          <p:cNvPr id="11" name="Shape 8"/>
          <p:cNvSpPr/>
          <p:nvPr/>
        </p:nvSpPr>
        <p:spPr>
          <a:xfrm>
            <a:off x="960120" y="2788920"/>
            <a:ext cx="3931920" cy="2788920"/>
          </a:xfrm>
          <a:prstGeom prst="roundRect">
            <a:avLst>
              <a:gd name="adj" fmla="val 2623"/>
            </a:avLst>
          </a:prstGeom>
          <a:solidFill>
            <a:srgbClr val="FFFFFF"/>
          </a:solidFill>
          <a:ln w="22225">
            <a:solidFill>
              <a:srgbClr val="073A6B"/>
            </a:solidFill>
            <a:prstDash val="solid"/>
          </a:ln>
        </p:spPr>
      </p:sp>
      <p:sp>
        <p:nvSpPr>
          <p:cNvPr id="12" name="Shape 9"/>
          <p:cNvSpPr/>
          <p:nvPr/>
        </p:nvSpPr>
        <p:spPr>
          <a:xfrm>
            <a:off x="960120" y="2788920"/>
            <a:ext cx="3931920" cy="457200"/>
          </a:xfrm>
          <a:prstGeom prst="roundRect">
            <a:avLst>
              <a:gd name="adj" fmla="val 16000"/>
            </a:avLst>
          </a:prstGeom>
          <a:solidFill>
            <a:srgbClr val="073A6B"/>
          </a:solidFill>
          <a:ln w="12700">
            <a:solidFill>
              <a:srgbClr val="073A6B"/>
            </a:solidFill>
            <a:prstDash val="solid"/>
          </a:ln>
        </p:spPr>
      </p:sp>
      <p:sp>
        <p:nvSpPr>
          <p:cNvPr id="13" name="Text 10"/>
          <p:cNvSpPr txBox="1"/>
          <p:nvPr/>
        </p:nvSpPr>
        <p:spPr>
          <a:xfrm>
            <a:off x="1143000" y="2788920"/>
            <a:ext cx="3566160" cy="45720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user_profiles</a:t>
            </a:r>
            <a:endParaRPr lang="en-US" sz="1300" dirty="0"/>
          </a:p>
        </p:txBody>
      </p:sp>
      <p:sp>
        <p:nvSpPr>
          <p:cNvPr id="14" name="Text 11"/>
          <p:cNvSpPr txBox="1"/>
          <p:nvPr/>
        </p:nvSpPr>
        <p:spPr>
          <a:xfrm>
            <a:off x="1124712" y="3337560"/>
            <a:ext cx="384048" cy="310896"/>
          </a:xfrm>
          <a:prstGeom prst="rect">
            <a:avLst/>
          </a:prstGeom>
          <a:noFill/>
          <a:ln/>
        </p:spPr>
        <p:txBody>
          <a:bodyPr wrap="square" lIns="0" tIns="0" rIns="0" bIns="0" rtlCol="0" anchor="ctr"/>
          <a:lstStyle/>
          <a:p>
            <a:pPr indent="0" marL="0">
              <a:buNone/>
            </a:pPr>
            <a:r>
              <a:rPr lang="en-US" sz="850" b="1" dirty="0">
                <a:solidFill>
                  <a:srgbClr val="B26B00"/>
                </a:solidFill>
                <a:latin typeface="Calibri" pitchFamily="34" charset="0"/>
                <a:ea typeface="Calibri" pitchFamily="34" charset="-122"/>
                <a:cs typeface="Calibri" pitchFamily="34" charset="-120"/>
              </a:rPr>
              <a:t>PK</a:t>
            </a:r>
            <a:endParaRPr lang="en-US" sz="850" dirty="0"/>
          </a:p>
        </p:txBody>
      </p:sp>
      <p:sp>
        <p:nvSpPr>
          <p:cNvPr id="15" name="Text 12"/>
          <p:cNvSpPr txBox="1"/>
          <p:nvPr/>
        </p:nvSpPr>
        <p:spPr>
          <a:xfrm>
            <a:off x="1527048" y="3337560"/>
            <a:ext cx="1874520" cy="310896"/>
          </a:xfrm>
          <a:prstGeom prst="rect">
            <a:avLst/>
          </a:prstGeom>
          <a:noFill/>
          <a:ln/>
        </p:spPr>
        <p:txBody>
          <a:bodyPr wrap="square" lIns="0" tIns="0" rIns="0" bIns="0" rtlCol="0" anchor="ctr"/>
          <a:lstStyle/>
          <a:p>
            <a:pPr indent="0" marL="0">
              <a:buNone/>
            </a:pPr>
            <a:r>
              <a:rPr lang="en-US" sz="1000" b="1" dirty="0">
                <a:solidFill>
                  <a:srgbClr val="0B2545"/>
                </a:solidFill>
                <a:latin typeface="Courier New" pitchFamily="34" charset="0"/>
                <a:ea typeface="Courier New" pitchFamily="34" charset="-122"/>
                <a:cs typeface="Courier New" pitchFamily="34" charset="-120"/>
              </a:rPr>
              <a:t>user_id</a:t>
            </a:r>
            <a:endParaRPr lang="en-US" sz="1000" dirty="0"/>
          </a:p>
        </p:txBody>
      </p:sp>
      <p:sp>
        <p:nvSpPr>
          <p:cNvPr id="16" name="Text 13"/>
          <p:cNvSpPr txBox="1"/>
          <p:nvPr/>
        </p:nvSpPr>
        <p:spPr>
          <a:xfrm>
            <a:off x="3429000" y="3337560"/>
            <a:ext cx="1280160" cy="310896"/>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text  ← Clerk</a:t>
            </a:r>
            <a:endParaRPr lang="en-US" sz="950" dirty="0"/>
          </a:p>
        </p:txBody>
      </p:sp>
      <p:sp>
        <p:nvSpPr>
          <p:cNvPr id="17" name="Text 14"/>
          <p:cNvSpPr txBox="1"/>
          <p:nvPr/>
        </p:nvSpPr>
        <p:spPr>
          <a:xfrm>
            <a:off x="1124712" y="3694176"/>
            <a:ext cx="384048" cy="310896"/>
          </a:xfrm>
          <a:prstGeom prst="rect">
            <a:avLst/>
          </a:prstGeom>
          <a:noFill/>
          <a:ln/>
        </p:spPr>
        <p:txBody>
          <a:bodyPr wrap="square" lIns="0" tIns="0" rIns="0" bIns="0" rtlCol="0" anchor="ctr"/>
          <a:lstStyle/>
          <a:p>
            <a:pPr indent="0" marL="0">
              <a:buNone/>
            </a:pPr>
            <a:endParaRPr lang="en-US" sz="850" dirty="0"/>
          </a:p>
        </p:txBody>
      </p:sp>
      <p:sp>
        <p:nvSpPr>
          <p:cNvPr id="18" name="Text 15"/>
          <p:cNvSpPr txBox="1"/>
          <p:nvPr/>
        </p:nvSpPr>
        <p:spPr>
          <a:xfrm>
            <a:off x="1527048" y="3694176"/>
            <a:ext cx="1874520" cy="310896"/>
          </a:xfrm>
          <a:prstGeom prst="rect">
            <a:avLst/>
          </a:prstGeom>
          <a:noFill/>
          <a:ln/>
        </p:spPr>
        <p:txBody>
          <a:bodyPr wrap="square" lIns="0" tIns="0" rIns="0" bIns="0" rtlCol="0" anchor="ctr"/>
          <a:lstStyle/>
          <a:p>
            <a:pPr indent="0" marL="0">
              <a:buNone/>
            </a:pPr>
            <a:r>
              <a:rPr lang="en-US" sz="1000" dirty="0">
                <a:solidFill>
                  <a:srgbClr val="0B2545"/>
                </a:solidFill>
                <a:latin typeface="Courier New" pitchFamily="34" charset="0"/>
                <a:ea typeface="Courier New" pitchFamily="34" charset="-122"/>
                <a:cs typeface="Courier New" pitchFamily="34" charset="-120"/>
              </a:rPr>
              <a:t>display_name</a:t>
            </a:r>
            <a:endParaRPr lang="en-US" sz="1000" dirty="0"/>
          </a:p>
        </p:txBody>
      </p:sp>
      <p:sp>
        <p:nvSpPr>
          <p:cNvPr id="19" name="Text 16"/>
          <p:cNvSpPr txBox="1"/>
          <p:nvPr/>
        </p:nvSpPr>
        <p:spPr>
          <a:xfrm>
            <a:off x="3429000" y="3694176"/>
            <a:ext cx="1280160" cy="310896"/>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text</a:t>
            </a:r>
            <a:endParaRPr lang="en-US" sz="950" dirty="0"/>
          </a:p>
        </p:txBody>
      </p:sp>
      <p:sp>
        <p:nvSpPr>
          <p:cNvPr id="20" name="Text 17"/>
          <p:cNvSpPr txBox="1"/>
          <p:nvPr/>
        </p:nvSpPr>
        <p:spPr>
          <a:xfrm>
            <a:off x="1124712" y="4050792"/>
            <a:ext cx="384048" cy="310896"/>
          </a:xfrm>
          <a:prstGeom prst="rect">
            <a:avLst/>
          </a:prstGeom>
          <a:noFill/>
          <a:ln/>
        </p:spPr>
        <p:txBody>
          <a:bodyPr wrap="square" lIns="0" tIns="0" rIns="0" bIns="0" rtlCol="0" anchor="ctr"/>
          <a:lstStyle/>
          <a:p>
            <a:pPr indent="0" marL="0">
              <a:buNone/>
            </a:pPr>
            <a:endParaRPr lang="en-US" sz="850" dirty="0"/>
          </a:p>
        </p:txBody>
      </p:sp>
      <p:sp>
        <p:nvSpPr>
          <p:cNvPr id="21" name="Text 18"/>
          <p:cNvSpPr txBox="1"/>
          <p:nvPr/>
        </p:nvSpPr>
        <p:spPr>
          <a:xfrm>
            <a:off x="1527048" y="4050792"/>
            <a:ext cx="1874520" cy="310896"/>
          </a:xfrm>
          <a:prstGeom prst="rect">
            <a:avLst/>
          </a:prstGeom>
          <a:noFill/>
          <a:ln/>
        </p:spPr>
        <p:txBody>
          <a:bodyPr wrap="square" lIns="0" tIns="0" rIns="0" bIns="0" rtlCol="0" anchor="ctr"/>
          <a:lstStyle/>
          <a:p>
            <a:pPr indent="0" marL="0">
              <a:buNone/>
            </a:pPr>
            <a:r>
              <a:rPr lang="en-US" sz="1000" dirty="0">
                <a:solidFill>
                  <a:srgbClr val="0B2545"/>
                </a:solidFill>
                <a:latin typeface="Courier New" pitchFamily="34" charset="0"/>
                <a:ea typeface="Courier New" pitchFamily="34" charset="-122"/>
                <a:cs typeface="Courier New" pitchFamily="34" charset="-120"/>
              </a:rPr>
              <a:t>institution</a:t>
            </a:r>
            <a:endParaRPr lang="en-US" sz="1000" dirty="0"/>
          </a:p>
        </p:txBody>
      </p:sp>
      <p:sp>
        <p:nvSpPr>
          <p:cNvPr id="22" name="Text 19"/>
          <p:cNvSpPr txBox="1"/>
          <p:nvPr/>
        </p:nvSpPr>
        <p:spPr>
          <a:xfrm>
            <a:off x="3429000" y="4050792"/>
            <a:ext cx="1280160" cy="310896"/>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text</a:t>
            </a:r>
            <a:endParaRPr lang="en-US" sz="950" dirty="0"/>
          </a:p>
        </p:txBody>
      </p:sp>
      <p:sp>
        <p:nvSpPr>
          <p:cNvPr id="23" name="Text 20"/>
          <p:cNvSpPr txBox="1"/>
          <p:nvPr/>
        </p:nvSpPr>
        <p:spPr>
          <a:xfrm>
            <a:off x="1124712" y="4407408"/>
            <a:ext cx="384048" cy="310896"/>
          </a:xfrm>
          <a:prstGeom prst="rect">
            <a:avLst/>
          </a:prstGeom>
          <a:noFill/>
          <a:ln/>
        </p:spPr>
        <p:txBody>
          <a:bodyPr wrap="square" lIns="0" tIns="0" rIns="0" bIns="0" rtlCol="0" anchor="ctr"/>
          <a:lstStyle/>
          <a:p>
            <a:pPr indent="0" marL="0">
              <a:buNone/>
            </a:pPr>
            <a:endParaRPr lang="en-US" sz="850" dirty="0"/>
          </a:p>
        </p:txBody>
      </p:sp>
      <p:sp>
        <p:nvSpPr>
          <p:cNvPr id="24" name="Text 21"/>
          <p:cNvSpPr txBox="1"/>
          <p:nvPr/>
        </p:nvSpPr>
        <p:spPr>
          <a:xfrm>
            <a:off x="1527048" y="4407408"/>
            <a:ext cx="1874520" cy="310896"/>
          </a:xfrm>
          <a:prstGeom prst="rect">
            <a:avLst/>
          </a:prstGeom>
          <a:noFill/>
          <a:ln/>
        </p:spPr>
        <p:txBody>
          <a:bodyPr wrap="square" lIns="0" tIns="0" rIns="0" bIns="0" rtlCol="0" anchor="ctr"/>
          <a:lstStyle/>
          <a:p>
            <a:pPr indent="0" marL="0">
              <a:buNone/>
            </a:pPr>
            <a:r>
              <a:rPr lang="en-US" sz="1000" dirty="0">
                <a:solidFill>
                  <a:srgbClr val="0B2545"/>
                </a:solidFill>
                <a:latin typeface="Courier New" pitchFamily="34" charset="0"/>
                <a:ea typeface="Courier New" pitchFamily="34" charset="-122"/>
                <a:cs typeface="Courier New" pitchFamily="34" charset="-120"/>
              </a:rPr>
              <a:t>department</a:t>
            </a:r>
            <a:endParaRPr lang="en-US" sz="1000" dirty="0"/>
          </a:p>
        </p:txBody>
      </p:sp>
      <p:sp>
        <p:nvSpPr>
          <p:cNvPr id="25" name="Text 22"/>
          <p:cNvSpPr txBox="1"/>
          <p:nvPr/>
        </p:nvSpPr>
        <p:spPr>
          <a:xfrm>
            <a:off x="3429000" y="4407408"/>
            <a:ext cx="1280160" cy="310896"/>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text</a:t>
            </a:r>
            <a:endParaRPr lang="en-US" sz="950" dirty="0"/>
          </a:p>
        </p:txBody>
      </p:sp>
      <p:sp>
        <p:nvSpPr>
          <p:cNvPr id="26" name="Text 23"/>
          <p:cNvSpPr txBox="1"/>
          <p:nvPr/>
        </p:nvSpPr>
        <p:spPr>
          <a:xfrm>
            <a:off x="1124712" y="4764024"/>
            <a:ext cx="384048" cy="310896"/>
          </a:xfrm>
          <a:prstGeom prst="rect">
            <a:avLst/>
          </a:prstGeom>
          <a:noFill/>
          <a:ln/>
        </p:spPr>
        <p:txBody>
          <a:bodyPr wrap="square" lIns="0" tIns="0" rIns="0" bIns="0" rtlCol="0" anchor="ctr"/>
          <a:lstStyle/>
          <a:p>
            <a:pPr indent="0" marL="0">
              <a:buNone/>
            </a:pPr>
            <a:endParaRPr lang="en-US" sz="850" dirty="0"/>
          </a:p>
        </p:txBody>
      </p:sp>
      <p:sp>
        <p:nvSpPr>
          <p:cNvPr id="27" name="Text 24"/>
          <p:cNvSpPr txBox="1"/>
          <p:nvPr/>
        </p:nvSpPr>
        <p:spPr>
          <a:xfrm>
            <a:off x="1527048" y="4764024"/>
            <a:ext cx="1874520" cy="310896"/>
          </a:xfrm>
          <a:prstGeom prst="rect">
            <a:avLst/>
          </a:prstGeom>
          <a:noFill/>
          <a:ln/>
        </p:spPr>
        <p:txBody>
          <a:bodyPr wrap="square" lIns="0" tIns="0" rIns="0" bIns="0" rtlCol="0" anchor="ctr"/>
          <a:lstStyle/>
          <a:p>
            <a:pPr indent="0" marL="0">
              <a:buNone/>
            </a:pPr>
            <a:r>
              <a:rPr lang="en-US" sz="1000" dirty="0">
                <a:solidFill>
                  <a:srgbClr val="0B2545"/>
                </a:solidFill>
                <a:latin typeface="Courier New" pitchFamily="34" charset="0"/>
                <a:ea typeface="Courier New" pitchFamily="34" charset="-122"/>
                <a:cs typeface="Courier New" pitchFamily="34" charset="-120"/>
              </a:rPr>
              <a:t>role</a:t>
            </a:r>
            <a:endParaRPr lang="en-US" sz="1000" dirty="0"/>
          </a:p>
        </p:txBody>
      </p:sp>
      <p:sp>
        <p:nvSpPr>
          <p:cNvPr id="28" name="Text 25"/>
          <p:cNvSpPr txBox="1"/>
          <p:nvPr/>
        </p:nvSpPr>
        <p:spPr>
          <a:xfrm>
            <a:off x="3429000" y="4764024"/>
            <a:ext cx="1280160" cy="310896"/>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text</a:t>
            </a:r>
            <a:endParaRPr lang="en-US" sz="950" dirty="0"/>
          </a:p>
        </p:txBody>
      </p:sp>
      <p:sp>
        <p:nvSpPr>
          <p:cNvPr id="29" name="Text 26"/>
          <p:cNvSpPr txBox="1"/>
          <p:nvPr/>
        </p:nvSpPr>
        <p:spPr>
          <a:xfrm>
            <a:off x="1124712" y="5120640"/>
            <a:ext cx="384048" cy="310896"/>
          </a:xfrm>
          <a:prstGeom prst="rect">
            <a:avLst/>
          </a:prstGeom>
          <a:noFill/>
          <a:ln/>
        </p:spPr>
        <p:txBody>
          <a:bodyPr wrap="square" lIns="0" tIns="0" rIns="0" bIns="0" rtlCol="0" anchor="ctr"/>
          <a:lstStyle/>
          <a:p>
            <a:pPr indent="0" marL="0">
              <a:buNone/>
            </a:pPr>
            <a:endParaRPr lang="en-US" sz="850" dirty="0"/>
          </a:p>
        </p:txBody>
      </p:sp>
      <p:sp>
        <p:nvSpPr>
          <p:cNvPr id="30" name="Text 27"/>
          <p:cNvSpPr txBox="1"/>
          <p:nvPr/>
        </p:nvSpPr>
        <p:spPr>
          <a:xfrm>
            <a:off x="1527048" y="5120640"/>
            <a:ext cx="1874520" cy="310896"/>
          </a:xfrm>
          <a:prstGeom prst="rect">
            <a:avLst/>
          </a:prstGeom>
          <a:noFill/>
          <a:ln/>
        </p:spPr>
        <p:txBody>
          <a:bodyPr wrap="square" lIns="0" tIns="0" rIns="0" bIns="0" rtlCol="0" anchor="ctr"/>
          <a:lstStyle/>
          <a:p>
            <a:pPr indent="0" marL="0">
              <a:buNone/>
            </a:pPr>
            <a:r>
              <a:rPr lang="en-US" sz="1000" dirty="0">
                <a:solidFill>
                  <a:srgbClr val="0B2545"/>
                </a:solidFill>
                <a:latin typeface="Courier New" pitchFamily="34" charset="0"/>
                <a:ea typeface="Courier New" pitchFamily="34" charset="-122"/>
                <a:cs typeface="Courier New" pitchFamily="34" charset="-120"/>
              </a:rPr>
              <a:t>created_at / updated_at</a:t>
            </a:r>
            <a:endParaRPr lang="en-US" sz="1000" dirty="0"/>
          </a:p>
        </p:txBody>
      </p:sp>
      <p:sp>
        <p:nvSpPr>
          <p:cNvPr id="31" name="Text 28"/>
          <p:cNvSpPr txBox="1"/>
          <p:nvPr/>
        </p:nvSpPr>
        <p:spPr>
          <a:xfrm>
            <a:off x="3429000" y="5120640"/>
            <a:ext cx="1280160" cy="310896"/>
          </a:xfrm>
          <a:prstGeom prst="rect">
            <a:avLst/>
          </a:prstGeom>
          <a:noFill/>
          <a:ln/>
        </p:spPr>
        <p:txBody>
          <a:bodyPr wrap="square" lIns="0" tIns="0" rIns="0" bIns="0" rtlCol="0" anchor="ctr"/>
          <a:lstStyle/>
          <a:p>
            <a:pPr indent="0" marL="0">
              <a:buNone/>
            </a:pPr>
            <a:r>
              <a:rPr lang="en-US" sz="950" dirty="0">
                <a:solidFill>
                  <a:srgbClr val="5A6672"/>
                </a:solidFill>
                <a:latin typeface="Calibri" pitchFamily="34" charset="0"/>
                <a:ea typeface="Calibri" pitchFamily="34" charset="-122"/>
                <a:cs typeface="Calibri" pitchFamily="34" charset="-120"/>
              </a:rPr>
              <a:t>timestamptz</a:t>
            </a:r>
            <a:endParaRPr lang="en-US" sz="950" dirty="0"/>
          </a:p>
        </p:txBody>
      </p:sp>
      <p:sp>
        <p:nvSpPr>
          <p:cNvPr id="32" name="Shape 29"/>
          <p:cNvSpPr/>
          <p:nvPr/>
        </p:nvSpPr>
        <p:spPr>
          <a:xfrm>
            <a:off x="6492240" y="2788920"/>
            <a:ext cx="5120640" cy="3154680"/>
          </a:xfrm>
          <a:prstGeom prst="roundRect">
            <a:avLst>
              <a:gd name="adj" fmla="val 2319"/>
            </a:avLst>
          </a:prstGeom>
          <a:solidFill>
            <a:srgbClr val="FFFFFF"/>
          </a:solidFill>
          <a:ln w="22225">
            <a:solidFill>
              <a:srgbClr val="1464A8"/>
            </a:solidFill>
            <a:prstDash val="solid"/>
          </a:ln>
        </p:spPr>
      </p:sp>
      <p:sp>
        <p:nvSpPr>
          <p:cNvPr id="33" name="Shape 30"/>
          <p:cNvSpPr/>
          <p:nvPr/>
        </p:nvSpPr>
        <p:spPr>
          <a:xfrm>
            <a:off x="6492240" y="2788920"/>
            <a:ext cx="5120640" cy="457200"/>
          </a:xfrm>
          <a:prstGeom prst="roundRect">
            <a:avLst>
              <a:gd name="adj" fmla="val 16000"/>
            </a:avLst>
          </a:prstGeom>
          <a:solidFill>
            <a:srgbClr val="1464A8"/>
          </a:solidFill>
          <a:ln w="12700">
            <a:solidFill>
              <a:srgbClr val="1464A8"/>
            </a:solidFill>
            <a:prstDash val="solid"/>
          </a:ln>
        </p:spPr>
      </p:sp>
      <p:sp>
        <p:nvSpPr>
          <p:cNvPr id="34" name="Text 31"/>
          <p:cNvSpPr txBox="1"/>
          <p:nvPr/>
        </p:nvSpPr>
        <p:spPr>
          <a:xfrm>
            <a:off x="6675120" y="2788920"/>
            <a:ext cx="4754880" cy="45720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cases</a:t>
            </a:r>
            <a:endParaRPr lang="en-US" sz="1300" dirty="0"/>
          </a:p>
        </p:txBody>
      </p:sp>
      <p:sp>
        <p:nvSpPr>
          <p:cNvPr id="35" name="Text 32"/>
          <p:cNvSpPr txBox="1"/>
          <p:nvPr/>
        </p:nvSpPr>
        <p:spPr>
          <a:xfrm>
            <a:off x="6656832" y="3310128"/>
            <a:ext cx="384048" cy="256032"/>
          </a:xfrm>
          <a:prstGeom prst="rect">
            <a:avLst/>
          </a:prstGeom>
          <a:noFill/>
          <a:ln/>
        </p:spPr>
        <p:txBody>
          <a:bodyPr wrap="square" lIns="0" tIns="0" rIns="0" bIns="0" rtlCol="0" anchor="ctr"/>
          <a:lstStyle/>
          <a:p>
            <a:pPr indent="0" marL="0">
              <a:buNone/>
            </a:pPr>
            <a:r>
              <a:rPr lang="en-US" sz="850" b="1" dirty="0">
                <a:solidFill>
                  <a:srgbClr val="B26B00"/>
                </a:solidFill>
                <a:latin typeface="Calibri" pitchFamily="34" charset="0"/>
                <a:ea typeface="Calibri" pitchFamily="34" charset="-122"/>
                <a:cs typeface="Calibri" pitchFamily="34" charset="-120"/>
              </a:rPr>
              <a:t>PK</a:t>
            </a:r>
            <a:endParaRPr lang="en-US" sz="850" dirty="0"/>
          </a:p>
        </p:txBody>
      </p:sp>
      <p:sp>
        <p:nvSpPr>
          <p:cNvPr id="36" name="Text 33"/>
          <p:cNvSpPr txBox="1"/>
          <p:nvPr/>
        </p:nvSpPr>
        <p:spPr>
          <a:xfrm>
            <a:off x="7059168" y="3310128"/>
            <a:ext cx="3108960" cy="256032"/>
          </a:xfrm>
          <a:prstGeom prst="rect">
            <a:avLst/>
          </a:prstGeom>
          <a:noFill/>
          <a:ln/>
        </p:spPr>
        <p:txBody>
          <a:bodyPr wrap="square" lIns="0" tIns="0" rIns="0" bIns="0" rtlCol="0" anchor="ctr"/>
          <a:lstStyle/>
          <a:p>
            <a:pPr indent="0" marL="0">
              <a:buNone/>
            </a:pPr>
            <a:r>
              <a:rPr lang="en-US" sz="850" b="1" dirty="0">
                <a:solidFill>
                  <a:srgbClr val="0B2545"/>
                </a:solidFill>
                <a:latin typeface="Courier New" pitchFamily="34" charset="0"/>
                <a:ea typeface="Courier New" pitchFamily="34" charset="-122"/>
                <a:cs typeface="Courier New" pitchFamily="34" charset="-120"/>
              </a:rPr>
              <a:t>id</a:t>
            </a:r>
            <a:endParaRPr lang="en-US" sz="850" dirty="0"/>
          </a:p>
        </p:txBody>
      </p:sp>
      <p:sp>
        <p:nvSpPr>
          <p:cNvPr id="37" name="Text 34"/>
          <p:cNvSpPr txBox="1"/>
          <p:nvPr/>
        </p:nvSpPr>
        <p:spPr>
          <a:xfrm>
            <a:off x="10195560" y="3310128"/>
            <a:ext cx="1234440" cy="256032"/>
          </a:xfrm>
          <a:prstGeom prst="rect">
            <a:avLst/>
          </a:prstGeom>
          <a:noFill/>
          <a:ln/>
        </p:spPr>
        <p:txBody>
          <a:bodyPr wrap="square" lIns="0" tIns="0" rIns="0" bIns="0" rtlCol="0" anchor="ctr"/>
          <a:lstStyle/>
          <a:p>
            <a:pPr indent="0" marL="0">
              <a:buNone/>
            </a:pPr>
            <a:r>
              <a:rPr lang="en-US" sz="850" dirty="0">
                <a:solidFill>
                  <a:srgbClr val="5A6672"/>
                </a:solidFill>
                <a:latin typeface="Calibri" pitchFamily="34" charset="0"/>
                <a:ea typeface="Calibri" pitchFamily="34" charset="-122"/>
                <a:cs typeface="Calibri" pitchFamily="34" charset="-120"/>
              </a:rPr>
              <a:t>uuid  ·  gen_random_uuid()</a:t>
            </a:r>
            <a:endParaRPr lang="en-US" sz="850" dirty="0"/>
          </a:p>
        </p:txBody>
      </p:sp>
      <p:sp>
        <p:nvSpPr>
          <p:cNvPr id="38" name="Text 35"/>
          <p:cNvSpPr txBox="1"/>
          <p:nvPr/>
        </p:nvSpPr>
        <p:spPr>
          <a:xfrm>
            <a:off x="6656832" y="3593592"/>
            <a:ext cx="384048" cy="256032"/>
          </a:xfrm>
          <a:prstGeom prst="rect">
            <a:avLst/>
          </a:prstGeom>
          <a:noFill/>
          <a:ln/>
        </p:spPr>
        <p:txBody>
          <a:bodyPr wrap="square" lIns="0" tIns="0" rIns="0" bIns="0" rtlCol="0" anchor="ctr"/>
          <a:lstStyle/>
          <a:p>
            <a:pPr indent="0" marL="0">
              <a:buNone/>
            </a:pPr>
            <a:r>
              <a:rPr lang="en-US" sz="850" b="1" dirty="0">
                <a:solidFill>
                  <a:srgbClr val="1464A8"/>
                </a:solidFill>
                <a:latin typeface="Calibri" pitchFamily="34" charset="0"/>
                <a:ea typeface="Calibri" pitchFamily="34" charset="-122"/>
                <a:cs typeface="Calibri" pitchFamily="34" charset="-120"/>
              </a:rPr>
              <a:t>FK</a:t>
            </a:r>
            <a:endParaRPr lang="en-US" sz="850" dirty="0"/>
          </a:p>
        </p:txBody>
      </p:sp>
      <p:sp>
        <p:nvSpPr>
          <p:cNvPr id="39" name="Text 36"/>
          <p:cNvSpPr txBox="1"/>
          <p:nvPr/>
        </p:nvSpPr>
        <p:spPr>
          <a:xfrm>
            <a:off x="7059168" y="3593592"/>
            <a:ext cx="3108960" cy="256032"/>
          </a:xfrm>
          <a:prstGeom prst="rect">
            <a:avLst/>
          </a:prstGeom>
          <a:noFill/>
          <a:ln/>
        </p:spPr>
        <p:txBody>
          <a:bodyPr wrap="square" lIns="0" tIns="0" rIns="0" bIns="0" rtlCol="0" anchor="ctr"/>
          <a:lstStyle/>
          <a:p>
            <a:pPr indent="0" marL="0">
              <a:buNone/>
            </a:pPr>
            <a:r>
              <a:rPr lang="en-US" sz="850" b="1" dirty="0">
                <a:solidFill>
                  <a:srgbClr val="0B2545"/>
                </a:solidFill>
                <a:latin typeface="Courier New" pitchFamily="34" charset="0"/>
                <a:ea typeface="Courier New" pitchFamily="34" charset="-122"/>
                <a:cs typeface="Courier New" pitchFamily="34" charset="-120"/>
              </a:rPr>
              <a:t>user_id</a:t>
            </a:r>
            <a:endParaRPr lang="en-US" sz="850" dirty="0"/>
          </a:p>
        </p:txBody>
      </p:sp>
      <p:sp>
        <p:nvSpPr>
          <p:cNvPr id="40" name="Text 37"/>
          <p:cNvSpPr txBox="1"/>
          <p:nvPr/>
        </p:nvSpPr>
        <p:spPr>
          <a:xfrm>
            <a:off x="10195560" y="3593592"/>
            <a:ext cx="1234440" cy="256032"/>
          </a:xfrm>
          <a:prstGeom prst="rect">
            <a:avLst/>
          </a:prstGeom>
          <a:noFill/>
          <a:ln/>
        </p:spPr>
        <p:txBody>
          <a:bodyPr wrap="square" lIns="0" tIns="0" rIns="0" bIns="0" rtlCol="0" anchor="ctr"/>
          <a:lstStyle/>
          <a:p>
            <a:pPr indent="0" marL="0">
              <a:buNone/>
            </a:pPr>
            <a:r>
              <a:rPr lang="en-US" sz="850" dirty="0">
                <a:solidFill>
                  <a:srgbClr val="5A6672"/>
                </a:solidFill>
                <a:latin typeface="Calibri" pitchFamily="34" charset="0"/>
                <a:ea typeface="Calibri" pitchFamily="34" charset="-122"/>
                <a:cs typeface="Calibri" pitchFamily="34" charset="-120"/>
              </a:rPr>
              <a:t>text  ← Clerk user ID</a:t>
            </a:r>
            <a:endParaRPr lang="en-US" sz="850" dirty="0"/>
          </a:p>
        </p:txBody>
      </p:sp>
      <p:sp>
        <p:nvSpPr>
          <p:cNvPr id="41" name="Text 38"/>
          <p:cNvSpPr txBox="1"/>
          <p:nvPr/>
        </p:nvSpPr>
        <p:spPr>
          <a:xfrm>
            <a:off x="6656832" y="3877056"/>
            <a:ext cx="384048" cy="256032"/>
          </a:xfrm>
          <a:prstGeom prst="rect">
            <a:avLst/>
          </a:prstGeom>
          <a:noFill/>
          <a:ln/>
        </p:spPr>
        <p:txBody>
          <a:bodyPr wrap="square" lIns="0" tIns="0" rIns="0" bIns="0" rtlCol="0" anchor="ctr"/>
          <a:lstStyle/>
          <a:p>
            <a:pPr indent="0" marL="0">
              <a:buNone/>
            </a:pPr>
            <a:endParaRPr lang="en-US" sz="850" dirty="0"/>
          </a:p>
        </p:txBody>
      </p:sp>
      <p:sp>
        <p:nvSpPr>
          <p:cNvPr id="42" name="Text 39"/>
          <p:cNvSpPr txBox="1"/>
          <p:nvPr/>
        </p:nvSpPr>
        <p:spPr>
          <a:xfrm>
            <a:off x="7059168" y="3877056"/>
            <a:ext cx="3108960" cy="256032"/>
          </a:xfrm>
          <a:prstGeom prst="rect">
            <a:avLst/>
          </a:prstGeom>
          <a:noFill/>
          <a:ln/>
        </p:spPr>
        <p:txBody>
          <a:bodyPr wrap="square" lIns="0" tIns="0" rIns="0" bIns="0" rtlCol="0" anchor="ctr"/>
          <a:lstStyle/>
          <a:p>
            <a:pPr indent="0" marL="0">
              <a:buNone/>
            </a:pPr>
            <a:r>
              <a:rPr lang="en-US" sz="850" dirty="0">
                <a:solidFill>
                  <a:srgbClr val="0B2545"/>
                </a:solidFill>
                <a:latin typeface="Courier New" pitchFamily="34" charset="0"/>
                <a:ea typeface="Courier New" pitchFamily="34" charset="-122"/>
                <a:cs typeface="Courier New" pitchFamily="34" charset="-120"/>
              </a:rPr>
              <a:t>created_at</a:t>
            </a:r>
            <a:endParaRPr lang="en-US" sz="850" dirty="0"/>
          </a:p>
        </p:txBody>
      </p:sp>
      <p:sp>
        <p:nvSpPr>
          <p:cNvPr id="43" name="Text 40"/>
          <p:cNvSpPr txBox="1"/>
          <p:nvPr/>
        </p:nvSpPr>
        <p:spPr>
          <a:xfrm>
            <a:off x="10195560" y="3877056"/>
            <a:ext cx="1234440" cy="256032"/>
          </a:xfrm>
          <a:prstGeom prst="rect">
            <a:avLst/>
          </a:prstGeom>
          <a:noFill/>
          <a:ln/>
        </p:spPr>
        <p:txBody>
          <a:bodyPr wrap="square" lIns="0" tIns="0" rIns="0" bIns="0" rtlCol="0" anchor="ctr"/>
          <a:lstStyle/>
          <a:p>
            <a:pPr indent="0" marL="0">
              <a:buNone/>
            </a:pPr>
            <a:r>
              <a:rPr lang="en-US" sz="850" dirty="0">
                <a:solidFill>
                  <a:srgbClr val="5A6672"/>
                </a:solidFill>
                <a:latin typeface="Calibri" pitchFamily="34" charset="0"/>
                <a:ea typeface="Calibri" pitchFamily="34" charset="-122"/>
                <a:cs typeface="Calibri" pitchFamily="34" charset="-120"/>
              </a:rPr>
              <a:t>timestamptz</a:t>
            </a:r>
            <a:endParaRPr lang="en-US" sz="850" dirty="0"/>
          </a:p>
        </p:txBody>
      </p:sp>
      <p:sp>
        <p:nvSpPr>
          <p:cNvPr id="44" name="Text 41"/>
          <p:cNvSpPr txBox="1"/>
          <p:nvPr/>
        </p:nvSpPr>
        <p:spPr>
          <a:xfrm>
            <a:off x="6656832" y="4160520"/>
            <a:ext cx="384048" cy="256032"/>
          </a:xfrm>
          <a:prstGeom prst="rect">
            <a:avLst/>
          </a:prstGeom>
          <a:noFill/>
          <a:ln/>
        </p:spPr>
        <p:txBody>
          <a:bodyPr wrap="square" lIns="0" tIns="0" rIns="0" bIns="0" rtlCol="0" anchor="ctr"/>
          <a:lstStyle/>
          <a:p>
            <a:pPr indent="0" marL="0">
              <a:buNone/>
            </a:pPr>
            <a:endParaRPr lang="en-US" sz="850" dirty="0"/>
          </a:p>
        </p:txBody>
      </p:sp>
      <p:sp>
        <p:nvSpPr>
          <p:cNvPr id="45" name="Text 42"/>
          <p:cNvSpPr txBox="1"/>
          <p:nvPr/>
        </p:nvSpPr>
        <p:spPr>
          <a:xfrm>
            <a:off x="7059168" y="4160520"/>
            <a:ext cx="3108960" cy="256032"/>
          </a:xfrm>
          <a:prstGeom prst="rect">
            <a:avLst/>
          </a:prstGeom>
          <a:noFill/>
          <a:ln/>
        </p:spPr>
        <p:txBody>
          <a:bodyPr wrap="square" lIns="0" tIns="0" rIns="0" bIns="0" rtlCol="0" anchor="ctr"/>
          <a:lstStyle/>
          <a:p>
            <a:pPr indent="0" marL="0">
              <a:buNone/>
            </a:pPr>
            <a:r>
              <a:rPr lang="en-US" sz="850" dirty="0">
                <a:solidFill>
                  <a:srgbClr val="0B2545"/>
                </a:solidFill>
                <a:latin typeface="Courier New" pitchFamily="34" charset="0"/>
                <a:ea typeface="Courier New" pitchFamily="34" charset="-122"/>
                <a:cs typeface="Courier New" pitchFamily="34" charset="-120"/>
              </a:rPr>
              <a:t>case_label · workflow</a:t>
            </a:r>
            <a:endParaRPr lang="en-US" sz="850" dirty="0"/>
          </a:p>
        </p:txBody>
      </p:sp>
      <p:sp>
        <p:nvSpPr>
          <p:cNvPr id="46" name="Text 43"/>
          <p:cNvSpPr txBox="1"/>
          <p:nvPr/>
        </p:nvSpPr>
        <p:spPr>
          <a:xfrm>
            <a:off x="10195560" y="4160520"/>
            <a:ext cx="1234440" cy="256032"/>
          </a:xfrm>
          <a:prstGeom prst="rect">
            <a:avLst/>
          </a:prstGeom>
          <a:noFill/>
          <a:ln/>
        </p:spPr>
        <p:txBody>
          <a:bodyPr wrap="square" lIns="0" tIns="0" rIns="0" bIns="0" rtlCol="0" anchor="ctr"/>
          <a:lstStyle/>
          <a:p>
            <a:pPr indent="0" marL="0">
              <a:buNone/>
            </a:pPr>
            <a:r>
              <a:rPr lang="en-US" sz="850" dirty="0">
                <a:solidFill>
                  <a:srgbClr val="5A6672"/>
                </a:solidFill>
                <a:latin typeface="Calibri" pitchFamily="34" charset="0"/>
                <a:ea typeface="Calibri" pitchFamily="34" charset="-122"/>
                <a:cs typeface="Calibri" pitchFamily="34" charset="-120"/>
              </a:rPr>
              <a:t>text  ·  PRE | POST | PRE_POST</a:t>
            </a:r>
            <a:endParaRPr lang="en-US" sz="850" dirty="0"/>
          </a:p>
        </p:txBody>
      </p:sp>
      <p:sp>
        <p:nvSpPr>
          <p:cNvPr id="47" name="Text 44"/>
          <p:cNvSpPr txBox="1"/>
          <p:nvPr/>
        </p:nvSpPr>
        <p:spPr>
          <a:xfrm>
            <a:off x="6656832" y="4443984"/>
            <a:ext cx="384048" cy="256032"/>
          </a:xfrm>
          <a:prstGeom prst="rect">
            <a:avLst/>
          </a:prstGeom>
          <a:noFill/>
          <a:ln/>
        </p:spPr>
        <p:txBody>
          <a:bodyPr wrap="square" lIns="0" tIns="0" rIns="0" bIns="0" rtlCol="0" anchor="ctr"/>
          <a:lstStyle/>
          <a:p>
            <a:pPr indent="0" marL="0">
              <a:buNone/>
            </a:pPr>
            <a:endParaRPr lang="en-US" sz="850" dirty="0"/>
          </a:p>
        </p:txBody>
      </p:sp>
      <p:sp>
        <p:nvSpPr>
          <p:cNvPr id="48" name="Text 45"/>
          <p:cNvSpPr txBox="1"/>
          <p:nvPr/>
        </p:nvSpPr>
        <p:spPr>
          <a:xfrm>
            <a:off x="7059168" y="4443984"/>
            <a:ext cx="3108960" cy="256032"/>
          </a:xfrm>
          <a:prstGeom prst="rect">
            <a:avLst/>
          </a:prstGeom>
          <a:noFill/>
          <a:ln/>
        </p:spPr>
        <p:txBody>
          <a:bodyPr wrap="square" lIns="0" tIns="0" rIns="0" bIns="0" rtlCol="0" anchor="ctr"/>
          <a:lstStyle/>
          <a:p>
            <a:pPr indent="0" marL="0">
              <a:buNone/>
            </a:pPr>
            <a:r>
              <a:rPr lang="en-US" sz="850" dirty="0">
                <a:solidFill>
                  <a:srgbClr val="0B2545"/>
                </a:solidFill>
                <a:latin typeface="Courier New" pitchFamily="34" charset="0"/>
                <a:ea typeface="Courier New" pitchFamily="34" charset="-122"/>
                <a:cs typeface="Courier New" pitchFamily="34" charset="-120"/>
              </a:rPr>
              <a:t>weight_kg · age_years · is_male · scr_umol_l</a:t>
            </a:r>
            <a:endParaRPr lang="en-US" sz="850" dirty="0"/>
          </a:p>
        </p:txBody>
      </p:sp>
      <p:sp>
        <p:nvSpPr>
          <p:cNvPr id="49" name="Text 46"/>
          <p:cNvSpPr txBox="1"/>
          <p:nvPr/>
        </p:nvSpPr>
        <p:spPr>
          <a:xfrm>
            <a:off x="10195560" y="4443984"/>
            <a:ext cx="1234440" cy="256032"/>
          </a:xfrm>
          <a:prstGeom prst="rect">
            <a:avLst/>
          </a:prstGeom>
          <a:noFill/>
          <a:ln/>
        </p:spPr>
        <p:txBody>
          <a:bodyPr wrap="square" lIns="0" tIns="0" rIns="0" bIns="0" rtlCol="0" anchor="ctr"/>
          <a:lstStyle/>
          <a:p>
            <a:pPr indent="0" marL="0">
              <a:buNone/>
            </a:pPr>
            <a:r>
              <a:rPr lang="en-US" sz="850" dirty="0">
                <a:solidFill>
                  <a:srgbClr val="5A6672"/>
                </a:solidFill>
                <a:latin typeface="Calibri" pitchFamily="34" charset="0"/>
                <a:ea typeface="Calibri" pitchFamily="34" charset="-122"/>
                <a:cs typeface="Calibri" pitchFamily="34" charset="-120"/>
              </a:rPr>
              <a:t>patient</a:t>
            </a:r>
            <a:endParaRPr lang="en-US" sz="850" dirty="0"/>
          </a:p>
        </p:txBody>
      </p:sp>
      <p:sp>
        <p:nvSpPr>
          <p:cNvPr id="50" name="Text 47"/>
          <p:cNvSpPr txBox="1"/>
          <p:nvPr/>
        </p:nvSpPr>
        <p:spPr>
          <a:xfrm>
            <a:off x="6656832" y="4727448"/>
            <a:ext cx="384048" cy="256032"/>
          </a:xfrm>
          <a:prstGeom prst="rect">
            <a:avLst/>
          </a:prstGeom>
          <a:noFill/>
          <a:ln/>
        </p:spPr>
        <p:txBody>
          <a:bodyPr wrap="square" lIns="0" tIns="0" rIns="0" bIns="0" rtlCol="0" anchor="ctr"/>
          <a:lstStyle/>
          <a:p>
            <a:pPr indent="0" marL="0">
              <a:buNone/>
            </a:pPr>
            <a:endParaRPr lang="en-US" sz="850" dirty="0"/>
          </a:p>
        </p:txBody>
      </p:sp>
      <p:sp>
        <p:nvSpPr>
          <p:cNvPr id="51" name="Text 48"/>
          <p:cNvSpPr txBox="1"/>
          <p:nvPr/>
        </p:nvSpPr>
        <p:spPr>
          <a:xfrm>
            <a:off x="7059168" y="4727448"/>
            <a:ext cx="3108960" cy="256032"/>
          </a:xfrm>
          <a:prstGeom prst="rect">
            <a:avLst/>
          </a:prstGeom>
          <a:noFill/>
          <a:ln/>
        </p:spPr>
        <p:txBody>
          <a:bodyPr wrap="square" lIns="0" tIns="0" rIns="0" bIns="0" rtlCol="0" anchor="ctr"/>
          <a:lstStyle/>
          <a:p>
            <a:pPr indent="0" marL="0">
              <a:buNone/>
            </a:pPr>
            <a:r>
              <a:rPr lang="en-US" sz="850" dirty="0">
                <a:solidFill>
                  <a:srgbClr val="0B2545"/>
                </a:solidFill>
                <a:latin typeface="Courier New" pitchFamily="34" charset="0"/>
                <a:ea typeface="Courier New" pitchFamily="34" charset="-122"/>
                <a:cs typeface="Courier New" pitchFamily="34" charset="-120"/>
              </a:rPr>
              <a:t>dose_mg · interval_hours · infusion_duration_hours</a:t>
            </a:r>
            <a:endParaRPr lang="en-US" sz="850" dirty="0"/>
          </a:p>
        </p:txBody>
      </p:sp>
      <p:sp>
        <p:nvSpPr>
          <p:cNvPr id="52" name="Text 49"/>
          <p:cNvSpPr txBox="1"/>
          <p:nvPr/>
        </p:nvSpPr>
        <p:spPr>
          <a:xfrm>
            <a:off x="10195560" y="4727448"/>
            <a:ext cx="1234440" cy="256032"/>
          </a:xfrm>
          <a:prstGeom prst="rect">
            <a:avLst/>
          </a:prstGeom>
          <a:noFill/>
          <a:ln/>
        </p:spPr>
        <p:txBody>
          <a:bodyPr wrap="square" lIns="0" tIns="0" rIns="0" bIns="0" rtlCol="0" anchor="ctr"/>
          <a:lstStyle/>
          <a:p>
            <a:pPr indent="0" marL="0">
              <a:buNone/>
            </a:pPr>
            <a:r>
              <a:rPr lang="en-US" sz="850" dirty="0">
                <a:solidFill>
                  <a:srgbClr val="5A6672"/>
                </a:solidFill>
                <a:latin typeface="Calibri" pitchFamily="34" charset="0"/>
                <a:ea typeface="Calibri" pitchFamily="34" charset="-122"/>
                <a:cs typeface="Calibri" pitchFamily="34" charset="-120"/>
              </a:rPr>
              <a:t>regimen</a:t>
            </a:r>
            <a:endParaRPr lang="en-US" sz="850" dirty="0"/>
          </a:p>
        </p:txBody>
      </p:sp>
      <p:sp>
        <p:nvSpPr>
          <p:cNvPr id="53" name="Text 50"/>
          <p:cNvSpPr txBox="1"/>
          <p:nvPr/>
        </p:nvSpPr>
        <p:spPr>
          <a:xfrm>
            <a:off x="6656832" y="5010912"/>
            <a:ext cx="384048" cy="256032"/>
          </a:xfrm>
          <a:prstGeom prst="rect">
            <a:avLst/>
          </a:prstGeom>
          <a:noFill/>
          <a:ln/>
        </p:spPr>
        <p:txBody>
          <a:bodyPr wrap="square" lIns="0" tIns="0" rIns="0" bIns="0" rtlCol="0" anchor="ctr"/>
          <a:lstStyle/>
          <a:p>
            <a:pPr indent="0" marL="0">
              <a:buNone/>
            </a:pPr>
            <a:endParaRPr lang="en-US" sz="850" dirty="0"/>
          </a:p>
        </p:txBody>
      </p:sp>
      <p:sp>
        <p:nvSpPr>
          <p:cNvPr id="54" name="Text 51"/>
          <p:cNvSpPr txBox="1"/>
          <p:nvPr/>
        </p:nvSpPr>
        <p:spPr>
          <a:xfrm>
            <a:off x="7059168" y="5010912"/>
            <a:ext cx="3108960" cy="256032"/>
          </a:xfrm>
          <a:prstGeom prst="rect">
            <a:avLst/>
          </a:prstGeom>
          <a:noFill/>
          <a:ln/>
        </p:spPr>
        <p:txBody>
          <a:bodyPr wrap="square" lIns="0" tIns="0" rIns="0" bIns="0" rtlCol="0" anchor="ctr"/>
          <a:lstStyle/>
          <a:p>
            <a:pPr indent="0" marL="0">
              <a:buNone/>
            </a:pPr>
            <a:r>
              <a:rPr lang="en-US" sz="850" dirty="0">
                <a:solidFill>
                  <a:srgbClr val="0B2545"/>
                </a:solidFill>
                <a:latin typeface="Courier New" pitchFamily="34" charset="0"/>
                <a:ea typeface="Courier New" pitchFamily="34" charset="-122"/>
                <a:cs typeface="Courier New" pitchFamily="34" charset="-120"/>
              </a:rPr>
              <a:t>pre_/post_conc_mg_l · pre_/post_time_h</a:t>
            </a:r>
            <a:endParaRPr lang="en-US" sz="850" dirty="0"/>
          </a:p>
        </p:txBody>
      </p:sp>
      <p:sp>
        <p:nvSpPr>
          <p:cNvPr id="55" name="Text 52"/>
          <p:cNvSpPr txBox="1"/>
          <p:nvPr/>
        </p:nvSpPr>
        <p:spPr>
          <a:xfrm>
            <a:off x="10195560" y="5010912"/>
            <a:ext cx="1234440" cy="256032"/>
          </a:xfrm>
          <a:prstGeom prst="rect">
            <a:avLst/>
          </a:prstGeom>
          <a:noFill/>
          <a:ln/>
        </p:spPr>
        <p:txBody>
          <a:bodyPr wrap="square" lIns="0" tIns="0" rIns="0" bIns="0" rtlCol="0" anchor="ctr"/>
          <a:lstStyle/>
          <a:p>
            <a:pPr indent="0" marL="0">
              <a:buNone/>
            </a:pPr>
            <a:r>
              <a:rPr lang="en-US" sz="850" dirty="0">
                <a:solidFill>
                  <a:srgbClr val="5A6672"/>
                </a:solidFill>
                <a:latin typeface="Calibri" pitchFamily="34" charset="0"/>
                <a:ea typeface="Calibri" pitchFamily="34" charset="-122"/>
                <a:cs typeface="Calibri" pitchFamily="34" charset="-120"/>
              </a:rPr>
              <a:t>samples</a:t>
            </a:r>
            <a:endParaRPr lang="en-US" sz="850" dirty="0"/>
          </a:p>
        </p:txBody>
      </p:sp>
      <p:sp>
        <p:nvSpPr>
          <p:cNvPr id="56" name="Text 53"/>
          <p:cNvSpPr txBox="1"/>
          <p:nvPr/>
        </p:nvSpPr>
        <p:spPr>
          <a:xfrm>
            <a:off x="6656832" y="5294376"/>
            <a:ext cx="384048" cy="256032"/>
          </a:xfrm>
          <a:prstGeom prst="rect">
            <a:avLst/>
          </a:prstGeom>
          <a:noFill/>
          <a:ln/>
        </p:spPr>
        <p:txBody>
          <a:bodyPr wrap="square" lIns="0" tIns="0" rIns="0" bIns="0" rtlCol="0" anchor="ctr"/>
          <a:lstStyle/>
          <a:p>
            <a:pPr indent="0" marL="0">
              <a:buNone/>
            </a:pPr>
            <a:endParaRPr lang="en-US" sz="850" dirty="0"/>
          </a:p>
        </p:txBody>
      </p:sp>
      <p:sp>
        <p:nvSpPr>
          <p:cNvPr id="57" name="Text 54"/>
          <p:cNvSpPr txBox="1"/>
          <p:nvPr/>
        </p:nvSpPr>
        <p:spPr>
          <a:xfrm>
            <a:off x="7059168" y="5294376"/>
            <a:ext cx="3108960" cy="256032"/>
          </a:xfrm>
          <a:prstGeom prst="rect">
            <a:avLst/>
          </a:prstGeom>
          <a:noFill/>
          <a:ln/>
        </p:spPr>
        <p:txBody>
          <a:bodyPr wrap="square" lIns="0" tIns="0" rIns="0" bIns="0" rtlCol="0" anchor="ctr"/>
          <a:lstStyle/>
          <a:p>
            <a:pPr indent="0" marL="0">
              <a:buNone/>
            </a:pPr>
            <a:r>
              <a:rPr lang="en-US" sz="850" dirty="0">
                <a:solidFill>
                  <a:srgbClr val="0B2545"/>
                </a:solidFill>
                <a:latin typeface="Courier New" pitchFamily="34" charset="0"/>
                <a:ea typeface="Courier New" pitchFamily="34" charset="-122"/>
                <a:cs typeface="Courier New" pitchFamily="34" charset="-120"/>
              </a:rPr>
              <a:t>ke_per_hour · half_life_hours · vd_l · clearance_l_per_hour</a:t>
            </a:r>
            <a:endParaRPr lang="en-US" sz="850" dirty="0"/>
          </a:p>
        </p:txBody>
      </p:sp>
      <p:sp>
        <p:nvSpPr>
          <p:cNvPr id="58" name="Text 55"/>
          <p:cNvSpPr txBox="1"/>
          <p:nvPr/>
        </p:nvSpPr>
        <p:spPr>
          <a:xfrm>
            <a:off x="10195560" y="5294376"/>
            <a:ext cx="1234440" cy="256032"/>
          </a:xfrm>
          <a:prstGeom prst="rect">
            <a:avLst/>
          </a:prstGeom>
          <a:noFill/>
          <a:ln/>
        </p:spPr>
        <p:txBody>
          <a:bodyPr wrap="square" lIns="0" tIns="0" rIns="0" bIns="0" rtlCol="0" anchor="ctr"/>
          <a:lstStyle/>
          <a:p>
            <a:pPr indent="0" marL="0">
              <a:buNone/>
            </a:pPr>
            <a:r>
              <a:rPr lang="en-US" sz="850" dirty="0">
                <a:solidFill>
                  <a:srgbClr val="5A6672"/>
                </a:solidFill>
                <a:latin typeface="Calibri" pitchFamily="34" charset="0"/>
                <a:ea typeface="Calibri" pitchFamily="34" charset="-122"/>
                <a:cs typeface="Calibri" pitchFamily="34" charset="-120"/>
              </a:rPr>
              <a:t>PK results</a:t>
            </a:r>
            <a:endParaRPr lang="en-US" sz="850" dirty="0"/>
          </a:p>
        </p:txBody>
      </p:sp>
      <p:sp>
        <p:nvSpPr>
          <p:cNvPr id="59" name="Text 56"/>
          <p:cNvSpPr txBox="1"/>
          <p:nvPr/>
        </p:nvSpPr>
        <p:spPr>
          <a:xfrm>
            <a:off x="6656832" y="5577840"/>
            <a:ext cx="384048" cy="256032"/>
          </a:xfrm>
          <a:prstGeom prst="rect">
            <a:avLst/>
          </a:prstGeom>
          <a:noFill/>
          <a:ln/>
        </p:spPr>
        <p:txBody>
          <a:bodyPr wrap="square" lIns="0" tIns="0" rIns="0" bIns="0" rtlCol="0" anchor="ctr"/>
          <a:lstStyle/>
          <a:p>
            <a:pPr indent="0" marL="0">
              <a:buNone/>
            </a:pPr>
            <a:endParaRPr lang="en-US" sz="850" dirty="0"/>
          </a:p>
        </p:txBody>
      </p:sp>
      <p:sp>
        <p:nvSpPr>
          <p:cNvPr id="60" name="Text 57"/>
          <p:cNvSpPr txBox="1"/>
          <p:nvPr/>
        </p:nvSpPr>
        <p:spPr>
          <a:xfrm>
            <a:off x="7059168" y="5577840"/>
            <a:ext cx="3108960" cy="256032"/>
          </a:xfrm>
          <a:prstGeom prst="rect">
            <a:avLst/>
          </a:prstGeom>
          <a:noFill/>
          <a:ln/>
        </p:spPr>
        <p:txBody>
          <a:bodyPr wrap="square" lIns="0" tIns="0" rIns="0" bIns="0" rtlCol="0" anchor="ctr"/>
          <a:lstStyle/>
          <a:p>
            <a:pPr indent="0" marL="0">
              <a:buNone/>
            </a:pPr>
            <a:r>
              <a:rPr lang="en-US" sz="850" dirty="0">
                <a:solidFill>
                  <a:srgbClr val="0B2545"/>
                </a:solidFill>
                <a:latin typeface="Courier New" pitchFamily="34" charset="0"/>
                <a:ea typeface="Courier New" pitchFamily="34" charset="-122"/>
                <a:cs typeface="Courier New" pitchFamily="34" charset="-120"/>
              </a:rPr>
              <a:t>auc24 · recommended_dose_mg · c_min · c_max</a:t>
            </a:r>
            <a:endParaRPr lang="en-US" sz="850" dirty="0"/>
          </a:p>
        </p:txBody>
      </p:sp>
      <p:sp>
        <p:nvSpPr>
          <p:cNvPr id="61" name="Text 58"/>
          <p:cNvSpPr txBox="1"/>
          <p:nvPr/>
        </p:nvSpPr>
        <p:spPr>
          <a:xfrm>
            <a:off x="10195560" y="5577840"/>
            <a:ext cx="1234440" cy="256032"/>
          </a:xfrm>
          <a:prstGeom prst="rect">
            <a:avLst/>
          </a:prstGeom>
          <a:noFill/>
          <a:ln/>
        </p:spPr>
        <p:txBody>
          <a:bodyPr wrap="square" lIns="0" tIns="0" rIns="0" bIns="0" rtlCol="0" anchor="ctr"/>
          <a:lstStyle/>
          <a:p>
            <a:pPr indent="0" marL="0">
              <a:buNone/>
            </a:pPr>
            <a:r>
              <a:rPr lang="en-US" sz="850" dirty="0">
                <a:solidFill>
                  <a:srgbClr val="5A6672"/>
                </a:solidFill>
                <a:latin typeface="Calibri" pitchFamily="34" charset="0"/>
                <a:ea typeface="Calibri" pitchFamily="34" charset="-122"/>
                <a:cs typeface="Calibri" pitchFamily="34" charset="-120"/>
              </a:rPr>
              <a:t>outputs</a:t>
            </a:r>
            <a:endParaRPr lang="en-US" sz="850" dirty="0"/>
          </a:p>
        </p:txBody>
      </p:sp>
      <p:sp>
        <p:nvSpPr>
          <p:cNvPr id="62" name="Shape 59"/>
          <p:cNvSpPr/>
          <p:nvPr/>
        </p:nvSpPr>
        <p:spPr>
          <a:xfrm>
            <a:off x="4892040" y="3840480"/>
            <a:ext cx="1600200" cy="0"/>
          </a:xfrm>
          <a:prstGeom prst="line">
            <a:avLst/>
          </a:prstGeom>
          <a:noFill/>
          <a:ln w="25400">
            <a:solidFill>
              <a:srgbClr val="0B2545"/>
            </a:solidFill>
            <a:prstDash val="solid"/>
          </a:ln>
        </p:spPr>
      </p:sp>
      <p:sp>
        <p:nvSpPr>
          <p:cNvPr id="63" name="Text 60"/>
          <p:cNvSpPr txBox="1"/>
          <p:nvPr/>
        </p:nvSpPr>
        <p:spPr>
          <a:xfrm>
            <a:off x="4937760" y="3566160"/>
            <a:ext cx="274320" cy="237744"/>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64" name="Text 61"/>
          <p:cNvSpPr txBox="1"/>
          <p:nvPr/>
        </p:nvSpPr>
        <p:spPr>
          <a:xfrm>
            <a:off x="6172200" y="3547872"/>
            <a:ext cx="274320" cy="23774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a:t>
            </a:r>
            <a:endParaRPr lang="en-US" sz="1300" dirty="0"/>
          </a:p>
        </p:txBody>
      </p:sp>
      <p:sp>
        <p:nvSpPr>
          <p:cNvPr id="65" name="Text 62"/>
          <p:cNvSpPr txBox="1"/>
          <p:nvPr/>
        </p:nvSpPr>
        <p:spPr>
          <a:xfrm>
            <a:off x="4800600" y="3877056"/>
            <a:ext cx="1783080" cy="237744"/>
          </a:xfrm>
          <a:prstGeom prst="rect">
            <a:avLst/>
          </a:prstGeom>
          <a:noFill/>
          <a:ln/>
        </p:spPr>
        <p:txBody>
          <a:bodyPr wrap="square" lIns="0" tIns="0" rIns="0" bIns="0" rtlCol="0" anchor="ctr"/>
          <a:lstStyle/>
          <a:p>
            <a:pPr algn="ctr" indent="0" marL="0">
              <a:buNone/>
            </a:pPr>
            <a:r>
              <a:rPr lang="en-US" sz="950" i="1" dirty="0">
                <a:solidFill>
                  <a:srgbClr val="5A6672"/>
                </a:solidFill>
                <a:latin typeface="Calibri" pitchFamily="34" charset="0"/>
                <a:ea typeface="Calibri" pitchFamily="34" charset="-122"/>
                <a:cs typeface="Calibri" pitchFamily="34" charset="-120"/>
              </a:rPr>
              <a:t>has many</a:t>
            </a:r>
            <a:endParaRPr lang="en-US" sz="950" dirty="0"/>
          </a:p>
        </p:txBody>
      </p:sp>
      <p:sp>
        <p:nvSpPr>
          <p:cNvPr id="66" name="Shape 63"/>
          <p:cNvSpPr/>
          <p:nvPr/>
        </p:nvSpPr>
        <p:spPr>
          <a:xfrm flipH="1">
            <a:off x="2926080" y="2350008"/>
            <a:ext cx="1920240" cy="438912"/>
          </a:xfrm>
          <a:prstGeom prst="line">
            <a:avLst/>
          </a:prstGeom>
          <a:noFill/>
          <a:ln w="22225">
            <a:solidFill>
              <a:srgbClr val="9FB4C8"/>
            </a:solidFill>
            <a:prstDash val="dash"/>
            <a:tailEnd type="triangle"/>
          </a:ln>
        </p:spPr>
      </p:sp>
      <p:sp>
        <p:nvSpPr>
          <p:cNvPr id="67" name="Shape 64"/>
          <p:cNvSpPr/>
          <p:nvPr/>
        </p:nvSpPr>
        <p:spPr>
          <a:xfrm>
            <a:off x="7223760" y="2350008"/>
            <a:ext cx="548640" cy="438912"/>
          </a:xfrm>
          <a:prstGeom prst="line">
            <a:avLst/>
          </a:prstGeom>
          <a:noFill/>
          <a:ln w="22225">
            <a:solidFill>
              <a:srgbClr val="9FB4C8"/>
            </a:solidFill>
            <a:prstDash val="dash"/>
            <a:tailEnd type="triangle"/>
          </a:ln>
        </p:spPr>
      </p:sp>
      <p:sp>
        <p:nvSpPr>
          <p:cNvPr id="68" name="Text 65"/>
          <p:cNvSpPr txBox="1"/>
          <p:nvPr/>
        </p:nvSpPr>
        <p:spPr>
          <a:xfrm>
            <a:off x="640080" y="6053328"/>
            <a:ext cx="10911535" cy="274320"/>
          </a:xfrm>
          <a:prstGeom prst="rect">
            <a:avLst/>
          </a:prstGeom>
          <a:noFill/>
          <a:ln/>
        </p:spPr>
        <p:txBody>
          <a:bodyPr wrap="square" lIns="0" tIns="0" rIns="0" bIns="0" rtlCol="0" anchor="ctr"/>
          <a:lstStyle/>
          <a:p>
            <a:pPr algn="ctr" indent="0" marL="0">
              <a:buNone/>
            </a:pPr>
            <a:r>
              <a:rPr lang="en-US" sz="950" i="1" dirty="0">
                <a:solidFill>
                  <a:srgbClr val="8A96A3"/>
                </a:solidFill>
                <a:latin typeface="Calibri" pitchFamily="34" charset="0"/>
                <a:ea typeface="Calibri" pitchFamily="34" charset="-122"/>
                <a:cs typeface="Calibri" pitchFamily="34" charset="-120"/>
              </a:rPr>
              <a:t>Index:  cases_user_created_idx (user_id, created_at desc)  —  serves the “20 most recent cases for this user” query.   RLS enabled on both tables.</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6FB3E8"/>
                </a:solidFill>
                <a:latin typeface="Calibri" pitchFamily="34" charset="0"/>
                <a:ea typeface="Calibri" pitchFamily="34" charset="-122"/>
                <a:cs typeface="Calibri" pitchFamily="34" charset="-120"/>
              </a:rPr>
              <a:t>09 · AUTHENTICATION</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Clerk — identity without writing an auth server</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A9C2DA"/>
                </a:solidFill>
                <a:latin typeface="Calibri" pitchFamily="34" charset="0"/>
                <a:ea typeface="Calibri" pitchFamily="34" charset="-122"/>
                <a:cs typeface="Calibri" pitchFamily="34" charset="-120"/>
              </a:rPr>
              <a:t>The app calls Clerk's Frontend API directly over Ktor HTTP. No password is ever stored or hashed by my code.</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6E8BA8"/>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6E8BA8"/>
                </a:solidFill>
                <a:latin typeface="Calibri" pitchFamily="34" charset="0"/>
                <a:ea typeface="Calibri" pitchFamily="34" charset="-122"/>
                <a:cs typeface="Calibri" pitchFamily="34" charset="-120"/>
              </a:rPr>
              <a:t>28</a:t>
            </a:r>
            <a:endParaRPr lang="en-US" sz="900" dirty="0"/>
          </a:p>
        </p:txBody>
      </p:sp>
      <p:sp>
        <p:nvSpPr>
          <p:cNvPr id="8" name="Shape 5"/>
          <p:cNvSpPr/>
          <p:nvPr/>
        </p:nvSpPr>
        <p:spPr>
          <a:xfrm>
            <a:off x="640080" y="1691640"/>
            <a:ext cx="6492240" cy="658368"/>
          </a:xfrm>
          <a:prstGeom prst="roundRect">
            <a:avLst>
              <a:gd name="adj" fmla="val 12500"/>
            </a:avLst>
          </a:prstGeom>
          <a:solidFill>
            <a:srgbClr val="13304C"/>
          </a:solidFill>
          <a:ln w="12700">
            <a:solidFill>
              <a:srgbClr val="13304C"/>
            </a:solidFill>
            <a:prstDash val="solid"/>
          </a:ln>
        </p:spPr>
      </p:sp>
      <p:sp>
        <p:nvSpPr>
          <p:cNvPr id="9" name="Shape 6"/>
          <p:cNvSpPr/>
          <p:nvPr/>
        </p:nvSpPr>
        <p:spPr>
          <a:xfrm>
            <a:off x="822960" y="1828800"/>
            <a:ext cx="384048" cy="384048"/>
          </a:xfrm>
          <a:prstGeom prst="ellipse">
            <a:avLst/>
          </a:prstGeom>
          <a:solidFill>
            <a:srgbClr val="1464A8"/>
          </a:solidFill>
          <a:ln w="12700">
            <a:solidFill>
              <a:srgbClr val="1464A8"/>
            </a:solidFill>
            <a:prstDash val="solid"/>
          </a:ln>
        </p:spPr>
      </p:sp>
      <p:sp>
        <p:nvSpPr>
          <p:cNvPr id="10" name="Text 7"/>
          <p:cNvSpPr txBox="1"/>
          <p:nvPr/>
        </p:nvSpPr>
        <p:spPr>
          <a:xfrm>
            <a:off x="822960"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1353312" y="1691640"/>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Sign up</a:t>
            </a:r>
            <a:endParaRPr lang="en-US" sz="1300" dirty="0"/>
          </a:p>
        </p:txBody>
      </p:sp>
      <p:sp>
        <p:nvSpPr>
          <p:cNvPr id="12" name="Text 9"/>
          <p:cNvSpPr txBox="1"/>
          <p:nvPr/>
        </p:nvSpPr>
        <p:spPr>
          <a:xfrm>
            <a:off x="2743200" y="1691640"/>
            <a:ext cx="4206240" cy="658368"/>
          </a:xfrm>
          <a:prstGeom prst="rect">
            <a:avLst/>
          </a:prstGeom>
          <a:noFill/>
          <a:ln/>
        </p:spPr>
        <p:txBody>
          <a:bodyPr wrap="square" lIns="0" tIns="0" rIns="0" bIns="0" rtlCol="0" anchor="ctr"/>
          <a:lstStyle/>
          <a:p>
            <a:pPr indent="0" marL="0">
              <a:buNone/>
            </a:pPr>
            <a:r>
              <a:rPr lang="en-US" sz="1150" dirty="0">
                <a:solidFill>
                  <a:srgbClr val="C3D8EA"/>
                </a:solidFill>
                <a:latin typeface="Calibri" pitchFamily="34" charset="0"/>
                <a:ea typeface="Calibri" pitchFamily="34" charset="-122"/>
                <a:cs typeface="Calibri" pitchFamily="34" charset="-120"/>
              </a:rPr>
              <a:t>Email + password, or Continue with Google</a:t>
            </a:r>
            <a:endParaRPr lang="en-US" sz="1150" dirty="0"/>
          </a:p>
        </p:txBody>
      </p:sp>
      <p:sp>
        <p:nvSpPr>
          <p:cNvPr id="13" name="Shape 10"/>
          <p:cNvSpPr/>
          <p:nvPr/>
        </p:nvSpPr>
        <p:spPr>
          <a:xfrm>
            <a:off x="640080" y="2450592"/>
            <a:ext cx="6492240" cy="658368"/>
          </a:xfrm>
          <a:prstGeom prst="roundRect">
            <a:avLst>
              <a:gd name="adj" fmla="val 12500"/>
            </a:avLst>
          </a:prstGeom>
          <a:solidFill>
            <a:srgbClr val="102A44"/>
          </a:solidFill>
          <a:ln w="12700">
            <a:solidFill>
              <a:srgbClr val="102A44"/>
            </a:solidFill>
            <a:prstDash val="solid"/>
          </a:ln>
        </p:spPr>
      </p:sp>
      <p:sp>
        <p:nvSpPr>
          <p:cNvPr id="14" name="Shape 11"/>
          <p:cNvSpPr/>
          <p:nvPr/>
        </p:nvSpPr>
        <p:spPr>
          <a:xfrm>
            <a:off x="822960" y="2587752"/>
            <a:ext cx="384048" cy="384048"/>
          </a:xfrm>
          <a:prstGeom prst="ellipse">
            <a:avLst/>
          </a:prstGeom>
          <a:solidFill>
            <a:srgbClr val="1464A8"/>
          </a:solidFill>
          <a:ln w="12700">
            <a:solidFill>
              <a:srgbClr val="1464A8"/>
            </a:solidFill>
            <a:prstDash val="solid"/>
          </a:ln>
        </p:spPr>
      </p:sp>
      <p:sp>
        <p:nvSpPr>
          <p:cNvPr id="15" name="Text 12"/>
          <p:cNvSpPr txBox="1"/>
          <p:nvPr/>
        </p:nvSpPr>
        <p:spPr>
          <a:xfrm>
            <a:off x="822960" y="2587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3"/>
          <p:cNvSpPr txBox="1"/>
          <p:nvPr/>
        </p:nvSpPr>
        <p:spPr>
          <a:xfrm>
            <a:off x="1353312" y="2450592"/>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Verify</a:t>
            </a:r>
            <a:endParaRPr lang="en-US" sz="1300" dirty="0"/>
          </a:p>
        </p:txBody>
      </p:sp>
      <p:sp>
        <p:nvSpPr>
          <p:cNvPr id="17" name="Text 14"/>
          <p:cNvSpPr txBox="1"/>
          <p:nvPr/>
        </p:nvSpPr>
        <p:spPr>
          <a:xfrm>
            <a:off x="2743200" y="2450592"/>
            <a:ext cx="4206240" cy="658368"/>
          </a:xfrm>
          <a:prstGeom prst="rect">
            <a:avLst/>
          </a:prstGeom>
          <a:noFill/>
          <a:ln/>
        </p:spPr>
        <p:txBody>
          <a:bodyPr wrap="square" lIns="0" tIns="0" rIns="0" bIns="0" rtlCol="0" anchor="ctr"/>
          <a:lstStyle/>
          <a:p>
            <a:pPr indent="0" marL="0">
              <a:buNone/>
            </a:pPr>
            <a:r>
              <a:rPr lang="en-US" sz="1150" dirty="0">
                <a:solidFill>
                  <a:srgbClr val="C3D8EA"/>
                </a:solidFill>
                <a:latin typeface="Calibri" pitchFamily="34" charset="0"/>
                <a:ea typeface="Calibri" pitchFamily="34" charset="-122"/>
                <a:cs typeface="Calibri" pitchFamily="34" charset="-120"/>
              </a:rPr>
              <a:t>Clerk emails a 6-digit code — AuthState.AwaitingEmailCode</a:t>
            </a:r>
            <a:endParaRPr lang="en-US" sz="1150" dirty="0"/>
          </a:p>
        </p:txBody>
      </p:sp>
      <p:sp>
        <p:nvSpPr>
          <p:cNvPr id="18" name="Shape 15"/>
          <p:cNvSpPr/>
          <p:nvPr/>
        </p:nvSpPr>
        <p:spPr>
          <a:xfrm>
            <a:off x="640080" y="3209544"/>
            <a:ext cx="6492240" cy="658368"/>
          </a:xfrm>
          <a:prstGeom prst="roundRect">
            <a:avLst>
              <a:gd name="adj" fmla="val 12500"/>
            </a:avLst>
          </a:prstGeom>
          <a:solidFill>
            <a:srgbClr val="13304C"/>
          </a:solidFill>
          <a:ln w="12700">
            <a:solidFill>
              <a:srgbClr val="13304C"/>
            </a:solidFill>
            <a:prstDash val="solid"/>
          </a:ln>
        </p:spPr>
      </p:sp>
      <p:sp>
        <p:nvSpPr>
          <p:cNvPr id="19" name="Shape 16"/>
          <p:cNvSpPr/>
          <p:nvPr/>
        </p:nvSpPr>
        <p:spPr>
          <a:xfrm>
            <a:off x="822960" y="3346704"/>
            <a:ext cx="384048" cy="384048"/>
          </a:xfrm>
          <a:prstGeom prst="ellipse">
            <a:avLst/>
          </a:prstGeom>
          <a:solidFill>
            <a:srgbClr val="1464A8"/>
          </a:solidFill>
          <a:ln w="12700">
            <a:solidFill>
              <a:srgbClr val="1464A8"/>
            </a:solidFill>
            <a:prstDash val="solid"/>
          </a:ln>
        </p:spPr>
      </p:sp>
      <p:sp>
        <p:nvSpPr>
          <p:cNvPr id="20" name="Text 17"/>
          <p:cNvSpPr txBox="1"/>
          <p:nvPr/>
        </p:nvSpPr>
        <p:spPr>
          <a:xfrm>
            <a:off x="822960" y="33467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8"/>
          <p:cNvSpPr txBox="1"/>
          <p:nvPr/>
        </p:nvSpPr>
        <p:spPr>
          <a:xfrm>
            <a:off x="1353312" y="3209544"/>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Session</a:t>
            </a:r>
            <a:endParaRPr lang="en-US" sz="1300" dirty="0"/>
          </a:p>
        </p:txBody>
      </p:sp>
      <p:sp>
        <p:nvSpPr>
          <p:cNvPr id="22" name="Text 19"/>
          <p:cNvSpPr txBox="1"/>
          <p:nvPr/>
        </p:nvSpPr>
        <p:spPr>
          <a:xfrm>
            <a:off x="2743200" y="3209544"/>
            <a:ext cx="4206240" cy="658368"/>
          </a:xfrm>
          <a:prstGeom prst="rect">
            <a:avLst/>
          </a:prstGeom>
          <a:noFill/>
          <a:ln/>
        </p:spPr>
        <p:txBody>
          <a:bodyPr wrap="square" lIns="0" tIns="0" rIns="0" bIns="0" rtlCol="0" anchor="ctr"/>
          <a:lstStyle/>
          <a:p>
            <a:pPr indent="0" marL="0">
              <a:buNone/>
            </a:pPr>
            <a:r>
              <a:rPr lang="en-US" sz="1150" dirty="0">
                <a:solidFill>
                  <a:srgbClr val="C3D8EA"/>
                </a:solidFill>
                <a:latin typeface="Calibri" pitchFamily="34" charset="0"/>
                <a:ea typeface="Calibri" pitchFamily="34" charset="-122"/>
                <a:cs typeface="Calibri" pitchFamily="34" charset="-120"/>
              </a:rPr>
              <a:t>Clerk returns a session token, saved in SharedPreferences</a:t>
            </a:r>
            <a:endParaRPr lang="en-US" sz="1150" dirty="0"/>
          </a:p>
        </p:txBody>
      </p:sp>
      <p:sp>
        <p:nvSpPr>
          <p:cNvPr id="23" name="Shape 20"/>
          <p:cNvSpPr/>
          <p:nvPr/>
        </p:nvSpPr>
        <p:spPr>
          <a:xfrm>
            <a:off x="640080" y="3968496"/>
            <a:ext cx="6492240" cy="658368"/>
          </a:xfrm>
          <a:prstGeom prst="roundRect">
            <a:avLst>
              <a:gd name="adj" fmla="val 12500"/>
            </a:avLst>
          </a:prstGeom>
          <a:solidFill>
            <a:srgbClr val="102A44"/>
          </a:solidFill>
          <a:ln w="12700">
            <a:solidFill>
              <a:srgbClr val="102A44"/>
            </a:solidFill>
            <a:prstDash val="solid"/>
          </a:ln>
        </p:spPr>
      </p:sp>
      <p:sp>
        <p:nvSpPr>
          <p:cNvPr id="24" name="Shape 21"/>
          <p:cNvSpPr/>
          <p:nvPr/>
        </p:nvSpPr>
        <p:spPr>
          <a:xfrm>
            <a:off x="822960" y="4105656"/>
            <a:ext cx="384048" cy="384048"/>
          </a:xfrm>
          <a:prstGeom prst="ellipse">
            <a:avLst/>
          </a:prstGeom>
          <a:solidFill>
            <a:srgbClr val="1464A8"/>
          </a:solidFill>
          <a:ln w="12700">
            <a:solidFill>
              <a:srgbClr val="1464A8"/>
            </a:solidFill>
            <a:prstDash val="solid"/>
          </a:ln>
        </p:spPr>
      </p:sp>
      <p:sp>
        <p:nvSpPr>
          <p:cNvPr id="25" name="Text 22"/>
          <p:cNvSpPr txBox="1"/>
          <p:nvPr/>
        </p:nvSpPr>
        <p:spPr>
          <a:xfrm>
            <a:off x="822960"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3"/>
          <p:cNvSpPr txBox="1"/>
          <p:nvPr/>
        </p:nvSpPr>
        <p:spPr>
          <a:xfrm>
            <a:off x="1353312" y="3968496"/>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Gate</a:t>
            </a:r>
            <a:endParaRPr lang="en-US" sz="1300" dirty="0"/>
          </a:p>
        </p:txBody>
      </p:sp>
      <p:sp>
        <p:nvSpPr>
          <p:cNvPr id="27" name="Text 24"/>
          <p:cNvSpPr txBox="1"/>
          <p:nvPr/>
        </p:nvSpPr>
        <p:spPr>
          <a:xfrm>
            <a:off x="2743200" y="3968496"/>
            <a:ext cx="4206240" cy="658368"/>
          </a:xfrm>
          <a:prstGeom prst="rect">
            <a:avLst/>
          </a:prstGeom>
          <a:noFill/>
          <a:ln/>
        </p:spPr>
        <p:txBody>
          <a:bodyPr wrap="square" lIns="0" tIns="0" rIns="0" bIns="0" rtlCol="0" anchor="ctr"/>
          <a:lstStyle/>
          <a:p>
            <a:pPr indent="0" marL="0">
              <a:buNone/>
            </a:pPr>
            <a:r>
              <a:rPr lang="en-US" sz="1150" dirty="0">
                <a:solidFill>
                  <a:srgbClr val="C3D8EA"/>
                </a:solidFill>
                <a:latin typeface="Calibri" pitchFamily="34" charset="0"/>
                <a:ea typeface="Calibri" pitchFamily="34" charset="-122"/>
                <a:cs typeface="Calibri" pitchFamily="34" charset="-120"/>
              </a:rPr>
              <a:t>NavGraph only exposes the app once AuthState is Authenticated</a:t>
            </a:r>
            <a:endParaRPr lang="en-US" sz="1150" dirty="0"/>
          </a:p>
        </p:txBody>
      </p:sp>
      <p:sp>
        <p:nvSpPr>
          <p:cNvPr id="28" name="Shape 25"/>
          <p:cNvSpPr/>
          <p:nvPr/>
        </p:nvSpPr>
        <p:spPr>
          <a:xfrm>
            <a:off x="640080" y="4727448"/>
            <a:ext cx="6492240" cy="658368"/>
          </a:xfrm>
          <a:prstGeom prst="roundRect">
            <a:avLst>
              <a:gd name="adj" fmla="val 12500"/>
            </a:avLst>
          </a:prstGeom>
          <a:solidFill>
            <a:srgbClr val="13304C"/>
          </a:solidFill>
          <a:ln w="12700">
            <a:solidFill>
              <a:srgbClr val="13304C"/>
            </a:solidFill>
            <a:prstDash val="solid"/>
          </a:ln>
        </p:spPr>
      </p:sp>
      <p:sp>
        <p:nvSpPr>
          <p:cNvPr id="29" name="Shape 26"/>
          <p:cNvSpPr/>
          <p:nvPr/>
        </p:nvSpPr>
        <p:spPr>
          <a:xfrm>
            <a:off x="822960" y="4864608"/>
            <a:ext cx="384048" cy="384048"/>
          </a:xfrm>
          <a:prstGeom prst="ellipse">
            <a:avLst/>
          </a:prstGeom>
          <a:solidFill>
            <a:srgbClr val="1464A8"/>
          </a:solidFill>
          <a:ln w="12700">
            <a:solidFill>
              <a:srgbClr val="1464A8"/>
            </a:solidFill>
            <a:prstDash val="solid"/>
          </a:ln>
        </p:spPr>
      </p:sp>
      <p:sp>
        <p:nvSpPr>
          <p:cNvPr id="30" name="Text 27"/>
          <p:cNvSpPr txBox="1"/>
          <p:nvPr/>
        </p:nvSpPr>
        <p:spPr>
          <a:xfrm>
            <a:off x="822960" y="4864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8"/>
          <p:cNvSpPr txBox="1"/>
          <p:nvPr/>
        </p:nvSpPr>
        <p:spPr>
          <a:xfrm>
            <a:off x="1353312" y="4727448"/>
            <a:ext cx="1371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Identify</a:t>
            </a:r>
            <a:endParaRPr lang="en-US" sz="1300" dirty="0"/>
          </a:p>
        </p:txBody>
      </p:sp>
      <p:sp>
        <p:nvSpPr>
          <p:cNvPr id="32" name="Text 29"/>
          <p:cNvSpPr txBox="1"/>
          <p:nvPr/>
        </p:nvSpPr>
        <p:spPr>
          <a:xfrm>
            <a:off x="2743200" y="4727448"/>
            <a:ext cx="4206240" cy="658368"/>
          </a:xfrm>
          <a:prstGeom prst="rect">
            <a:avLst/>
          </a:prstGeom>
          <a:noFill/>
          <a:ln/>
        </p:spPr>
        <p:txBody>
          <a:bodyPr wrap="square" lIns="0" tIns="0" rIns="0" bIns="0" rtlCol="0" anchor="ctr"/>
          <a:lstStyle/>
          <a:p>
            <a:pPr indent="0" marL="0">
              <a:buNone/>
            </a:pPr>
            <a:r>
              <a:rPr lang="en-US" sz="1150" dirty="0">
                <a:solidFill>
                  <a:srgbClr val="C3D8EA"/>
                </a:solidFill>
                <a:latin typeface="Calibri" pitchFamily="34" charset="0"/>
                <a:ea typeface="Calibri" pitchFamily="34" charset="-122"/>
                <a:cs typeface="Calibri" pitchFamily="34" charset="-120"/>
              </a:rPr>
              <a:t>The Clerk user ID stamps every row written to Supabase</a:t>
            </a:r>
            <a:endParaRPr lang="en-US" sz="1150" dirty="0"/>
          </a:p>
        </p:txBody>
      </p:sp>
      <p:sp>
        <p:nvSpPr>
          <p:cNvPr id="33" name="Shape 30"/>
          <p:cNvSpPr/>
          <p:nvPr/>
        </p:nvSpPr>
        <p:spPr>
          <a:xfrm>
            <a:off x="7452360" y="1691640"/>
            <a:ext cx="4099255" cy="2148840"/>
          </a:xfrm>
          <a:prstGeom prst="roundRect">
            <a:avLst>
              <a:gd name="adj" fmla="val 3830"/>
            </a:avLst>
          </a:prstGeom>
          <a:solidFill>
            <a:srgbClr val="13304C"/>
          </a:solidFill>
          <a:ln w="12700">
            <a:solidFill>
              <a:srgbClr val="13304C"/>
            </a:solidFill>
            <a:prstDash val="solid"/>
          </a:ln>
        </p:spPr>
      </p:sp>
      <p:sp>
        <p:nvSpPr>
          <p:cNvPr id="34" name="Text 31"/>
          <p:cNvSpPr txBox="1"/>
          <p:nvPr/>
        </p:nvSpPr>
        <p:spPr>
          <a:xfrm>
            <a:off x="7726680" y="1828800"/>
            <a:ext cx="3550615" cy="274320"/>
          </a:xfrm>
          <a:prstGeom prst="rect">
            <a:avLst/>
          </a:prstGeom>
          <a:noFill/>
          <a:ln/>
        </p:spPr>
        <p:txBody>
          <a:bodyPr wrap="square" lIns="0" tIns="0" rIns="0" bIns="0" rtlCol="0" anchor="ctr"/>
          <a:lstStyle/>
          <a:p>
            <a:pPr indent="0" marL="0">
              <a:buNone/>
            </a:pPr>
            <a:r>
              <a:rPr lang="en-US" sz="1300" b="1" dirty="0">
                <a:solidFill>
                  <a:srgbClr val="6FB3E8"/>
                </a:solidFill>
                <a:latin typeface="Calibri" pitchFamily="34" charset="0"/>
                <a:ea typeface="Calibri" pitchFamily="34" charset="-122"/>
                <a:cs typeface="Calibri" pitchFamily="34" charset="-120"/>
              </a:rPr>
              <a:t>AuthState — a sealed class</a:t>
            </a:r>
            <a:endParaRPr lang="en-US" sz="1300" dirty="0"/>
          </a:p>
        </p:txBody>
      </p:sp>
      <p:sp>
        <p:nvSpPr>
          <p:cNvPr id="35" name="Text 32"/>
          <p:cNvSpPr txBox="1"/>
          <p:nvPr/>
        </p:nvSpPr>
        <p:spPr>
          <a:xfrm>
            <a:off x="7726680" y="2157984"/>
            <a:ext cx="3550615" cy="1463040"/>
          </a:xfrm>
          <a:prstGeom prst="rect">
            <a:avLst/>
          </a:prstGeom>
          <a:noFill/>
          <a:ln/>
        </p:spPr>
        <p:txBody>
          <a:bodyPr wrap="square" lIns="0" tIns="0" rIns="0" bIns="0" rtlCol="0" anchor="ctr"/>
          <a:lstStyle/>
          <a:p>
            <a:pPr indent="0" marL="0">
              <a:lnSpc>
                <a:spcPts val="1800"/>
              </a:lnSpc>
              <a:buNone/>
            </a:pPr>
            <a:r>
              <a:rPr lang="en-US" sz="1100" dirty="0">
                <a:solidFill>
                  <a:srgbClr val="CFE3F5"/>
                </a:solidFill>
                <a:latin typeface="Courier New" pitchFamily="34" charset="0"/>
                <a:ea typeface="Courier New" pitchFamily="34" charset="-122"/>
                <a:cs typeface="Courier New" pitchFamily="34" charset="-120"/>
              </a:rPr>
              <a:t>Loading</a:t>
            </a:r>
            <a:endParaRPr lang="en-US" sz="1100" dirty="0"/>
          </a:p>
          <a:p>
            <a:pPr indent="0" marL="0">
              <a:lnSpc>
                <a:spcPts val="1800"/>
              </a:lnSpc>
              <a:buNone/>
            </a:pPr>
            <a:r>
              <a:rPr lang="en-US" sz="1100" dirty="0">
                <a:solidFill>
                  <a:srgbClr val="CFE3F5"/>
                </a:solidFill>
                <a:latin typeface="Courier New" pitchFamily="34" charset="0"/>
                <a:ea typeface="Courier New" pitchFamily="34" charset="-122"/>
                <a:cs typeface="Courier New" pitchFamily="34" charset="-120"/>
              </a:rPr>
              <a:t>Unauthenticated</a:t>
            </a:r>
            <a:endParaRPr lang="en-US" sz="1100" dirty="0"/>
          </a:p>
          <a:p>
            <a:pPr indent="0" marL="0">
              <a:lnSpc>
                <a:spcPts val="1800"/>
              </a:lnSpc>
              <a:buNone/>
            </a:pPr>
            <a:r>
              <a:rPr lang="en-US" sz="1100" dirty="0">
                <a:solidFill>
                  <a:srgbClr val="CFE3F5"/>
                </a:solidFill>
                <a:latin typeface="Courier New" pitchFamily="34" charset="0"/>
                <a:ea typeface="Courier New" pitchFamily="34" charset="-122"/>
                <a:cs typeface="Courier New" pitchFamily="34" charset="-120"/>
              </a:rPr>
              <a:t>AwaitingEmailCode(email, busy)</a:t>
            </a:r>
            <a:endParaRPr lang="en-US" sz="1100" dirty="0"/>
          </a:p>
          <a:p>
            <a:pPr indent="0" marL="0">
              <a:lnSpc>
                <a:spcPts val="1800"/>
              </a:lnSpc>
              <a:buNone/>
            </a:pPr>
            <a:r>
              <a:rPr lang="en-US" sz="1100" dirty="0">
                <a:solidFill>
                  <a:srgbClr val="CFE3F5"/>
                </a:solidFill>
                <a:latin typeface="Courier New" pitchFamily="34" charset="0"/>
                <a:ea typeface="Courier New" pitchFamily="34" charset="-122"/>
                <a:cs typeface="Courier New" pitchFamily="34" charset="-120"/>
              </a:rPr>
              <a:t>Authenticated(userId, email, token, name…)</a:t>
            </a:r>
            <a:endParaRPr lang="en-US" sz="1100" dirty="0"/>
          </a:p>
          <a:p>
            <a:pPr indent="0" marL="0">
              <a:lnSpc>
                <a:spcPts val="1800"/>
              </a:lnSpc>
              <a:buNone/>
            </a:pPr>
            <a:r>
              <a:rPr lang="en-US" sz="1100" dirty="0">
                <a:solidFill>
                  <a:srgbClr val="CFE3F5"/>
                </a:solidFill>
                <a:latin typeface="Courier New" pitchFamily="34" charset="0"/>
                <a:ea typeface="Courier New" pitchFamily="34" charset="-122"/>
                <a:cs typeface="Courier New" pitchFamily="34" charset="-120"/>
              </a:rPr>
              <a:t>Error(message)</a:t>
            </a:r>
            <a:endParaRPr lang="en-US" sz="1100" dirty="0"/>
          </a:p>
        </p:txBody>
      </p:sp>
      <p:sp>
        <p:nvSpPr>
          <p:cNvPr id="36" name="Shape 33"/>
          <p:cNvSpPr/>
          <p:nvPr/>
        </p:nvSpPr>
        <p:spPr>
          <a:xfrm>
            <a:off x="7452360" y="3977640"/>
            <a:ext cx="4099255" cy="2377440"/>
          </a:xfrm>
          <a:prstGeom prst="roundRect">
            <a:avLst>
              <a:gd name="adj" fmla="val 3462"/>
            </a:avLst>
          </a:prstGeom>
          <a:solidFill>
            <a:srgbClr val="102A44"/>
          </a:solidFill>
          <a:ln w="12700">
            <a:solidFill>
              <a:srgbClr val="102A44"/>
            </a:solidFill>
            <a:prstDash val="solid"/>
          </a:ln>
        </p:spPr>
      </p:sp>
      <p:sp>
        <p:nvSpPr>
          <p:cNvPr id="37" name="Text 34"/>
          <p:cNvSpPr txBox="1"/>
          <p:nvPr/>
        </p:nvSpPr>
        <p:spPr>
          <a:xfrm>
            <a:off x="7726680" y="4114800"/>
            <a:ext cx="3550615" cy="274320"/>
          </a:xfrm>
          <a:prstGeom prst="rect">
            <a:avLst/>
          </a:prstGeom>
          <a:noFill/>
          <a:ln/>
        </p:spPr>
        <p:txBody>
          <a:bodyPr wrap="square" lIns="0" tIns="0" rIns="0" bIns="0" rtlCol="0" anchor="ctr"/>
          <a:lstStyle/>
          <a:p>
            <a:pPr indent="0" marL="0">
              <a:buNone/>
            </a:pPr>
            <a:r>
              <a:rPr lang="en-US" sz="1300" b="1" dirty="0">
                <a:solidFill>
                  <a:srgbClr val="6FB3E8"/>
                </a:solidFill>
                <a:latin typeface="Calibri" pitchFamily="34" charset="0"/>
                <a:ea typeface="Calibri" pitchFamily="34" charset="-122"/>
                <a:cs typeface="Calibri" pitchFamily="34" charset="-120"/>
              </a:rPr>
              <a:t>The native-client detail</a:t>
            </a:r>
            <a:endParaRPr lang="en-US" sz="1300" dirty="0"/>
          </a:p>
        </p:txBody>
      </p:sp>
      <p:sp>
        <p:nvSpPr>
          <p:cNvPr id="38" name="Text 35"/>
          <p:cNvSpPr txBox="1"/>
          <p:nvPr/>
        </p:nvSpPr>
        <p:spPr>
          <a:xfrm>
            <a:off x="7726680" y="4443984"/>
            <a:ext cx="3550615" cy="1783080"/>
          </a:xfrm>
          <a:prstGeom prst="rect">
            <a:avLst/>
          </a:prstGeom>
          <a:noFill/>
          <a:ln/>
        </p:spPr>
        <p:txBody>
          <a:bodyPr wrap="square" lIns="0" tIns="0" rIns="0" bIns="0" rtlCol="0" anchor="ctr"/>
          <a:lstStyle/>
          <a:p>
            <a:pPr indent="0" marL="0">
              <a:lnSpc>
                <a:spcPts val="1600"/>
              </a:lnSpc>
              <a:buNone/>
            </a:pPr>
            <a:r>
              <a:rPr lang="en-US" sz="1100" dirty="0">
                <a:solidFill>
                  <a:srgbClr val="C3D8EA"/>
                </a:solidFill>
                <a:latin typeface="Calibri" pitchFamily="34" charset="0"/>
                <a:ea typeface="Calibri" pitchFamily="34" charset="-122"/>
                <a:cs typeface="Calibri" pitchFamily="34" charset="-120"/>
              </a:rPr>
              <a:t>Clerk's Frontend API normally tracks the device with a browser cookie. An Android app has no cookie jar, so every request sends _is_native=1 and Clerk returns a device token in the Authorization header instead. That token is persisted and replayed, which is what lets the Google OAuth browser round-trip return to the same Clerk client via the deep link tdminsight://oauth-callback.</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09 · AUTHENTICATION</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Authentication sequence — sign-up to signed-in</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No password is ever stored by the app. Clerk owns the credential; the app only holds the returned session token.</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29</a:t>
            </a:r>
            <a:endParaRPr lang="en-US" sz="900" dirty="0"/>
          </a:p>
        </p:txBody>
      </p:sp>
      <p:sp>
        <p:nvSpPr>
          <p:cNvPr id="8" name="Shape 5"/>
          <p:cNvSpPr/>
          <p:nvPr/>
        </p:nvSpPr>
        <p:spPr>
          <a:xfrm>
            <a:off x="640080" y="1737360"/>
            <a:ext cx="1600200" cy="475488"/>
          </a:xfrm>
          <a:prstGeom prst="roundRect">
            <a:avLst>
              <a:gd name="adj" fmla="val 13462"/>
            </a:avLst>
          </a:prstGeom>
          <a:solidFill>
            <a:srgbClr val="1E5C96"/>
          </a:solidFill>
          <a:ln w="12700">
            <a:solidFill>
              <a:srgbClr val="1E5C96"/>
            </a:solidFill>
            <a:prstDash val="solid"/>
          </a:ln>
        </p:spPr>
      </p:sp>
      <p:sp>
        <p:nvSpPr>
          <p:cNvPr id="9" name="Text 6"/>
          <p:cNvSpPr txBox="1"/>
          <p:nvPr/>
        </p:nvSpPr>
        <p:spPr>
          <a:xfrm>
            <a:off x="694944"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AuthScreens</a:t>
            </a:r>
            <a:endParaRPr lang="en-US" sz="1000" dirty="0"/>
          </a:p>
        </p:txBody>
      </p:sp>
      <p:sp>
        <p:nvSpPr>
          <p:cNvPr id="10" name="Shape 7"/>
          <p:cNvSpPr/>
          <p:nvPr/>
        </p:nvSpPr>
        <p:spPr>
          <a:xfrm>
            <a:off x="1440180" y="2212848"/>
            <a:ext cx="0" cy="3730752"/>
          </a:xfrm>
          <a:prstGeom prst="line">
            <a:avLst/>
          </a:prstGeom>
          <a:noFill/>
          <a:ln w="15875">
            <a:solidFill>
              <a:srgbClr val="C2CEDA"/>
            </a:solidFill>
            <a:prstDash val="dash"/>
          </a:ln>
        </p:spPr>
      </p:sp>
      <p:sp>
        <p:nvSpPr>
          <p:cNvPr id="11" name="Shape 8"/>
          <p:cNvSpPr/>
          <p:nvPr/>
        </p:nvSpPr>
        <p:spPr>
          <a:xfrm>
            <a:off x="2502347" y="1737360"/>
            <a:ext cx="1600200" cy="475488"/>
          </a:xfrm>
          <a:prstGeom prst="roundRect">
            <a:avLst>
              <a:gd name="adj" fmla="val 13462"/>
            </a:avLst>
          </a:prstGeom>
          <a:solidFill>
            <a:srgbClr val="17527F"/>
          </a:solidFill>
          <a:ln w="12700">
            <a:solidFill>
              <a:srgbClr val="17527F"/>
            </a:solidFill>
            <a:prstDash val="solid"/>
          </a:ln>
        </p:spPr>
      </p:sp>
      <p:sp>
        <p:nvSpPr>
          <p:cNvPr id="12" name="Text 9"/>
          <p:cNvSpPr txBox="1"/>
          <p:nvPr/>
        </p:nvSpPr>
        <p:spPr>
          <a:xfrm>
            <a:off x="2557211"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AuthViewModel</a:t>
            </a:r>
            <a:endParaRPr lang="en-US" sz="1000" dirty="0"/>
          </a:p>
        </p:txBody>
      </p:sp>
      <p:sp>
        <p:nvSpPr>
          <p:cNvPr id="13" name="Shape 10"/>
          <p:cNvSpPr/>
          <p:nvPr/>
        </p:nvSpPr>
        <p:spPr>
          <a:xfrm>
            <a:off x="3302447" y="2212848"/>
            <a:ext cx="0" cy="3730752"/>
          </a:xfrm>
          <a:prstGeom prst="line">
            <a:avLst/>
          </a:prstGeom>
          <a:noFill/>
          <a:ln w="15875">
            <a:solidFill>
              <a:srgbClr val="C2CEDA"/>
            </a:solidFill>
            <a:prstDash val="dash"/>
          </a:ln>
        </p:spPr>
      </p:sp>
      <p:sp>
        <p:nvSpPr>
          <p:cNvPr id="14" name="Shape 11"/>
          <p:cNvSpPr/>
          <p:nvPr/>
        </p:nvSpPr>
        <p:spPr>
          <a:xfrm>
            <a:off x="4364614" y="1737360"/>
            <a:ext cx="1600200" cy="475488"/>
          </a:xfrm>
          <a:prstGeom prst="roundRect">
            <a:avLst>
              <a:gd name="adj" fmla="val 13462"/>
            </a:avLst>
          </a:prstGeom>
          <a:solidFill>
            <a:srgbClr val="14456E"/>
          </a:solidFill>
          <a:ln w="12700">
            <a:solidFill>
              <a:srgbClr val="14456E"/>
            </a:solidFill>
            <a:prstDash val="solid"/>
          </a:ln>
        </p:spPr>
      </p:sp>
      <p:sp>
        <p:nvSpPr>
          <p:cNvPr id="15" name="Text 12"/>
          <p:cNvSpPr txBox="1"/>
          <p:nvPr/>
        </p:nvSpPr>
        <p:spPr>
          <a:xfrm>
            <a:off x="4419478"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ClerkAuthManager</a:t>
            </a:r>
            <a:endParaRPr lang="en-US" sz="1000" dirty="0"/>
          </a:p>
        </p:txBody>
      </p:sp>
      <p:sp>
        <p:nvSpPr>
          <p:cNvPr id="16" name="Shape 13"/>
          <p:cNvSpPr/>
          <p:nvPr/>
        </p:nvSpPr>
        <p:spPr>
          <a:xfrm>
            <a:off x="5164714" y="2212848"/>
            <a:ext cx="0" cy="3730752"/>
          </a:xfrm>
          <a:prstGeom prst="line">
            <a:avLst/>
          </a:prstGeom>
          <a:noFill/>
          <a:ln w="15875">
            <a:solidFill>
              <a:srgbClr val="C2CEDA"/>
            </a:solidFill>
            <a:prstDash val="dash"/>
          </a:ln>
        </p:spPr>
      </p:sp>
      <p:sp>
        <p:nvSpPr>
          <p:cNvPr id="17" name="Shape 14"/>
          <p:cNvSpPr/>
          <p:nvPr/>
        </p:nvSpPr>
        <p:spPr>
          <a:xfrm>
            <a:off x="6226881" y="1737360"/>
            <a:ext cx="1600200" cy="475488"/>
          </a:xfrm>
          <a:prstGeom prst="roundRect">
            <a:avLst>
              <a:gd name="adj" fmla="val 13462"/>
            </a:avLst>
          </a:prstGeom>
          <a:solidFill>
            <a:srgbClr val="073A6B"/>
          </a:solidFill>
          <a:ln w="12700">
            <a:solidFill>
              <a:srgbClr val="073A6B"/>
            </a:solidFill>
            <a:prstDash val="solid"/>
          </a:ln>
        </p:spPr>
      </p:sp>
      <p:sp>
        <p:nvSpPr>
          <p:cNvPr id="18" name="Text 15"/>
          <p:cNvSpPr txBox="1"/>
          <p:nvPr/>
        </p:nvSpPr>
        <p:spPr>
          <a:xfrm>
            <a:off x="6281745"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Clerk Frontend API</a:t>
            </a:r>
            <a:endParaRPr lang="en-US" sz="1000" dirty="0"/>
          </a:p>
        </p:txBody>
      </p:sp>
      <p:sp>
        <p:nvSpPr>
          <p:cNvPr id="19" name="Shape 16"/>
          <p:cNvSpPr/>
          <p:nvPr/>
        </p:nvSpPr>
        <p:spPr>
          <a:xfrm>
            <a:off x="7026981" y="2212848"/>
            <a:ext cx="0" cy="3730752"/>
          </a:xfrm>
          <a:prstGeom prst="line">
            <a:avLst/>
          </a:prstGeom>
          <a:noFill/>
          <a:ln w="15875">
            <a:solidFill>
              <a:srgbClr val="C2CEDA"/>
            </a:solidFill>
            <a:prstDash val="dash"/>
          </a:ln>
        </p:spPr>
      </p:sp>
      <p:sp>
        <p:nvSpPr>
          <p:cNvPr id="20" name="Shape 17"/>
          <p:cNvSpPr/>
          <p:nvPr/>
        </p:nvSpPr>
        <p:spPr>
          <a:xfrm>
            <a:off x="8089148" y="1737360"/>
            <a:ext cx="1600200" cy="475488"/>
          </a:xfrm>
          <a:prstGeom prst="roundRect">
            <a:avLst>
              <a:gd name="adj" fmla="val 13462"/>
            </a:avLst>
          </a:prstGeom>
          <a:solidFill>
            <a:srgbClr val="8A96A3"/>
          </a:solidFill>
          <a:ln w="12700">
            <a:solidFill>
              <a:srgbClr val="8A96A3"/>
            </a:solidFill>
            <a:prstDash val="solid"/>
          </a:ln>
        </p:spPr>
      </p:sp>
      <p:sp>
        <p:nvSpPr>
          <p:cNvPr id="21" name="Text 18"/>
          <p:cNvSpPr txBox="1"/>
          <p:nvPr/>
        </p:nvSpPr>
        <p:spPr>
          <a:xfrm>
            <a:off x="8144012"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SharedPreferences</a:t>
            </a:r>
            <a:endParaRPr lang="en-US" sz="1000" dirty="0"/>
          </a:p>
        </p:txBody>
      </p:sp>
      <p:sp>
        <p:nvSpPr>
          <p:cNvPr id="22" name="Shape 19"/>
          <p:cNvSpPr/>
          <p:nvPr/>
        </p:nvSpPr>
        <p:spPr>
          <a:xfrm>
            <a:off x="8889248" y="2212848"/>
            <a:ext cx="0" cy="3730752"/>
          </a:xfrm>
          <a:prstGeom prst="line">
            <a:avLst/>
          </a:prstGeom>
          <a:noFill/>
          <a:ln w="15875">
            <a:solidFill>
              <a:srgbClr val="C2CEDA"/>
            </a:solidFill>
            <a:prstDash val="dash"/>
          </a:ln>
        </p:spPr>
      </p:sp>
      <p:sp>
        <p:nvSpPr>
          <p:cNvPr id="23" name="Shape 20"/>
          <p:cNvSpPr/>
          <p:nvPr/>
        </p:nvSpPr>
        <p:spPr>
          <a:xfrm>
            <a:off x="9951415" y="1737360"/>
            <a:ext cx="1600200" cy="475488"/>
          </a:xfrm>
          <a:prstGeom prst="roundRect">
            <a:avLst>
              <a:gd name="adj" fmla="val 13462"/>
            </a:avLst>
          </a:prstGeom>
          <a:solidFill>
            <a:srgbClr val="1464A8"/>
          </a:solidFill>
          <a:ln w="12700">
            <a:solidFill>
              <a:srgbClr val="1464A8"/>
            </a:solidFill>
            <a:prstDash val="solid"/>
          </a:ln>
        </p:spPr>
      </p:sp>
      <p:sp>
        <p:nvSpPr>
          <p:cNvPr id="24" name="Text 21"/>
          <p:cNvSpPr txBox="1"/>
          <p:nvPr/>
        </p:nvSpPr>
        <p:spPr>
          <a:xfrm>
            <a:off x="10006279" y="1737360"/>
            <a:ext cx="14904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SupabaseRepository</a:t>
            </a:r>
            <a:endParaRPr lang="en-US" sz="1000" dirty="0"/>
          </a:p>
        </p:txBody>
      </p:sp>
      <p:sp>
        <p:nvSpPr>
          <p:cNvPr id="25" name="Shape 22"/>
          <p:cNvSpPr/>
          <p:nvPr/>
        </p:nvSpPr>
        <p:spPr>
          <a:xfrm>
            <a:off x="10751515" y="2212848"/>
            <a:ext cx="0" cy="3730752"/>
          </a:xfrm>
          <a:prstGeom prst="line">
            <a:avLst/>
          </a:prstGeom>
          <a:noFill/>
          <a:ln w="15875">
            <a:solidFill>
              <a:srgbClr val="C2CEDA"/>
            </a:solidFill>
            <a:prstDash val="dash"/>
          </a:ln>
        </p:spPr>
      </p:sp>
      <p:sp>
        <p:nvSpPr>
          <p:cNvPr id="26" name="Shape 23"/>
          <p:cNvSpPr/>
          <p:nvPr/>
        </p:nvSpPr>
        <p:spPr>
          <a:xfrm>
            <a:off x="1440180" y="2560320"/>
            <a:ext cx="1862267" cy="0"/>
          </a:xfrm>
          <a:prstGeom prst="line">
            <a:avLst/>
          </a:prstGeom>
          <a:noFill/>
          <a:ln w="22225">
            <a:solidFill>
              <a:srgbClr val="1464A8"/>
            </a:solidFill>
            <a:prstDash val="solid"/>
            <a:tailEnd type="triangle"/>
          </a:ln>
        </p:spPr>
      </p:sp>
      <p:sp>
        <p:nvSpPr>
          <p:cNvPr id="27" name="Text 24"/>
          <p:cNvSpPr txBox="1"/>
          <p:nvPr/>
        </p:nvSpPr>
        <p:spPr>
          <a:xfrm>
            <a:off x="1440180" y="2304288"/>
            <a:ext cx="1862267"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signUp(email, password)</a:t>
            </a:r>
            <a:endParaRPr lang="en-US" sz="850" dirty="0"/>
          </a:p>
        </p:txBody>
      </p:sp>
      <p:sp>
        <p:nvSpPr>
          <p:cNvPr id="28" name="Shape 25"/>
          <p:cNvSpPr/>
          <p:nvPr/>
        </p:nvSpPr>
        <p:spPr>
          <a:xfrm>
            <a:off x="3302447" y="2889504"/>
            <a:ext cx="1862267" cy="0"/>
          </a:xfrm>
          <a:prstGeom prst="line">
            <a:avLst/>
          </a:prstGeom>
          <a:noFill/>
          <a:ln w="22225">
            <a:solidFill>
              <a:srgbClr val="1464A8"/>
            </a:solidFill>
            <a:prstDash val="solid"/>
            <a:tailEnd type="triangle"/>
          </a:ln>
        </p:spPr>
      </p:sp>
      <p:sp>
        <p:nvSpPr>
          <p:cNvPr id="29" name="Text 26"/>
          <p:cNvSpPr txBox="1"/>
          <p:nvPr/>
        </p:nvSpPr>
        <p:spPr>
          <a:xfrm>
            <a:off x="3302447" y="2633472"/>
            <a:ext cx="1862267"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createSignUp(...)</a:t>
            </a:r>
            <a:endParaRPr lang="en-US" sz="850" dirty="0"/>
          </a:p>
        </p:txBody>
      </p:sp>
      <p:sp>
        <p:nvSpPr>
          <p:cNvPr id="30" name="Shape 27"/>
          <p:cNvSpPr/>
          <p:nvPr/>
        </p:nvSpPr>
        <p:spPr>
          <a:xfrm>
            <a:off x="5164714" y="3218688"/>
            <a:ext cx="1862267" cy="0"/>
          </a:xfrm>
          <a:prstGeom prst="line">
            <a:avLst/>
          </a:prstGeom>
          <a:noFill/>
          <a:ln w="22225">
            <a:solidFill>
              <a:srgbClr val="1464A8"/>
            </a:solidFill>
            <a:prstDash val="solid"/>
            <a:tailEnd type="triangle"/>
          </a:ln>
        </p:spPr>
      </p:sp>
      <p:sp>
        <p:nvSpPr>
          <p:cNvPr id="31" name="Text 28"/>
          <p:cNvSpPr txBox="1"/>
          <p:nvPr/>
        </p:nvSpPr>
        <p:spPr>
          <a:xfrm>
            <a:off x="5164714" y="2962656"/>
            <a:ext cx="1862267"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POST /v1/client/sign_ups</a:t>
            </a:r>
            <a:endParaRPr lang="en-US" sz="850" dirty="0"/>
          </a:p>
        </p:txBody>
      </p:sp>
      <p:sp>
        <p:nvSpPr>
          <p:cNvPr id="32" name="Shape 29"/>
          <p:cNvSpPr/>
          <p:nvPr/>
        </p:nvSpPr>
        <p:spPr>
          <a:xfrm flipH="1">
            <a:off x="5164714" y="3547872"/>
            <a:ext cx="1862267" cy="0"/>
          </a:xfrm>
          <a:prstGeom prst="line">
            <a:avLst/>
          </a:prstGeom>
          <a:noFill/>
          <a:ln w="22225">
            <a:solidFill>
              <a:srgbClr val="8A96A3"/>
            </a:solidFill>
            <a:prstDash val="dash"/>
            <a:tailEnd type="triangle"/>
          </a:ln>
        </p:spPr>
      </p:sp>
      <p:sp>
        <p:nvSpPr>
          <p:cNvPr id="33" name="Text 30"/>
          <p:cNvSpPr txBox="1"/>
          <p:nvPr/>
        </p:nvSpPr>
        <p:spPr>
          <a:xfrm>
            <a:off x="5164714" y="3291840"/>
            <a:ext cx="1862267" cy="237744"/>
          </a:xfrm>
          <a:prstGeom prst="rect">
            <a:avLst/>
          </a:prstGeom>
          <a:noFill/>
          <a:ln/>
        </p:spPr>
        <p:txBody>
          <a:bodyPr wrap="square" lIns="0" tIns="0" rIns="0" bIns="0" rtlCol="0" anchor="ctr"/>
          <a:lstStyle/>
          <a:p>
            <a:pPr algn="ctr" indent="0" marL="0">
              <a:buNone/>
            </a:pPr>
            <a:r>
              <a:rPr lang="en-US" sz="850" dirty="0">
                <a:solidFill>
                  <a:srgbClr val="5A6672"/>
                </a:solidFill>
                <a:latin typeface="Courier New" pitchFamily="34" charset="0"/>
                <a:ea typeface="Courier New" pitchFamily="34" charset="-122"/>
                <a:cs typeface="Courier New" pitchFamily="34" charset="-120"/>
              </a:rPr>
              <a:t>device token (header)</a:t>
            </a:r>
            <a:endParaRPr lang="en-US" sz="850" dirty="0"/>
          </a:p>
        </p:txBody>
      </p:sp>
      <p:sp>
        <p:nvSpPr>
          <p:cNvPr id="34" name="Shape 31"/>
          <p:cNvSpPr/>
          <p:nvPr/>
        </p:nvSpPr>
        <p:spPr>
          <a:xfrm>
            <a:off x="5164714" y="3877056"/>
            <a:ext cx="3724534" cy="0"/>
          </a:xfrm>
          <a:prstGeom prst="line">
            <a:avLst/>
          </a:prstGeom>
          <a:noFill/>
          <a:ln w="22225">
            <a:solidFill>
              <a:srgbClr val="1464A8"/>
            </a:solidFill>
            <a:prstDash val="solid"/>
            <a:tailEnd type="triangle"/>
          </a:ln>
        </p:spPr>
      </p:sp>
      <p:sp>
        <p:nvSpPr>
          <p:cNvPr id="35" name="Text 32"/>
          <p:cNvSpPr txBox="1"/>
          <p:nvPr/>
        </p:nvSpPr>
        <p:spPr>
          <a:xfrm>
            <a:off x="5164714" y="3621024"/>
            <a:ext cx="3724534"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persist device token</a:t>
            </a:r>
            <a:endParaRPr lang="en-US" sz="850" dirty="0"/>
          </a:p>
        </p:txBody>
      </p:sp>
      <p:sp>
        <p:nvSpPr>
          <p:cNvPr id="36" name="Shape 33"/>
          <p:cNvSpPr/>
          <p:nvPr/>
        </p:nvSpPr>
        <p:spPr>
          <a:xfrm flipH="1">
            <a:off x="1440180" y="4206240"/>
            <a:ext cx="1862267" cy="0"/>
          </a:xfrm>
          <a:prstGeom prst="line">
            <a:avLst/>
          </a:prstGeom>
          <a:noFill/>
          <a:ln w="22225">
            <a:solidFill>
              <a:srgbClr val="8A96A3"/>
            </a:solidFill>
            <a:prstDash val="dash"/>
            <a:tailEnd type="triangle"/>
          </a:ln>
        </p:spPr>
      </p:sp>
      <p:sp>
        <p:nvSpPr>
          <p:cNvPr id="37" name="Text 34"/>
          <p:cNvSpPr txBox="1"/>
          <p:nvPr/>
        </p:nvSpPr>
        <p:spPr>
          <a:xfrm>
            <a:off x="1440180" y="3950208"/>
            <a:ext cx="1862267" cy="237744"/>
          </a:xfrm>
          <a:prstGeom prst="rect">
            <a:avLst/>
          </a:prstGeom>
          <a:noFill/>
          <a:ln/>
        </p:spPr>
        <p:txBody>
          <a:bodyPr wrap="square" lIns="0" tIns="0" rIns="0" bIns="0" rtlCol="0" anchor="ctr"/>
          <a:lstStyle/>
          <a:p>
            <a:pPr algn="ctr" indent="0" marL="0">
              <a:buNone/>
            </a:pPr>
            <a:r>
              <a:rPr lang="en-US" sz="850" dirty="0">
                <a:solidFill>
                  <a:srgbClr val="5A6672"/>
                </a:solidFill>
                <a:latin typeface="Courier New" pitchFamily="34" charset="0"/>
                <a:ea typeface="Courier New" pitchFamily="34" charset="-122"/>
                <a:cs typeface="Courier New" pitchFamily="34" charset="-120"/>
              </a:rPr>
              <a:t>AuthState.AwaitingEmailCode</a:t>
            </a:r>
            <a:endParaRPr lang="en-US" sz="850" dirty="0"/>
          </a:p>
        </p:txBody>
      </p:sp>
      <p:sp>
        <p:nvSpPr>
          <p:cNvPr id="38" name="Shape 35"/>
          <p:cNvSpPr/>
          <p:nvPr/>
        </p:nvSpPr>
        <p:spPr>
          <a:xfrm>
            <a:off x="1440180" y="4535424"/>
            <a:ext cx="3724534" cy="0"/>
          </a:xfrm>
          <a:prstGeom prst="line">
            <a:avLst/>
          </a:prstGeom>
          <a:noFill/>
          <a:ln w="22225">
            <a:solidFill>
              <a:srgbClr val="1464A8"/>
            </a:solidFill>
            <a:prstDash val="solid"/>
            <a:tailEnd type="triangle"/>
          </a:ln>
        </p:spPr>
      </p:sp>
      <p:sp>
        <p:nvSpPr>
          <p:cNvPr id="39" name="Text 36"/>
          <p:cNvSpPr txBox="1"/>
          <p:nvPr/>
        </p:nvSpPr>
        <p:spPr>
          <a:xfrm>
            <a:off x="1440180" y="4279392"/>
            <a:ext cx="3724534"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verifyEmailCode("123456")</a:t>
            </a:r>
            <a:endParaRPr lang="en-US" sz="850" dirty="0"/>
          </a:p>
        </p:txBody>
      </p:sp>
      <p:sp>
        <p:nvSpPr>
          <p:cNvPr id="40" name="Shape 37"/>
          <p:cNvSpPr/>
          <p:nvPr/>
        </p:nvSpPr>
        <p:spPr>
          <a:xfrm>
            <a:off x="5164714" y="4864608"/>
            <a:ext cx="1862267" cy="0"/>
          </a:xfrm>
          <a:prstGeom prst="line">
            <a:avLst/>
          </a:prstGeom>
          <a:noFill/>
          <a:ln w="22225">
            <a:solidFill>
              <a:srgbClr val="1464A8"/>
            </a:solidFill>
            <a:prstDash val="solid"/>
            <a:tailEnd type="triangle"/>
          </a:ln>
        </p:spPr>
      </p:sp>
      <p:sp>
        <p:nvSpPr>
          <p:cNvPr id="41" name="Text 38"/>
          <p:cNvSpPr txBox="1"/>
          <p:nvPr/>
        </p:nvSpPr>
        <p:spPr>
          <a:xfrm>
            <a:off x="5164714" y="4608576"/>
            <a:ext cx="1862267"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POST attempt_verification</a:t>
            </a:r>
            <a:endParaRPr lang="en-US" sz="850" dirty="0"/>
          </a:p>
        </p:txBody>
      </p:sp>
      <p:sp>
        <p:nvSpPr>
          <p:cNvPr id="42" name="Shape 39"/>
          <p:cNvSpPr/>
          <p:nvPr/>
        </p:nvSpPr>
        <p:spPr>
          <a:xfrm flipH="1">
            <a:off x="5164714" y="5193792"/>
            <a:ext cx="1862267" cy="0"/>
          </a:xfrm>
          <a:prstGeom prst="line">
            <a:avLst/>
          </a:prstGeom>
          <a:noFill/>
          <a:ln w="22225">
            <a:solidFill>
              <a:srgbClr val="8A96A3"/>
            </a:solidFill>
            <a:prstDash val="dash"/>
            <a:tailEnd type="triangle"/>
          </a:ln>
        </p:spPr>
      </p:sp>
      <p:sp>
        <p:nvSpPr>
          <p:cNvPr id="43" name="Text 40"/>
          <p:cNvSpPr txBox="1"/>
          <p:nvPr/>
        </p:nvSpPr>
        <p:spPr>
          <a:xfrm>
            <a:off x="5164714" y="4937760"/>
            <a:ext cx="1862267" cy="237744"/>
          </a:xfrm>
          <a:prstGeom prst="rect">
            <a:avLst/>
          </a:prstGeom>
          <a:noFill/>
          <a:ln/>
        </p:spPr>
        <p:txBody>
          <a:bodyPr wrap="square" lIns="0" tIns="0" rIns="0" bIns="0" rtlCol="0" anchor="ctr"/>
          <a:lstStyle/>
          <a:p>
            <a:pPr algn="ctr" indent="0" marL="0">
              <a:buNone/>
            </a:pPr>
            <a:r>
              <a:rPr lang="en-US" sz="850" dirty="0">
                <a:solidFill>
                  <a:srgbClr val="5A6672"/>
                </a:solidFill>
                <a:latin typeface="Courier New" pitchFamily="34" charset="0"/>
                <a:ea typeface="Courier New" pitchFamily="34" charset="-122"/>
                <a:cs typeface="Courier New" pitchFamily="34" charset="-120"/>
              </a:rPr>
              <a:t>session token + userId</a:t>
            </a:r>
            <a:endParaRPr lang="en-US" sz="850" dirty="0"/>
          </a:p>
        </p:txBody>
      </p:sp>
      <p:sp>
        <p:nvSpPr>
          <p:cNvPr id="44" name="Shape 41"/>
          <p:cNvSpPr/>
          <p:nvPr/>
        </p:nvSpPr>
        <p:spPr>
          <a:xfrm>
            <a:off x="5164714" y="5522976"/>
            <a:ext cx="3724534" cy="0"/>
          </a:xfrm>
          <a:prstGeom prst="line">
            <a:avLst/>
          </a:prstGeom>
          <a:noFill/>
          <a:ln w="22225">
            <a:solidFill>
              <a:srgbClr val="1464A8"/>
            </a:solidFill>
            <a:prstDash val="solid"/>
            <a:tailEnd type="triangle"/>
          </a:ln>
        </p:spPr>
      </p:sp>
      <p:sp>
        <p:nvSpPr>
          <p:cNvPr id="45" name="Text 42"/>
          <p:cNvSpPr txBox="1"/>
          <p:nvPr/>
        </p:nvSpPr>
        <p:spPr>
          <a:xfrm>
            <a:off x="5164714" y="5266944"/>
            <a:ext cx="3724534" cy="237744"/>
          </a:xfrm>
          <a:prstGeom prst="rect">
            <a:avLst/>
          </a:prstGeom>
          <a:noFill/>
          <a:ln/>
        </p:spPr>
        <p:txBody>
          <a:bodyPr wrap="square" lIns="0" tIns="0" rIns="0" bIns="0" rtlCol="0" anchor="ctr"/>
          <a:lstStyle/>
          <a:p>
            <a:pPr algn="ctr" indent="0" marL="0">
              <a:buNone/>
            </a:pPr>
            <a:r>
              <a:rPr lang="en-US" sz="850" dirty="0">
                <a:solidFill>
                  <a:srgbClr val="073A6B"/>
                </a:solidFill>
                <a:latin typeface="Courier New" pitchFamily="34" charset="0"/>
                <a:ea typeface="Courier New" pitchFamily="34" charset="-122"/>
                <a:cs typeface="Courier New" pitchFamily="34" charset="-120"/>
              </a:rPr>
              <a:t>persist session + userId</a:t>
            </a:r>
            <a:endParaRPr lang="en-US" sz="850" dirty="0"/>
          </a:p>
        </p:txBody>
      </p:sp>
      <p:sp>
        <p:nvSpPr>
          <p:cNvPr id="46" name="Shape 43"/>
          <p:cNvSpPr/>
          <p:nvPr/>
        </p:nvSpPr>
        <p:spPr>
          <a:xfrm>
            <a:off x="3302447" y="5852160"/>
            <a:ext cx="7449068" cy="0"/>
          </a:xfrm>
          <a:prstGeom prst="line">
            <a:avLst/>
          </a:prstGeom>
          <a:noFill/>
          <a:ln w="22225">
            <a:solidFill>
              <a:srgbClr val="8A96A3"/>
            </a:solidFill>
            <a:prstDash val="dash"/>
            <a:tailEnd type="triangle"/>
          </a:ln>
        </p:spPr>
      </p:sp>
      <p:sp>
        <p:nvSpPr>
          <p:cNvPr id="47" name="Text 44"/>
          <p:cNvSpPr txBox="1"/>
          <p:nvPr/>
        </p:nvSpPr>
        <p:spPr>
          <a:xfrm>
            <a:off x="3302447" y="5596128"/>
            <a:ext cx="7449068" cy="237744"/>
          </a:xfrm>
          <a:prstGeom prst="rect">
            <a:avLst/>
          </a:prstGeom>
          <a:noFill/>
          <a:ln/>
        </p:spPr>
        <p:txBody>
          <a:bodyPr wrap="square" lIns="0" tIns="0" rIns="0" bIns="0" rtlCol="0" anchor="ctr"/>
          <a:lstStyle/>
          <a:p>
            <a:pPr algn="ctr" indent="0" marL="0">
              <a:buNone/>
            </a:pPr>
            <a:r>
              <a:rPr lang="en-US" sz="850" dirty="0">
                <a:solidFill>
                  <a:srgbClr val="5A6672"/>
                </a:solidFill>
                <a:latin typeface="Courier New" pitchFamily="34" charset="0"/>
                <a:ea typeface="Courier New" pitchFamily="34" charset="-122"/>
                <a:cs typeface="Courier New" pitchFamily="34" charset="-120"/>
              </a:rPr>
              <a:t>userId stamps every saved case</a:t>
            </a:r>
            <a:endParaRPr lang="en-US" sz="850" dirty="0"/>
          </a:p>
        </p:txBody>
      </p:sp>
      <p:sp>
        <p:nvSpPr>
          <p:cNvPr id="48" name="Text 45"/>
          <p:cNvSpPr txBox="1"/>
          <p:nvPr/>
        </p:nvSpPr>
        <p:spPr>
          <a:xfrm>
            <a:off x="640080" y="6053328"/>
            <a:ext cx="10911535" cy="256032"/>
          </a:xfrm>
          <a:prstGeom prst="rect">
            <a:avLst/>
          </a:prstGeom>
          <a:noFill/>
          <a:ln/>
        </p:spPr>
        <p:txBody>
          <a:bodyPr wrap="square" lIns="0" tIns="0" rIns="0" bIns="0" rtlCol="0" anchor="ctr"/>
          <a:lstStyle/>
          <a:p>
            <a:pPr algn="ctr" indent="0" marL="0">
              <a:buNone/>
            </a:pPr>
            <a:r>
              <a:rPr lang="en-US" sz="1000" i="1" dirty="0">
                <a:solidFill>
                  <a:srgbClr val="8A96A3"/>
                </a:solidFill>
                <a:latin typeface="Calibri" pitchFamily="34" charset="0"/>
                <a:ea typeface="Calibri" pitchFamily="34" charset="-122"/>
                <a:cs typeface="Calibri" pitchFamily="34" charset="-120"/>
              </a:rPr>
              <a:t>Google OAuth follows the same shape: the device token is what lets the browser round-trip return to the same Clerk client via tdminsight://oauth-callback.</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09 · AUTHENTICATION</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Credential management — no secret in the source tree</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Keys are injected at build time from a gitignored file into BuildConfig, then read once at application start.</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30</a:t>
            </a:r>
            <a:endParaRPr lang="en-US" sz="900" dirty="0"/>
          </a:p>
        </p:txBody>
      </p:sp>
      <p:sp>
        <p:nvSpPr>
          <p:cNvPr id="8" name="Shape 5"/>
          <p:cNvSpPr/>
          <p:nvPr/>
        </p:nvSpPr>
        <p:spPr>
          <a:xfrm>
            <a:off x="640080" y="1691640"/>
            <a:ext cx="6537960" cy="2407920"/>
          </a:xfrm>
          <a:prstGeom prst="roundRect">
            <a:avLst>
              <a:gd name="adj" fmla="val 3418"/>
            </a:avLst>
          </a:prstGeom>
          <a:solidFill>
            <a:srgbClr val="0F2237"/>
          </a:solidFill>
          <a:ln w="12700">
            <a:solidFill>
              <a:srgbClr val="0F2237"/>
            </a:solidFill>
            <a:prstDash val="solid"/>
          </a:ln>
        </p:spPr>
      </p:sp>
      <p:sp>
        <p:nvSpPr>
          <p:cNvPr id="9" name="Text 6"/>
          <p:cNvSpPr txBox="1"/>
          <p:nvPr/>
        </p:nvSpPr>
        <p:spPr>
          <a:xfrm>
            <a:off x="804672" y="1828800"/>
            <a:ext cx="6208776" cy="2133600"/>
          </a:xfrm>
          <a:prstGeom prst="rect">
            <a:avLst/>
          </a:prstGeom>
          <a:noFill/>
          <a:ln/>
        </p:spPr>
        <p:txBody>
          <a:bodyPr wrap="square" lIns="0" tIns="0" rIns="0" bIns="0" rtlCol="0" anchor="t"/>
          <a:lstStyle/>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app/build.gradle.kts  —  read the gitignored file</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val localProps = Properties().also { p -&gt;</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rootProject.file("local.properties")</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.inputStream().use { p.load(it) }</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val clerkKey = localProps.getProperty("CLERK_PUBLISHABLE_KEY")</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buildConfigField("String", "CLERK_PUBLISHABLE_KEY", clerkKey)</a:t>
            </a:r>
            <a:endParaRPr lang="en-US" sz="1000" dirty="0"/>
          </a:p>
          <a:p>
            <a:pPr indent="0" marL="0">
              <a:lnSpc>
                <a:spcPts val="1400"/>
              </a:lnSpc>
              <a:buNone/>
            </a:pP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TdmApplication.kt  —  read once, at app start</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val clerkAuthManager by lazy {</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    ClerkAuthManager(BuildConfig.CLERK_PUBLISHABLE_KEY, authPrefs)</a:t>
            </a:r>
            <a:endParaRPr lang="en-US" sz="1000" dirty="0"/>
          </a:p>
          <a:p>
            <a:pPr indent="0" marL="0">
              <a:lnSpc>
                <a:spcPts val="1400"/>
              </a:lnSpc>
              <a:buNone/>
            </a:pPr>
            <a:r>
              <a:rPr lang="en-US" sz="1000" dirty="0">
                <a:solidFill>
                  <a:srgbClr val="CFE3F5"/>
                </a:solidFill>
                <a:latin typeface="Courier New" pitchFamily="34" charset="0"/>
                <a:ea typeface="Courier New" pitchFamily="34" charset="-122"/>
                <a:cs typeface="Courier New" pitchFamily="34" charset="-120"/>
              </a:rPr>
              <a:t>}</a:t>
            </a:r>
            <a:endParaRPr lang="en-US" sz="1000" dirty="0"/>
          </a:p>
        </p:txBody>
      </p:sp>
      <p:sp>
        <p:nvSpPr>
          <p:cNvPr id="10" name="Text 7"/>
          <p:cNvSpPr txBox="1"/>
          <p:nvPr/>
        </p:nvSpPr>
        <p:spPr>
          <a:xfrm>
            <a:off x="640080" y="4224528"/>
            <a:ext cx="6537960" cy="457200"/>
          </a:xfrm>
          <a:prstGeom prst="rect">
            <a:avLst/>
          </a:prstGeom>
          <a:noFill/>
          <a:ln/>
        </p:spPr>
        <p:txBody>
          <a:bodyPr wrap="square" lIns="0" tIns="0" rIns="0" bIns="0" rtlCol="0" anchor="ctr"/>
          <a:lstStyle/>
          <a:p>
            <a:pPr indent="0" marL="0">
              <a:buNone/>
            </a:pPr>
            <a:r>
              <a:rPr lang="en-US" sz="1200" dirty="0">
                <a:solidFill>
                  <a:srgbClr val="5A6672"/>
                </a:solidFill>
                <a:latin typeface="Calibri" pitchFamily="34" charset="0"/>
                <a:ea typeface="Calibri" pitchFamily="34" charset="-122"/>
                <a:cs typeface="Calibri" pitchFamily="34" charset="-120"/>
              </a:rPr>
              <a:t>local.properties is gitignored; secrets.defaults.properties is committed with placeholders so the structure is visible without exposing a key.</a:t>
            </a:r>
            <a:endParaRPr lang="en-US" sz="1200" dirty="0"/>
          </a:p>
        </p:txBody>
      </p:sp>
      <p:sp>
        <p:nvSpPr>
          <p:cNvPr id="11" name="Shape 8"/>
          <p:cNvSpPr/>
          <p:nvPr/>
        </p:nvSpPr>
        <p:spPr>
          <a:xfrm>
            <a:off x="7498080" y="1691640"/>
            <a:ext cx="4053535" cy="2057400"/>
          </a:xfrm>
          <a:prstGeom prst="roundRect">
            <a:avLst>
              <a:gd name="adj" fmla="val 4000"/>
            </a:avLst>
          </a:prstGeom>
          <a:solidFill>
            <a:srgbClr val="EAF2FA"/>
          </a:solidFill>
          <a:ln w="12700">
            <a:solidFill>
              <a:srgbClr val="EAF2FA"/>
            </a:solidFill>
            <a:prstDash val="solid"/>
          </a:ln>
        </p:spPr>
      </p:sp>
      <p:sp>
        <p:nvSpPr>
          <p:cNvPr id="12" name="Text 9"/>
          <p:cNvSpPr txBox="1"/>
          <p:nvPr/>
        </p:nvSpPr>
        <p:spPr>
          <a:xfrm>
            <a:off x="7772400" y="1847088"/>
            <a:ext cx="3504895" cy="274320"/>
          </a:xfrm>
          <a:prstGeom prst="rect">
            <a:avLst/>
          </a:prstGeom>
          <a:noFill/>
          <a:ln/>
        </p:spPr>
        <p:txBody>
          <a:bodyPr wrap="square" lIns="0" tIns="0" rIns="0" bIns="0" rtlCol="0" anchor="ctr"/>
          <a:lstStyle/>
          <a:p>
            <a:pPr indent="0" marL="0">
              <a:buNone/>
            </a:pPr>
            <a:r>
              <a:rPr lang="en-US" sz="1350" b="1" dirty="0">
                <a:solidFill>
                  <a:srgbClr val="1B7A4B"/>
                </a:solidFill>
                <a:latin typeface="Calibri" pitchFamily="34" charset="0"/>
                <a:ea typeface="Calibri" pitchFamily="34" charset="-122"/>
                <a:cs typeface="Calibri" pitchFamily="34" charset="-120"/>
              </a:rPr>
              <a:t>Safe in a client app</a:t>
            </a:r>
            <a:endParaRPr lang="en-US" sz="1350" dirty="0"/>
          </a:p>
        </p:txBody>
      </p:sp>
      <p:sp>
        <p:nvSpPr>
          <p:cNvPr id="13" name="Text 10"/>
          <p:cNvSpPr txBox="1"/>
          <p:nvPr/>
        </p:nvSpPr>
        <p:spPr>
          <a:xfrm>
            <a:off x="7772400" y="2194560"/>
            <a:ext cx="3504895" cy="14173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0B2545"/>
                </a:solidFill>
                <a:latin typeface="Calibri" pitchFamily="34" charset="0"/>
                <a:ea typeface="Calibri" pitchFamily="34" charset="-122"/>
                <a:cs typeface="Calibri" pitchFamily="34" charset="-120"/>
              </a:rPr>
              <a:t>Clerk publishable key (pk_test_…) — public by design</a:t>
            </a:r>
            <a:endParaRPr lang="en-US" sz="1150" dirty="0"/>
          </a:p>
          <a:p>
            <a:pPr marL="342900" indent="-342900">
              <a:spcAft>
                <a:spcPts val="700"/>
              </a:spcAft>
              <a:buSzPct val="100000"/>
              <a:buChar char="•"/>
            </a:pPr>
            <a:r>
              <a:rPr lang="en-US" sz="1150" dirty="0">
                <a:solidFill>
                  <a:srgbClr val="0B2545"/>
                </a:solidFill>
                <a:latin typeface="Calibri" pitchFamily="34" charset="0"/>
                <a:ea typeface="Calibri" pitchFamily="34" charset="-122"/>
                <a:cs typeface="Calibri" pitchFamily="34" charset="-120"/>
              </a:rPr>
              <a:t>Supabase project URL — not a secret</a:t>
            </a:r>
            <a:endParaRPr lang="en-US" sz="1150" dirty="0"/>
          </a:p>
          <a:p>
            <a:pPr marL="342900" indent="-342900">
              <a:spcAft>
                <a:spcPts val="700"/>
              </a:spcAft>
              <a:buSzPct val="100000"/>
              <a:buChar char="•"/>
            </a:pPr>
            <a:r>
              <a:rPr lang="en-US" sz="1150" dirty="0">
                <a:solidFill>
                  <a:srgbClr val="0B2545"/>
                </a:solidFill>
                <a:latin typeface="Calibri" pitchFamily="34" charset="0"/>
                <a:ea typeface="Calibri" pitchFamily="34" charset="-122"/>
                <a:cs typeface="Calibri" pitchFamily="34" charset="-120"/>
              </a:rPr>
              <a:t>Supabase anon key — restricted by row-level security</a:t>
            </a:r>
            <a:endParaRPr lang="en-US" sz="1150" dirty="0"/>
          </a:p>
        </p:txBody>
      </p:sp>
      <p:sp>
        <p:nvSpPr>
          <p:cNvPr id="14" name="Shape 11"/>
          <p:cNvSpPr/>
          <p:nvPr/>
        </p:nvSpPr>
        <p:spPr>
          <a:xfrm>
            <a:off x="7498080" y="3931920"/>
            <a:ext cx="4053535" cy="2148840"/>
          </a:xfrm>
          <a:prstGeom prst="roundRect">
            <a:avLst>
              <a:gd name="adj" fmla="val 3830"/>
            </a:avLst>
          </a:prstGeom>
          <a:solidFill>
            <a:srgbClr val="FDECEC"/>
          </a:solidFill>
          <a:ln w="12700">
            <a:solidFill>
              <a:srgbClr val="FDECEC"/>
            </a:solidFill>
            <a:prstDash val="solid"/>
          </a:ln>
        </p:spPr>
      </p:sp>
      <p:sp>
        <p:nvSpPr>
          <p:cNvPr id="15" name="Text 12"/>
          <p:cNvSpPr txBox="1"/>
          <p:nvPr/>
        </p:nvSpPr>
        <p:spPr>
          <a:xfrm>
            <a:off x="7772400" y="4087368"/>
            <a:ext cx="3504895" cy="274320"/>
          </a:xfrm>
          <a:prstGeom prst="rect">
            <a:avLst/>
          </a:prstGeom>
          <a:noFill/>
          <a:ln/>
        </p:spPr>
        <p:txBody>
          <a:bodyPr wrap="square" lIns="0" tIns="0" rIns="0" bIns="0" rtlCol="0" anchor="ctr"/>
          <a:lstStyle/>
          <a:p>
            <a:pPr indent="0" marL="0">
              <a:buNone/>
            </a:pPr>
            <a:r>
              <a:rPr lang="en-US" sz="1350" b="1" dirty="0">
                <a:solidFill>
                  <a:srgbClr val="B3261E"/>
                </a:solidFill>
                <a:latin typeface="Calibri" pitchFamily="34" charset="0"/>
                <a:ea typeface="Calibri" pitchFamily="34" charset="-122"/>
                <a:cs typeface="Calibri" pitchFamily="34" charset="-120"/>
              </a:rPr>
              <a:t>Never in the APK</a:t>
            </a:r>
            <a:endParaRPr lang="en-US" sz="1350" dirty="0"/>
          </a:p>
        </p:txBody>
      </p:sp>
      <p:sp>
        <p:nvSpPr>
          <p:cNvPr id="16" name="Text 13"/>
          <p:cNvSpPr txBox="1"/>
          <p:nvPr/>
        </p:nvSpPr>
        <p:spPr>
          <a:xfrm>
            <a:off x="7772400" y="4434840"/>
            <a:ext cx="3504895" cy="146304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7A1A16"/>
                </a:solidFill>
                <a:latin typeface="Calibri" pitchFamily="34" charset="0"/>
                <a:ea typeface="Calibri" pitchFamily="34" charset="-122"/>
                <a:cs typeface="Calibri" pitchFamily="34" charset="-120"/>
              </a:rPr>
              <a:t>Clerk secret key (sk_test_…) — server-side only</a:t>
            </a:r>
            <a:endParaRPr lang="en-US" sz="1150" dirty="0"/>
          </a:p>
          <a:p>
            <a:pPr marL="342900" indent="-342900">
              <a:spcAft>
                <a:spcPts val="700"/>
              </a:spcAft>
              <a:buSzPct val="100000"/>
              <a:buChar char="•"/>
            </a:pPr>
            <a:r>
              <a:rPr lang="en-US" sz="1150" dirty="0">
                <a:solidFill>
                  <a:srgbClr val="7A1A16"/>
                </a:solidFill>
                <a:latin typeface="Calibri" pitchFamily="34" charset="0"/>
                <a:ea typeface="Calibri" pitchFamily="34" charset="-122"/>
                <a:cs typeface="Calibri" pitchFamily="34" charset="-120"/>
              </a:rPr>
              <a:t>Supabase service_role key — bypasses RLS entirely</a:t>
            </a:r>
            <a:endParaRPr lang="en-US" sz="1150" dirty="0"/>
          </a:p>
          <a:p>
            <a:pPr marL="342900" indent="-342900">
              <a:spcAft>
                <a:spcPts val="700"/>
              </a:spcAft>
              <a:buSzPct val="100000"/>
              <a:buChar char="•"/>
            </a:pPr>
            <a:r>
              <a:rPr lang="en-US" sz="1150" dirty="0">
                <a:solidFill>
                  <a:srgbClr val="7A1A16"/>
                </a:solidFill>
                <a:latin typeface="Calibri" pitchFamily="34" charset="0"/>
                <a:ea typeface="Calibri" pitchFamily="34" charset="-122"/>
                <a:cs typeface="Calibri" pitchFamily="34" charset="-120"/>
              </a:rPr>
              <a:t>Clerk JWKS private key — server-side only</a:t>
            </a:r>
            <a:endParaRPr lang="en-US" sz="1150" dirty="0"/>
          </a:p>
        </p:txBody>
      </p:sp>
      <p:sp>
        <p:nvSpPr>
          <p:cNvPr id="17" name="Shape 14"/>
          <p:cNvSpPr/>
          <p:nvPr/>
        </p:nvSpPr>
        <p:spPr>
          <a:xfrm>
            <a:off x="640080" y="4709160"/>
            <a:ext cx="6537960" cy="1371600"/>
          </a:xfrm>
          <a:prstGeom prst="roundRect">
            <a:avLst>
              <a:gd name="adj" fmla="val 6000"/>
            </a:avLst>
          </a:prstGeom>
          <a:solidFill>
            <a:srgbClr val="0B2545"/>
          </a:solidFill>
          <a:ln w="12700">
            <a:solidFill>
              <a:srgbClr val="0B2545"/>
            </a:solidFill>
            <a:prstDash val="solid"/>
          </a:ln>
        </p:spPr>
      </p:sp>
      <p:sp>
        <p:nvSpPr>
          <p:cNvPr id="18" name="Text 15"/>
          <p:cNvSpPr txBox="1"/>
          <p:nvPr/>
        </p:nvSpPr>
        <p:spPr>
          <a:xfrm>
            <a:off x="914400" y="4846320"/>
            <a:ext cx="5943600" cy="274320"/>
          </a:xfrm>
          <a:prstGeom prst="rect">
            <a:avLst/>
          </a:prstGeom>
          <a:noFill/>
          <a:ln/>
        </p:spPr>
        <p:txBody>
          <a:bodyPr wrap="square" lIns="0" tIns="0" rIns="0" bIns="0" rtlCol="0" anchor="ctr"/>
          <a:lstStyle/>
          <a:p>
            <a:pPr indent="0" marL="0">
              <a:buNone/>
            </a:pPr>
            <a:r>
              <a:rPr lang="en-US" sz="1300" b="1" dirty="0">
                <a:solidFill>
                  <a:srgbClr val="6FB3E8"/>
                </a:solidFill>
                <a:latin typeface="Calibri" pitchFamily="34" charset="0"/>
                <a:ea typeface="Calibri" pitchFamily="34" charset="-122"/>
                <a:cs typeface="Calibri" pitchFamily="34" charset="-120"/>
              </a:rPr>
              <a:t>The principle</a:t>
            </a:r>
            <a:endParaRPr lang="en-US" sz="1300" dirty="0"/>
          </a:p>
        </p:txBody>
      </p:sp>
      <p:sp>
        <p:nvSpPr>
          <p:cNvPr id="19" name="Text 16"/>
          <p:cNvSpPr txBox="1"/>
          <p:nvPr/>
        </p:nvSpPr>
        <p:spPr>
          <a:xfrm>
            <a:off x="914400" y="5175504"/>
            <a:ext cx="5943600" cy="777240"/>
          </a:xfrm>
          <a:prstGeom prst="rect">
            <a:avLst/>
          </a:prstGeom>
          <a:noFill/>
          <a:ln/>
        </p:spPr>
        <p:txBody>
          <a:bodyPr wrap="square" lIns="0" tIns="0" rIns="0" bIns="0" rtlCol="0" anchor="ctr"/>
          <a:lstStyle/>
          <a:p>
            <a:pPr indent="0" marL="0">
              <a:lnSpc>
                <a:spcPts val="1700"/>
              </a:lnSpc>
              <a:buNone/>
            </a:pPr>
            <a:r>
              <a:rPr lang="en-US" sz="1200" dirty="0">
                <a:solidFill>
                  <a:srgbClr val="D2E2F0"/>
                </a:solidFill>
                <a:latin typeface="Calibri" pitchFamily="34" charset="0"/>
                <a:ea typeface="Calibri" pitchFamily="34" charset="-122"/>
                <a:cs typeface="Calibri" pitchFamily="34" charset="-120"/>
              </a:rPr>
              <a:t>Anything shipped inside an APK can be extracted. So only keys that are safe when public go in — everything else stays on the provider's servers.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1464A8"/>
                </a:solidFill>
                <a:latin typeface="Calibri" pitchFamily="34" charset="0"/>
                <a:ea typeface="Calibri" pitchFamily="34" charset="-122"/>
                <a:cs typeface="Calibri" pitchFamily="34" charset="-120"/>
              </a:rPr>
              <a:t>10 · THE WEB SIDE</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The landing page — how the app is distributed</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A separate React project that presents the app and serves the APK download.</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8A96A3"/>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8A96A3"/>
                </a:solidFill>
                <a:latin typeface="Calibri" pitchFamily="34" charset="0"/>
                <a:ea typeface="Calibri" pitchFamily="34" charset="-122"/>
                <a:cs typeface="Calibri" pitchFamily="34" charset="-120"/>
              </a:rPr>
              <a:t>31</a:t>
            </a:r>
            <a:endParaRPr lang="en-US" sz="900" dirty="0"/>
          </a:p>
        </p:txBody>
      </p:sp>
      <p:sp>
        <p:nvSpPr>
          <p:cNvPr id="8" name="Shape 5"/>
          <p:cNvSpPr/>
          <p:nvPr/>
        </p:nvSpPr>
        <p:spPr>
          <a:xfrm>
            <a:off x="640080" y="1691640"/>
            <a:ext cx="3360420" cy="804672"/>
          </a:xfrm>
          <a:prstGeom prst="roundRect">
            <a:avLst>
              <a:gd name="adj" fmla="val 10227"/>
            </a:avLst>
          </a:prstGeom>
          <a:solidFill>
            <a:srgbClr val="EAF2FA"/>
          </a:solidFill>
          <a:ln w="12700">
            <a:solidFill>
              <a:srgbClr val="D8E1EA"/>
            </a:solidFill>
            <a:prstDash val="solid"/>
          </a:ln>
        </p:spPr>
      </p:sp>
      <p:sp>
        <p:nvSpPr>
          <p:cNvPr id="9" name="Text 6"/>
          <p:cNvSpPr txBox="1"/>
          <p:nvPr/>
        </p:nvSpPr>
        <p:spPr>
          <a:xfrm>
            <a:off x="859536" y="1783080"/>
            <a:ext cx="2921508" cy="25603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React 19</a:t>
            </a:r>
            <a:endParaRPr lang="en-US" sz="1350" dirty="0"/>
          </a:p>
        </p:txBody>
      </p:sp>
      <p:sp>
        <p:nvSpPr>
          <p:cNvPr id="10" name="Text 7"/>
          <p:cNvSpPr txBox="1"/>
          <p:nvPr/>
        </p:nvSpPr>
        <p:spPr>
          <a:xfrm>
            <a:off x="859536" y="2039112"/>
            <a:ext cx="2921508" cy="402336"/>
          </a:xfrm>
          <a:prstGeom prst="rect">
            <a:avLst/>
          </a:prstGeom>
          <a:noFill/>
          <a:ln/>
        </p:spPr>
        <p:txBody>
          <a:bodyPr wrap="square" lIns="0" tIns="0" rIns="0" bIns="0" rtlCol="0" anchor="ctr"/>
          <a:lstStyle/>
          <a:p>
            <a:pPr indent="0" marL="0">
              <a:lnSpc>
                <a:spcPts val="1400"/>
              </a:lnSpc>
              <a:buNone/>
            </a:pPr>
            <a:r>
              <a:rPr lang="en-US" sz="1050" dirty="0">
                <a:solidFill>
                  <a:srgbClr val="5A6672"/>
                </a:solidFill>
                <a:latin typeface="Calibri" pitchFamily="34" charset="0"/>
                <a:ea typeface="Calibri" pitchFamily="34" charset="-122"/>
                <a:cs typeface="Calibri" pitchFamily="34" charset="-120"/>
              </a:rPr>
              <a:t>Component-based UI, the same declarative idea as Compose but for the web</a:t>
            </a:r>
            <a:endParaRPr lang="en-US" sz="1050" dirty="0"/>
          </a:p>
        </p:txBody>
      </p:sp>
      <p:sp>
        <p:nvSpPr>
          <p:cNvPr id="11" name="Shape 8"/>
          <p:cNvSpPr/>
          <p:nvPr/>
        </p:nvSpPr>
        <p:spPr>
          <a:xfrm>
            <a:off x="4229100" y="1691640"/>
            <a:ext cx="3360420" cy="804672"/>
          </a:xfrm>
          <a:prstGeom prst="roundRect">
            <a:avLst>
              <a:gd name="adj" fmla="val 10227"/>
            </a:avLst>
          </a:prstGeom>
          <a:solidFill>
            <a:srgbClr val="EAF2FA"/>
          </a:solidFill>
          <a:ln w="12700">
            <a:solidFill>
              <a:srgbClr val="D8E1EA"/>
            </a:solidFill>
            <a:prstDash val="solid"/>
          </a:ln>
        </p:spPr>
      </p:sp>
      <p:sp>
        <p:nvSpPr>
          <p:cNvPr id="12" name="Text 9"/>
          <p:cNvSpPr txBox="1"/>
          <p:nvPr/>
        </p:nvSpPr>
        <p:spPr>
          <a:xfrm>
            <a:off x="4448556" y="1783080"/>
            <a:ext cx="2921508" cy="25603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TypeScript 5.9</a:t>
            </a:r>
            <a:endParaRPr lang="en-US" sz="1350" dirty="0"/>
          </a:p>
        </p:txBody>
      </p:sp>
      <p:sp>
        <p:nvSpPr>
          <p:cNvPr id="13" name="Text 10"/>
          <p:cNvSpPr txBox="1"/>
          <p:nvPr/>
        </p:nvSpPr>
        <p:spPr>
          <a:xfrm>
            <a:off x="4448556" y="2039112"/>
            <a:ext cx="2921508" cy="402336"/>
          </a:xfrm>
          <a:prstGeom prst="rect">
            <a:avLst/>
          </a:prstGeom>
          <a:noFill/>
          <a:ln/>
        </p:spPr>
        <p:txBody>
          <a:bodyPr wrap="square" lIns="0" tIns="0" rIns="0" bIns="0" rtlCol="0" anchor="ctr"/>
          <a:lstStyle/>
          <a:p>
            <a:pPr indent="0" marL="0">
              <a:lnSpc>
                <a:spcPts val="1400"/>
              </a:lnSpc>
              <a:buNone/>
            </a:pPr>
            <a:r>
              <a:rPr lang="en-US" sz="1050" dirty="0">
                <a:solidFill>
                  <a:srgbClr val="5A6672"/>
                </a:solidFill>
                <a:latin typeface="Calibri" pitchFamily="34" charset="0"/>
                <a:ea typeface="Calibri" pitchFamily="34" charset="-122"/>
                <a:cs typeface="Calibri" pitchFamily="34" charset="-120"/>
              </a:rPr>
              <a:t>Static types across the whole site — the same safety argument as Kotlin</a:t>
            </a:r>
            <a:endParaRPr lang="en-US" sz="1050" dirty="0"/>
          </a:p>
        </p:txBody>
      </p:sp>
      <p:sp>
        <p:nvSpPr>
          <p:cNvPr id="14" name="Shape 11"/>
          <p:cNvSpPr/>
          <p:nvPr/>
        </p:nvSpPr>
        <p:spPr>
          <a:xfrm>
            <a:off x="640080" y="2606040"/>
            <a:ext cx="3360420" cy="804672"/>
          </a:xfrm>
          <a:prstGeom prst="roundRect">
            <a:avLst>
              <a:gd name="adj" fmla="val 10227"/>
            </a:avLst>
          </a:prstGeom>
          <a:solidFill>
            <a:srgbClr val="F4F6F8"/>
          </a:solidFill>
          <a:ln w="12700">
            <a:solidFill>
              <a:srgbClr val="D8E1EA"/>
            </a:solidFill>
            <a:prstDash val="solid"/>
          </a:ln>
        </p:spPr>
      </p:sp>
      <p:sp>
        <p:nvSpPr>
          <p:cNvPr id="15" name="Text 12"/>
          <p:cNvSpPr txBox="1"/>
          <p:nvPr/>
        </p:nvSpPr>
        <p:spPr>
          <a:xfrm>
            <a:off x="859536" y="2697480"/>
            <a:ext cx="2921508" cy="25603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Vite 6</a:t>
            </a:r>
            <a:endParaRPr lang="en-US" sz="1350" dirty="0"/>
          </a:p>
        </p:txBody>
      </p:sp>
      <p:sp>
        <p:nvSpPr>
          <p:cNvPr id="16" name="Text 13"/>
          <p:cNvSpPr txBox="1"/>
          <p:nvPr/>
        </p:nvSpPr>
        <p:spPr>
          <a:xfrm>
            <a:off x="859536" y="2953512"/>
            <a:ext cx="2921508" cy="402336"/>
          </a:xfrm>
          <a:prstGeom prst="rect">
            <a:avLst/>
          </a:prstGeom>
          <a:noFill/>
          <a:ln/>
        </p:spPr>
        <p:txBody>
          <a:bodyPr wrap="square" lIns="0" tIns="0" rIns="0" bIns="0" rtlCol="0" anchor="ctr"/>
          <a:lstStyle/>
          <a:p>
            <a:pPr indent="0" marL="0">
              <a:lnSpc>
                <a:spcPts val="1400"/>
              </a:lnSpc>
              <a:buNone/>
            </a:pPr>
            <a:r>
              <a:rPr lang="en-US" sz="1050" dirty="0">
                <a:solidFill>
                  <a:srgbClr val="5A6672"/>
                </a:solidFill>
                <a:latin typeface="Calibri" pitchFamily="34" charset="0"/>
                <a:ea typeface="Calibri" pitchFamily="34" charset="-122"/>
                <a:cs typeface="Calibri" pitchFamily="34" charset="-120"/>
              </a:rPr>
              <a:t>Dev server with hot reload; builds a static bundle for production</a:t>
            </a:r>
            <a:endParaRPr lang="en-US" sz="1050" dirty="0"/>
          </a:p>
        </p:txBody>
      </p:sp>
      <p:sp>
        <p:nvSpPr>
          <p:cNvPr id="17" name="Shape 14"/>
          <p:cNvSpPr/>
          <p:nvPr/>
        </p:nvSpPr>
        <p:spPr>
          <a:xfrm>
            <a:off x="4229100" y="2606040"/>
            <a:ext cx="3360420" cy="804672"/>
          </a:xfrm>
          <a:prstGeom prst="roundRect">
            <a:avLst>
              <a:gd name="adj" fmla="val 10227"/>
            </a:avLst>
          </a:prstGeom>
          <a:solidFill>
            <a:srgbClr val="F4F6F8"/>
          </a:solidFill>
          <a:ln w="12700">
            <a:solidFill>
              <a:srgbClr val="D8E1EA"/>
            </a:solidFill>
            <a:prstDash val="solid"/>
          </a:ln>
        </p:spPr>
      </p:sp>
      <p:sp>
        <p:nvSpPr>
          <p:cNvPr id="18" name="Text 15"/>
          <p:cNvSpPr txBox="1"/>
          <p:nvPr/>
        </p:nvSpPr>
        <p:spPr>
          <a:xfrm>
            <a:off x="4448556" y="2697480"/>
            <a:ext cx="2921508" cy="25603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Tailwind 4</a:t>
            </a:r>
            <a:endParaRPr lang="en-US" sz="1350" dirty="0"/>
          </a:p>
        </p:txBody>
      </p:sp>
      <p:sp>
        <p:nvSpPr>
          <p:cNvPr id="19" name="Text 16"/>
          <p:cNvSpPr txBox="1"/>
          <p:nvPr/>
        </p:nvSpPr>
        <p:spPr>
          <a:xfrm>
            <a:off x="4448556" y="2953512"/>
            <a:ext cx="2921508" cy="402336"/>
          </a:xfrm>
          <a:prstGeom prst="rect">
            <a:avLst/>
          </a:prstGeom>
          <a:noFill/>
          <a:ln/>
        </p:spPr>
        <p:txBody>
          <a:bodyPr wrap="square" lIns="0" tIns="0" rIns="0" bIns="0" rtlCol="0" anchor="ctr"/>
          <a:lstStyle/>
          <a:p>
            <a:pPr indent="0" marL="0">
              <a:lnSpc>
                <a:spcPts val="1400"/>
              </a:lnSpc>
              <a:buNone/>
            </a:pPr>
            <a:r>
              <a:rPr lang="en-US" sz="1050" dirty="0">
                <a:solidFill>
                  <a:srgbClr val="5A6672"/>
                </a:solidFill>
                <a:latin typeface="Calibri" pitchFamily="34" charset="0"/>
                <a:ea typeface="Calibri" pitchFamily="34" charset="-122"/>
                <a:cs typeface="Calibri" pitchFamily="34" charset="-120"/>
              </a:rPr>
              <a:t>Utility-first styling alongside hand-written CSS for the animated sections</a:t>
            </a:r>
            <a:endParaRPr lang="en-US" sz="1050" dirty="0"/>
          </a:p>
        </p:txBody>
      </p:sp>
      <p:sp>
        <p:nvSpPr>
          <p:cNvPr id="20" name="Shape 17"/>
          <p:cNvSpPr/>
          <p:nvPr/>
        </p:nvSpPr>
        <p:spPr>
          <a:xfrm>
            <a:off x="640080" y="3520440"/>
            <a:ext cx="3360420" cy="804672"/>
          </a:xfrm>
          <a:prstGeom prst="roundRect">
            <a:avLst>
              <a:gd name="adj" fmla="val 10227"/>
            </a:avLst>
          </a:prstGeom>
          <a:solidFill>
            <a:srgbClr val="EAF2FA"/>
          </a:solidFill>
          <a:ln w="12700">
            <a:solidFill>
              <a:srgbClr val="D8E1EA"/>
            </a:solidFill>
            <a:prstDash val="solid"/>
          </a:ln>
        </p:spPr>
      </p:sp>
      <p:sp>
        <p:nvSpPr>
          <p:cNvPr id="21" name="Text 18"/>
          <p:cNvSpPr txBox="1"/>
          <p:nvPr/>
        </p:nvSpPr>
        <p:spPr>
          <a:xfrm>
            <a:off x="859536" y="3611880"/>
            <a:ext cx="2921508" cy="25603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React Router 7</a:t>
            </a:r>
            <a:endParaRPr lang="en-US" sz="1350" dirty="0"/>
          </a:p>
        </p:txBody>
      </p:sp>
      <p:sp>
        <p:nvSpPr>
          <p:cNvPr id="22" name="Text 19"/>
          <p:cNvSpPr txBox="1"/>
          <p:nvPr/>
        </p:nvSpPr>
        <p:spPr>
          <a:xfrm>
            <a:off x="859536" y="3867912"/>
            <a:ext cx="2921508" cy="402336"/>
          </a:xfrm>
          <a:prstGeom prst="rect">
            <a:avLst/>
          </a:prstGeom>
          <a:noFill/>
          <a:ln/>
        </p:spPr>
        <p:txBody>
          <a:bodyPr wrap="square" lIns="0" tIns="0" rIns="0" bIns="0" rtlCol="0" anchor="ctr"/>
          <a:lstStyle/>
          <a:p>
            <a:pPr indent="0" marL="0">
              <a:lnSpc>
                <a:spcPts val="1400"/>
              </a:lnSpc>
              <a:buNone/>
            </a:pPr>
            <a:r>
              <a:rPr lang="en-US" sz="1050" dirty="0">
                <a:solidFill>
                  <a:srgbClr val="5A6672"/>
                </a:solidFill>
                <a:latin typeface="Calibri" pitchFamily="34" charset="0"/>
                <a:ea typeface="Calibri" pitchFamily="34" charset="-122"/>
                <a:cs typeface="Calibri" pitchFamily="34" charset="-120"/>
              </a:rPr>
              <a:t>Client-side routing</a:t>
            </a:r>
            <a:endParaRPr lang="en-US" sz="1050" dirty="0"/>
          </a:p>
        </p:txBody>
      </p:sp>
      <p:sp>
        <p:nvSpPr>
          <p:cNvPr id="23" name="Shape 20"/>
          <p:cNvSpPr/>
          <p:nvPr/>
        </p:nvSpPr>
        <p:spPr>
          <a:xfrm>
            <a:off x="4229100" y="3520440"/>
            <a:ext cx="3360420" cy="804672"/>
          </a:xfrm>
          <a:prstGeom prst="roundRect">
            <a:avLst>
              <a:gd name="adj" fmla="val 10227"/>
            </a:avLst>
          </a:prstGeom>
          <a:solidFill>
            <a:srgbClr val="EAF2FA"/>
          </a:solidFill>
          <a:ln w="12700">
            <a:solidFill>
              <a:srgbClr val="D8E1EA"/>
            </a:solidFill>
            <a:prstDash val="solid"/>
          </a:ln>
        </p:spPr>
      </p:sp>
      <p:sp>
        <p:nvSpPr>
          <p:cNvPr id="24" name="Text 21"/>
          <p:cNvSpPr txBox="1"/>
          <p:nvPr/>
        </p:nvSpPr>
        <p:spPr>
          <a:xfrm>
            <a:off x="4448556" y="3611880"/>
            <a:ext cx="2921508" cy="25603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Lucide React</a:t>
            </a:r>
            <a:endParaRPr lang="en-US" sz="1350" dirty="0"/>
          </a:p>
        </p:txBody>
      </p:sp>
      <p:sp>
        <p:nvSpPr>
          <p:cNvPr id="25" name="Text 22"/>
          <p:cNvSpPr txBox="1"/>
          <p:nvPr/>
        </p:nvSpPr>
        <p:spPr>
          <a:xfrm>
            <a:off x="4448556" y="3867912"/>
            <a:ext cx="2921508" cy="402336"/>
          </a:xfrm>
          <a:prstGeom prst="rect">
            <a:avLst/>
          </a:prstGeom>
          <a:noFill/>
          <a:ln/>
        </p:spPr>
        <p:txBody>
          <a:bodyPr wrap="square" lIns="0" tIns="0" rIns="0" bIns="0" rtlCol="0" anchor="ctr"/>
          <a:lstStyle/>
          <a:p>
            <a:pPr indent="0" marL="0">
              <a:lnSpc>
                <a:spcPts val="1400"/>
              </a:lnSpc>
              <a:buNone/>
            </a:pPr>
            <a:r>
              <a:rPr lang="en-US" sz="1050" dirty="0">
                <a:solidFill>
                  <a:srgbClr val="5A6672"/>
                </a:solidFill>
                <a:latin typeface="Calibri" pitchFamily="34" charset="0"/>
                <a:ea typeface="Calibri" pitchFamily="34" charset="-122"/>
                <a:cs typeface="Calibri" pitchFamily="34" charset="-120"/>
              </a:rPr>
              <a:t>Icon set used across the feature cards</a:t>
            </a:r>
            <a:endParaRPr lang="en-US" sz="1050" dirty="0"/>
          </a:p>
        </p:txBody>
      </p:sp>
      <p:sp>
        <p:nvSpPr>
          <p:cNvPr id="26" name="Shape 23"/>
          <p:cNvSpPr/>
          <p:nvPr/>
        </p:nvSpPr>
        <p:spPr>
          <a:xfrm>
            <a:off x="640080" y="4434840"/>
            <a:ext cx="6949440" cy="1645920"/>
          </a:xfrm>
          <a:prstGeom prst="roundRect">
            <a:avLst>
              <a:gd name="adj" fmla="val 5000"/>
            </a:avLst>
          </a:prstGeom>
          <a:solidFill>
            <a:srgbClr val="0B2545"/>
          </a:solidFill>
          <a:ln w="12700">
            <a:solidFill>
              <a:srgbClr val="0B2545"/>
            </a:solidFill>
            <a:prstDash val="solid"/>
          </a:ln>
        </p:spPr>
      </p:sp>
      <p:sp>
        <p:nvSpPr>
          <p:cNvPr id="27" name="Text 24"/>
          <p:cNvSpPr txBox="1"/>
          <p:nvPr/>
        </p:nvSpPr>
        <p:spPr>
          <a:xfrm>
            <a:off x="914400" y="4572000"/>
            <a:ext cx="6400800" cy="274320"/>
          </a:xfrm>
          <a:prstGeom prst="rect">
            <a:avLst/>
          </a:prstGeom>
          <a:noFill/>
          <a:ln/>
        </p:spPr>
        <p:txBody>
          <a:bodyPr wrap="square" lIns="0" tIns="0" rIns="0" bIns="0" rtlCol="0" anchor="ctr"/>
          <a:lstStyle/>
          <a:p>
            <a:pPr indent="0" marL="0">
              <a:buNone/>
            </a:pPr>
            <a:r>
              <a:rPr lang="en-US" sz="1300" b="1" dirty="0">
                <a:solidFill>
                  <a:srgbClr val="6FB3E8"/>
                </a:solidFill>
                <a:latin typeface="Calibri" pitchFamily="34" charset="0"/>
                <a:ea typeface="Calibri" pitchFamily="34" charset="-122"/>
                <a:cs typeface="Calibri" pitchFamily="34" charset="-120"/>
              </a:rPr>
              <a:t>How it is built and shipped</a:t>
            </a:r>
            <a:endParaRPr lang="en-US" sz="1300" dirty="0"/>
          </a:p>
        </p:txBody>
      </p:sp>
      <p:sp>
        <p:nvSpPr>
          <p:cNvPr id="28" name="Text 25"/>
          <p:cNvSpPr txBox="1"/>
          <p:nvPr/>
        </p:nvSpPr>
        <p:spPr>
          <a:xfrm>
            <a:off x="914400" y="4901184"/>
            <a:ext cx="6400800" cy="1051560"/>
          </a:xfrm>
          <a:prstGeom prst="rect">
            <a:avLst/>
          </a:prstGeom>
          <a:noFill/>
          <a:ln/>
        </p:spPr>
        <p:txBody>
          <a:bodyPr wrap="square" lIns="0" tIns="0" rIns="0" bIns="0" rtlCol="0" anchor="ctr"/>
          <a:lstStyle/>
          <a:p>
            <a:pPr indent="0" marL="0">
              <a:lnSpc>
                <a:spcPts val="1700"/>
              </a:lnSpc>
              <a:buNone/>
            </a:pPr>
            <a:r>
              <a:rPr lang="en-US" sz="1050" dirty="0">
                <a:solidFill>
                  <a:srgbClr val="D2E2F0"/>
                </a:solidFill>
                <a:latin typeface="Courier New" pitchFamily="34" charset="0"/>
                <a:ea typeface="Courier New" pitchFamily="34" charset="-122"/>
                <a:cs typeface="Courier New" pitchFamily="34" charset="-120"/>
              </a:rPr>
              <a:t>npm run dev  →  local Vite dev server with hot reload</a:t>
            </a:r>
            <a:endParaRPr lang="en-US" sz="1050" dirty="0"/>
          </a:p>
          <a:p>
            <a:pPr indent="0" marL="0">
              <a:lnSpc>
                <a:spcPts val="1700"/>
              </a:lnSpc>
              <a:buNone/>
            </a:pPr>
            <a:r>
              <a:rPr lang="en-US" sz="1050" dirty="0">
                <a:solidFill>
                  <a:srgbClr val="D2E2F0"/>
                </a:solidFill>
                <a:latin typeface="Courier New" pitchFamily="34" charset="0"/>
                <a:ea typeface="Courier New" pitchFamily="34" charset="-122"/>
                <a:cs typeface="Courier New" pitchFamily="34" charset="-120"/>
              </a:rPr>
              <a:t>npm run build  →  type-check, then a static bundle in dist/</a:t>
            </a:r>
            <a:endParaRPr lang="en-US" sz="1050" dirty="0"/>
          </a:p>
          <a:p>
            <a:pPr indent="0" marL="0">
              <a:lnSpc>
                <a:spcPts val="1700"/>
              </a:lnSpc>
              <a:buNone/>
            </a:pPr>
            <a:r>
              <a:rPr lang="en-US" sz="1050" dirty="0">
                <a:solidFill>
                  <a:srgbClr val="D2E2F0"/>
                </a:solidFill>
                <a:latin typeface="Courier New" pitchFamily="34" charset="0"/>
                <a:ea typeface="Courier New" pitchFamily="34" charset="-122"/>
                <a:cs typeface="Courier New" pitchFamily="34" charset="-120"/>
              </a:rPr>
              <a:t>The release APK sits in public/TDM-Insight.apk and is served by the Download button.</a:t>
            </a:r>
            <a:endParaRPr lang="en-US" sz="1050" dirty="0"/>
          </a:p>
        </p:txBody>
      </p:sp>
      <p:sp>
        <p:nvSpPr>
          <p:cNvPr id="29" name="Shape 26"/>
          <p:cNvSpPr/>
          <p:nvPr/>
        </p:nvSpPr>
        <p:spPr>
          <a:xfrm>
            <a:off x="7909560" y="1691640"/>
            <a:ext cx="3642055" cy="4389120"/>
          </a:xfrm>
          <a:prstGeom prst="roundRect">
            <a:avLst>
              <a:gd name="adj" fmla="val 2260"/>
            </a:avLst>
          </a:prstGeom>
          <a:solidFill>
            <a:srgbClr val="EAF2FA"/>
          </a:solidFill>
          <a:ln w="12700">
            <a:solidFill>
              <a:srgbClr val="EAF2FA"/>
            </a:solidFill>
            <a:prstDash val="solid"/>
          </a:ln>
        </p:spPr>
      </p:sp>
      <p:sp>
        <p:nvSpPr>
          <p:cNvPr id="30" name="Text 27"/>
          <p:cNvSpPr txBox="1"/>
          <p:nvPr/>
        </p:nvSpPr>
        <p:spPr>
          <a:xfrm>
            <a:off x="8183880" y="1856232"/>
            <a:ext cx="3093415" cy="292608"/>
          </a:xfrm>
          <a:prstGeom prst="rect">
            <a:avLst/>
          </a:prstGeom>
          <a:noFill/>
          <a:ln/>
        </p:spPr>
        <p:txBody>
          <a:bodyPr wrap="square" lIns="0" tIns="0" rIns="0" bIns="0" rtlCol="0" anchor="ctr"/>
          <a:lstStyle/>
          <a:p>
            <a:pPr indent="0" marL="0">
              <a:buNone/>
            </a:pPr>
            <a:r>
              <a:rPr lang="en-US" sz="1800" b="1" dirty="0">
                <a:solidFill>
                  <a:srgbClr val="073A6B"/>
                </a:solidFill>
                <a:latin typeface="Cambria" pitchFamily="34" charset="0"/>
                <a:ea typeface="Cambria" pitchFamily="34" charset="-122"/>
                <a:cs typeface="Cambria" pitchFamily="34" charset="-120"/>
              </a:rPr>
              <a:t>What the page contains</a:t>
            </a:r>
            <a:endParaRPr lang="en-US" sz="1800" dirty="0"/>
          </a:p>
        </p:txBody>
      </p:sp>
      <p:sp>
        <p:nvSpPr>
          <p:cNvPr id="31" name="Shape 28"/>
          <p:cNvSpPr/>
          <p:nvPr/>
        </p:nvSpPr>
        <p:spPr>
          <a:xfrm>
            <a:off x="8220456" y="2432304"/>
            <a:ext cx="109728" cy="109728"/>
          </a:xfrm>
          <a:prstGeom prst="ellipse">
            <a:avLst/>
          </a:prstGeom>
          <a:solidFill>
            <a:srgbClr val="1464A8"/>
          </a:solidFill>
          <a:ln w="12700">
            <a:solidFill>
              <a:srgbClr val="1464A8"/>
            </a:solidFill>
            <a:prstDash val="solid"/>
          </a:ln>
        </p:spPr>
      </p:sp>
      <p:sp>
        <p:nvSpPr>
          <p:cNvPr id="32" name="Text 29"/>
          <p:cNvSpPr txBox="1"/>
          <p:nvPr/>
        </p:nvSpPr>
        <p:spPr>
          <a:xfrm>
            <a:off x="8476488" y="2286000"/>
            <a:ext cx="2800807" cy="402336"/>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Hero with an interactive phone mock-up</a:t>
            </a:r>
            <a:endParaRPr lang="en-US" sz="1150" dirty="0"/>
          </a:p>
        </p:txBody>
      </p:sp>
      <p:sp>
        <p:nvSpPr>
          <p:cNvPr id="33" name="Shape 30"/>
          <p:cNvSpPr/>
          <p:nvPr/>
        </p:nvSpPr>
        <p:spPr>
          <a:xfrm>
            <a:off x="8220456" y="2889504"/>
            <a:ext cx="109728" cy="109728"/>
          </a:xfrm>
          <a:prstGeom prst="ellipse">
            <a:avLst/>
          </a:prstGeom>
          <a:solidFill>
            <a:srgbClr val="1464A8"/>
          </a:solidFill>
          <a:ln w="12700">
            <a:solidFill>
              <a:srgbClr val="1464A8"/>
            </a:solidFill>
            <a:prstDash val="solid"/>
          </a:ln>
        </p:spPr>
      </p:sp>
      <p:sp>
        <p:nvSpPr>
          <p:cNvPr id="34" name="Text 31"/>
          <p:cNvSpPr txBox="1"/>
          <p:nvPr/>
        </p:nvSpPr>
        <p:spPr>
          <a:xfrm>
            <a:off x="8476488" y="2743200"/>
            <a:ext cx="2800807" cy="402336"/>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Animated screen carousel of all 7 app screens</a:t>
            </a:r>
            <a:endParaRPr lang="en-US" sz="1150" dirty="0"/>
          </a:p>
        </p:txBody>
      </p:sp>
      <p:sp>
        <p:nvSpPr>
          <p:cNvPr id="35" name="Shape 32"/>
          <p:cNvSpPr/>
          <p:nvPr/>
        </p:nvSpPr>
        <p:spPr>
          <a:xfrm>
            <a:off x="8220456" y="3346704"/>
            <a:ext cx="109728" cy="109728"/>
          </a:xfrm>
          <a:prstGeom prst="ellipse">
            <a:avLst/>
          </a:prstGeom>
          <a:solidFill>
            <a:srgbClr val="1464A8"/>
          </a:solidFill>
          <a:ln w="12700">
            <a:solidFill>
              <a:srgbClr val="1464A8"/>
            </a:solidFill>
            <a:prstDash val="solid"/>
          </a:ln>
        </p:spPr>
      </p:sp>
      <p:sp>
        <p:nvSpPr>
          <p:cNvPr id="36" name="Text 33"/>
          <p:cNvSpPr txBox="1"/>
          <p:nvPr/>
        </p:nvSpPr>
        <p:spPr>
          <a:xfrm>
            <a:off x="8476488" y="3200400"/>
            <a:ext cx="2800807" cy="402336"/>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Feature grid — the four core capabilities</a:t>
            </a:r>
            <a:endParaRPr lang="en-US" sz="1150" dirty="0"/>
          </a:p>
        </p:txBody>
      </p:sp>
      <p:sp>
        <p:nvSpPr>
          <p:cNvPr id="37" name="Shape 34"/>
          <p:cNvSpPr/>
          <p:nvPr/>
        </p:nvSpPr>
        <p:spPr>
          <a:xfrm>
            <a:off x="8220456" y="3803904"/>
            <a:ext cx="109728" cy="109728"/>
          </a:xfrm>
          <a:prstGeom prst="ellipse">
            <a:avLst/>
          </a:prstGeom>
          <a:solidFill>
            <a:srgbClr val="1464A8"/>
          </a:solidFill>
          <a:ln w="12700">
            <a:solidFill>
              <a:srgbClr val="1464A8"/>
            </a:solidFill>
            <a:prstDash val="solid"/>
          </a:ln>
        </p:spPr>
      </p:sp>
      <p:sp>
        <p:nvSpPr>
          <p:cNvPr id="38" name="Text 35"/>
          <p:cNvSpPr txBox="1"/>
          <p:nvPr/>
        </p:nvSpPr>
        <p:spPr>
          <a:xfrm>
            <a:off x="8476488" y="3657600"/>
            <a:ext cx="2800807" cy="402336"/>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Three-step “how it works” walkthrough</a:t>
            </a:r>
            <a:endParaRPr lang="en-US" sz="1150" dirty="0"/>
          </a:p>
        </p:txBody>
      </p:sp>
      <p:sp>
        <p:nvSpPr>
          <p:cNvPr id="39" name="Shape 36"/>
          <p:cNvSpPr/>
          <p:nvPr/>
        </p:nvSpPr>
        <p:spPr>
          <a:xfrm>
            <a:off x="8220456" y="4261104"/>
            <a:ext cx="109728" cy="109728"/>
          </a:xfrm>
          <a:prstGeom prst="ellipse">
            <a:avLst/>
          </a:prstGeom>
          <a:solidFill>
            <a:srgbClr val="1464A8"/>
          </a:solidFill>
          <a:ln w="12700">
            <a:solidFill>
              <a:srgbClr val="1464A8"/>
            </a:solidFill>
            <a:prstDash val="solid"/>
          </a:ln>
        </p:spPr>
      </p:sp>
      <p:sp>
        <p:nvSpPr>
          <p:cNvPr id="40" name="Text 37"/>
          <p:cNvSpPr txBox="1"/>
          <p:nvPr/>
        </p:nvSpPr>
        <p:spPr>
          <a:xfrm>
            <a:off x="8476488" y="4114800"/>
            <a:ext cx="2800807" cy="402336"/>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Results explainer with the AUC ring</a:t>
            </a:r>
            <a:endParaRPr lang="en-US" sz="1150" dirty="0"/>
          </a:p>
        </p:txBody>
      </p:sp>
      <p:sp>
        <p:nvSpPr>
          <p:cNvPr id="41" name="Shape 38"/>
          <p:cNvSpPr/>
          <p:nvPr/>
        </p:nvSpPr>
        <p:spPr>
          <a:xfrm>
            <a:off x="8220456" y="4718304"/>
            <a:ext cx="109728" cy="109728"/>
          </a:xfrm>
          <a:prstGeom prst="ellipse">
            <a:avLst/>
          </a:prstGeom>
          <a:solidFill>
            <a:srgbClr val="1464A8"/>
          </a:solidFill>
          <a:ln w="12700">
            <a:solidFill>
              <a:srgbClr val="1464A8"/>
            </a:solidFill>
            <a:prstDash val="solid"/>
          </a:ln>
        </p:spPr>
      </p:sp>
      <p:sp>
        <p:nvSpPr>
          <p:cNvPr id="42" name="Text 39"/>
          <p:cNvSpPr txBox="1"/>
          <p:nvPr/>
        </p:nvSpPr>
        <p:spPr>
          <a:xfrm>
            <a:off x="8476488" y="4572000"/>
            <a:ext cx="2800807" cy="402336"/>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Reviews marquee</a:t>
            </a:r>
            <a:endParaRPr lang="en-US" sz="1150" dirty="0"/>
          </a:p>
        </p:txBody>
      </p:sp>
      <p:sp>
        <p:nvSpPr>
          <p:cNvPr id="43" name="Shape 40"/>
          <p:cNvSpPr/>
          <p:nvPr/>
        </p:nvSpPr>
        <p:spPr>
          <a:xfrm>
            <a:off x="8220456" y="5175504"/>
            <a:ext cx="109728" cy="109728"/>
          </a:xfrm>
          <a:prstGeom prst="ellipse">
            <a:avLst/>
          </a:prstGeom>
          <a:solidFill>
            <a:srgbClr val="1464A8"/>
          </a:solidFill>
          <a:ln w="12700">
            <a:solidFill>
              <a:srgbClr val="1464A8"/>
            </a:solidFill>
            <a:prstDash val="solid"/>
          </a:ln>
        </p:spPr>
      </p:sp>
      <p:sp>
        <p:nvSpPr>
          <p:cNvPr id="44" name="Text 41"/>
          <p:cNvSpPr txBox="1"/>
          <p:nvPr/>
        </p:nvSpPr>
        <p:spPr>
          <a:xfrm>
            <a:off x="8476488" y="5029200"/>
            <a:ext cx="2800807" cy="402336"/>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Team section — supervisor and developers</a:t>
            </a:r>
            <a:endParaRPr lang="en-US" sz="1150" dirty="0"/>
          </a:p>
        </p:txBody>
      </p:sp>
      <p:sp>
        <p:nvSpPr>
          <p:cNvPr id="45" name="Shape 42"/>
          <p:cNvSpPr/>
          <p:nvPr/>
        </p:nvSpPr>
        <p:spPr>
          <a:xfrm>
            <a:off x="8220456" y="5632704"/>
            <a:ext cx="109728" cy="109728"/>
          </a:xfrm>
          <a:prstGeom prst="ellipse">
            <a:avLst/>
          </a:prstGeom>
          <a:solidFill>
            <a:srgbClr val="1464A8"/>
          </a:solidFill>
          <a:ln w="12700">
            <a:solidFill>
              <a:srgbClr val="1464A8"/>
            </a:solidFill>
            <a:prstDash val="solid"/>
          </a:ln>
        </p:spPr>
      </p:sp>
      <p:sp>
        <p:nvSpPr>
          <p:cNvPr id="46" name="Text 43"/>
          <p:cNvSpPr txBox="1"/>
          <p:nvPr/>
        </p:nvSpPr>
        <p:spPr>
          <a:xfrm>
            <a:off x="8476488" y="5486400"/>
            <a:ext cx="2800807" cy="402336"/>
          </a:xfrm>
          <a:prstGeom prst="rect">
            <a:avLst/>
          </a:prstGeom>
          <a:noFill/>
          <a:ln/>
        </p:spPr>
        <p:txBody>
          <a:bodyPr wrap="square" lIns="0" tIns="0" rIns="0" bIns="0" rtlCol="0" anchor="ctr"/>
          <a:lstStyle/>
          <a:p>
            <a:pPr indent="0" marL="0">
              <a:buNone/>
            </a:pPr>
            <a:r>
              <a:rPr lang="en-US" sz="1150" dirty="0">
                <a:solidFill>
                  <a:srgbClr val="0B2545"/>
                </a:solidFill>
                <a:latin typeface="Calibri" pitchFamily="34" charset="0"/>
                <a:ea typeface="Calibri" pitchFamily="34" charset="-122"/>
                <a:cs typeface="Calibri" pitchFamily="34" charset="-120"/>
              </a:rPr>
              <a:t>Download call-to-action (APK + GitHub)</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6FB3E8"/>
                </a:solidFill>
                <a:latin typeface="Calibri" pitchFamily="34" charset="0"/>
                <a:ea typeface="Calibri" pitchFamily="34" charset="-122"/>
                <a:cs typeface="Calibri" pitchFamily="34" charset="-120"/>
              </a:rPr>
              <a:t>11 · PUTTING IT TOGETHER</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tap on Calculate — what actually happens</a:t>
            </a:r>
            <a:endParaRPr lang="en-US" sz="3400" dirty="0"/>
          </a:p>
        </p:txBody>
      </p:sp>
      <p:sp>
        <p:nvSpPr>
          <p:cNvPr id="4" name="Text 2"/>
          <p:cNvSpPr txBox="1"/>
          <p:nvPr/>
        </p:nvSpPr>
        <p:spPr>
          <a:xfrm>
            <a:off x="640080" y="1170432"/>
            <a:ext cx="10911535" cy="329184"/>
          </a:xfrm>
          <a:prstGeom prst="rect">
            <a:avLst/>
          </a:prstGeom>
          <a:noFill/>
          <a:ln/>
        </p:spPr>
        <p:txBody>
          <a:bodyPr wrap="square" lIns="0" tIns="0" rIns="0" bIns="0" rtlCol="0" anchor="ctr"/>
          <a:lstStyle/>
          <a:p>
            <a:pPr indent="0" marL="0">
              <a:buNone/>
            </a:pPr>
            <a:r>
              <a:rPr lang="en-US" sz="1400" dirty="0">
                <a:solidFill>
                  <a:srgbClr val="A9C2DA"/>
                </a:solidFill>
                <a:latin typeface="Calibri" pitchFamily="34" charset="0"/>
                <a:ea typeface="Calibri" pitchFamily="34" charset="-122"/>
                <a:cs typeface="Calibri" pitchFamily="34" charset="-120"/>
              </a:rPr>
              <a:t>This is the single slide that connects the UI, the ViewModel, the engine and the backend.</a:t>
            </a:r>
            <a:endParaRPr lang="en-US" sz="1400" dirty="0"/>
          </a:p>
        </p:txBody>
      </p:sp>
      <p:sp>
        <p:nvSpPr>
          <p:cNvPr id="5" name="Text 3"/>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6E8BA8"/>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6" name="Text 4"/>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6E8BA8"/>
                </a:solidFill>
                <a:latin typeface="Calibri" pitchFamily="34" charset="0"/>
                <a:ea typeface="Calibri" pitchFamily="34" charset="-122"/>
                <a:cs typeface="Calibri" pitchFamily="34" charset="-120"/>
              </a:rPr>
              <a:t>32</a:t>
            </a:r>
            <a:endParaRPr lang="en-US" sz="900" dirty="0"/>
          </a:p>
        </p:txBody>
      </p:sp>
      <p:sp>
        <p:nvSpPr>
          <p:cNvPr id="8" name="Shape 5"/>
          <p:cNvSpPr/>
          <p:nvPr/>
        </p:nvSpPr>
        <p:spPr>
          <a:xfrm>
            <a:off x="640080" y="1664208"/>
            <a:ext cx="5295748" cy="1042416"/>
          </a:xfrm>
          <a:prstGeom prst="roundRect">
            <a:avLst>
              <a:gd name="adj" fmla="val 7895"/>
            </a:avLst>
          </a:prstGeom>
          <a:solidFill>
            <a:srgbClr val="13304C"/>
          </a:solidFill>
          <a:ln w="12700">
            <a:solidFill>
              <a:srgbClr val="13304C"/>
            </a:solidFill>
            <a:prstDash val="solid"/>
          </a:ln>
        </p:spPr>
      </p:sp>
      <p:sp>
        <p:nvSpPr>
          <p:cNvPr id="9" name="Shape 6"/>
          <p:cNvSpPr/>
          <p:nvPr/>
        </p:nvSpPr>
        <p:spPr>
          <a:xfrm>
            <a:off x="859536" y="1865376"/>
            <a:ext cx="384048" cy="384048"/>
          </a:xfrm>
          <a:prstGeom prst="ellipse">
            <a:avLst/>
          </a:prstGeom>
          <a:solidFill>
            <a:srgbClr val="1464A8"/>
          </a:solidFill>
          <a:ln w="12700">
            <a:solidFill>
              <a:srgbClr val="1464A8"/>
            </a:solidFill>
            <a:prstDash val="solid"/>
          </a:ln>
        </p:spPr>
      </p:sp>
      <p:sp>
        <p:nvSpPr>
          <p:cNvPr id="10" name="Text 7"/>
          <p:cNvSpPr txBox="1"/>
          <p:nvPr/>
        </p:nvSpPr>
        <p:spPr>
          <a:xfrm>
            <a:off x="859536" y="1865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1" name="Text 8"/>
          <p:cNvSpPr txBox="1"/>
          <p:nvPr/>
        </p:nvSpPr>
        <p:spPr>
          <a:xfrm>
            <a:off x="1371600" y="1792224"/>
            <a:ext cx="4335628"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UI event</a:t>
            </a:r>
            <a:endParaRPr lang="en-US" sz="1400" dirty="0"/>
          </a:p>
        </p:txBody>
      </p:sp>
      <p:sp>
        <p:nvSpPr>
          <p:cNvPr id="12" name="Text 9"/>
          <p:cNvSpPr txBox="1"/>
          <p:nvPr/>
        </p:nvSpPr>
        <p:spPr>
          <a:xfrm>
            <a:off x="1371600" y="2075688"/>
            <a:ext cx="4335628" cy="548640"/>
          </a:xfrm>
          <a:prstGeom prst="rect">
            <a:avLst/>
          </a:prstGeom>
          <a:noFill/>
          <a:ln/>
        </p:spPr>
        <p:txBody>
          <a:bodyPr wrap="square" lIns="0" tIns="0" rIns="0" bIns="0" rtlCol="0" anchor="ctr"/>
          <a:lstStyle/>
          <a:p>
            <a:pPr indent="0" marL="0">
              <a:lnSpc>
                <a:spcPts val="1500"/>
              </a:lnSpc>
              <a:buNone/>
            </a:pPr>
            <a:r>
              <a:rPr lang="en-US" sz="1100" dirty="0">
                <a:solidFill>
                  <a:srgbClr val="C3D8EA"/>
                </a:solidFill>
                <a:latin typeface="Calibri" pitchFamily="34" charset="0"/>
                <a:ea typeface="Calibri" pitchFamily="34" charset="-122"/>
                <a:cs typeface="Calibri" pitchFamily="34" charset="-120"/>
              </a:rPr>
              <a:t>ReviewScreen calls vm.runCalculation(). The composable itself does no work.</a:t>
            </a:r>
            <a:endParaRPr lang="en-US" sz="1100" dirty="0"/>
          </a:p>
        </p:txBody>
      </p:sp>
      <p:sp>
        <p:nvSpPr>
          <p:cNvPr id="13" name="Shape 10"/>
          <p:cNvSpPr/>
          <p:nvPr/>
        </p:nvSpPr>
        <p:spPr>
          <a:xfrm>
            <a:off x="6255868" y="1664208"/>
            <a:ext cx="5295748" cy="1042416"/>
          </a:xfrm>
          <a:prstGeom prst="roundRect">
            <a:avLst>
              <a:gd name="adj" fmla="val 7895"/>
            </a:avLst>
          </a:prstGeom>
          <a:solidFill>
            <a:srgbClr val="102A44"/>
          </a:solidFill>
          <a:ln w="12700">
            <a:solidFill>
              <a:srgbClr val="102A44"/>
            </a:solidFill>
            <a:prstDash val="solid"/>
          </a:ln>
        </p:spPr>
      </p:sp>
      <p:sp>
        <p:nvSpPr>
          <p:cNvPr id="14" name="Shape 11"/>
          <p:cNvSpPr/>
          <p:nvPr/>
        </p:nvSpPr>
        <p:spPr>
          <a:xfrm>
            <a:off x="6475324" y="1865376"/>
            <a:ext cx="384048" cy="384048"/>
          </a:xfrm>
          <a:prstGeom prst="ellipse">
            <a:avLst/>
          </a:prstGeom>
          <a:solidFill>
            <a:srgbClr val="1464A8"/>
          </a:solidFill>
          <a:ln w="12700">
            <a:solidFill>
              <a:srgbClr val="1464A8"/>
            </a:solidFill>
            <a:prstDash val="solid"/>
          </a:ln>
        </p:spPr>
      </p:sp>
      <p:sp>
        <p:nvSpPr>
          <p:cNvPr id="15" name="Text 12"/>
          <p:cNvSpPr txBox="1"/>
          <p:nvPr/>
        </p:nvSpPr>
        <p:spPr>
          <a:xfrm>
            <a:off x="6475324" y="1865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6" name="Text 13"/>
          <p:cNvSpPr txBox="1"/>
          <p:nvPr/>
        </p:nvSpPr>
        <p:spPr>
          <a:xfrm>
            <a:off x="6987388" y="1792224"/>
            <a:ext cx="4335628"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Validate</a:t>
            </a:r>
            <a:endParaRPr lang="en-US" sz="1400" dirty="0"/>
          </a:p>
        </p:txBody>
      </p:sp>
      <p:sp>
        <p:nvSpPr>
          <p:cNvPr id="17" name="Text 14"/>
          <p:cNvSpPr txBox="1"/>
          <p:nvPr/>
        </p:nvSpPr>
        <p:spPr>
          <a:xfrm>
            <a:off x="6987388" y="2075688"/>
            <a:ext cx="4335628" cy="548640"/>
          </a:xfrm>
          <a:prstGeom prst="rect">
            <a:avLst/>
          </a:prstGeom>
          <a:noFill/>
          <a:ln/>
        </p:spPr>
        <p:txBody>
          <a:bodyPr wrap="square" lIns="0" tIns="0" rIns="0" bIns="0" rtlCol="0" anchor="ctr"/>
          <a:lstStyle/>
          <a:p>
            <a:pPr indent="0" marL="0">
              <a:lnSpc>
                <a:spcPts val="1500"/>
              </a:lnSpc>
              <a:buNone/>
            </a:pPr>
            <a:r>
              <a:rPr lang="en-US" sz="1100" dirty="0">
                <a:solidFill>
                  <a:srgbClr val="C3D8EA"/>
                </a:solidFill>
                <a:latin typeface="Calibri" pitchFamily="34" charset="0"/>
                <a:ea typeface="Calibri" pitchFamily="34" charset="-122"/>
                <a:cs typeface="Calibri" pitchFamily="34" charset="-120"/>
              </a:rPr>
              <a:t>InputValidator re-checks patient, dosing, samples and their timing relation. A failure stops here.</a:t>
            </a:r>
            <a:endParaRPr lang="en-US" sz="1100" dirty="0"/>
          </a:p>
        </p:txBody>
      </p:sp>
      <p:sp>
        <p:nvSpPr>
          <p:cNvPr id="18" name="Shape 15"/>
          <p:cNvSpPr/>
          <p:nvPr/>
        </p:nvSpPr>
        <p:spPr>
          <a:xfrm>
            <a:off x="640080" y="2834640"/>
            <a:ext cx="5295748" cy="1042416"/>
          </a:xfrm>
          <a:prstGeom prst="roundRect">
            <a:avLst>
              <a:gd name="adj" fmla="val 7895"/>
            </a:avLst>
          </a:prstGeom>
          <a:solidFill>
            <a:srgbClr val="13304C"/>
          </a:solidFill>
          <a:ln w="12700">
            <a:solidFill>
              <a:srgbClr val="13304C"/>
            </a:solidFill>
            <a:prstDash val="solid"/>
          </a:ln>
        </p:spPr>
      </p:sp>
      <p:sp>
        <p:nvSpPr>
          <p:cNvPr id="19" name="Shape 16"/>
          <p:cNvSpPr/>
          <p:nvPr/>
        </p:nvSpPr>
        <p:spPr>
          <a:xfrm>
            <a:off x="859536" y="3035808"/>
            <a:ext cx="384048" cy="384048"/>
          </a:xfrm>
          <a:prstGeom prst="ellipse">
            <a:avLst/>
          </a:prstGeom>
          <a:solidFill>
            <a:srgbClr val="1464A8"/>
          </a:solidFill>
          <a:ln w="12700">
            <a:solidFill>
              <a:srgbClr val="1464A8"/>
            </a:solidFill>
            <a:prstDash val="solid"/>
          </a:ln>
        </p:spPr>
      </p:sp>
      <p:sp>
        <p:nvSpPr>
          <p:cNvPr id="20" name="Text 17"/>
          <p:cNvSpPr txBox="1"/>
          <p:nvPr/>
        </p:nvSpPr>
        <p:spPr>
          <a:xfrm>
            <a:off x="859536"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1" name="Text 18"/>
          <p:cNvSpPr txBox="1"/>
          <p:nvPr/>
        </p:nvSpPr>
        <p:spPr>
          <a:xfrm>
            <a:off x="1371600" y="2962656"/>
            <a:ext cx="4335628"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Snapshot</a:t>
            </a:r>
            <a:endParaRPr lang="en-US" sz="1400" dirty="0"/>
          </a:p>
        </p:txBody>
      </p:sp>
      <p:sp>
        <p:nvSpPr>
          <p:cNvPr id="22" name="Text 19"/>
          <p:cNvSpPr txBox="1"/>
          <p:nvPr/>
        </p:nvSpPr>
        <p:spPr>
          <a:xfrm>
            <a:off x="1371600" y="3246120"/>
            <a:ext cx="4335628" cy="548640"/>
          </a:xfrm>
          <a:prstGeom prst="rect">
            <a:avLst/>
          </a:prstGeom>
          <a:noFill/>
          <a:ln/>
        </p:spPr>
        <p:txBody>
          <a:bodyPr wrap="square" lIns="0" tIns="0" rIns="0" bIns="0" rtlCol="0" anchor="ctr"/>
          <a:lstStyle/>
          <a:p>
            <a:pPr indent="0" marL="0">
              <a:lnSpc>
                <a:spcPts val="1500"/>
              </a:lnSpc>
              <a:buNone/>
            </a:pPr>
            <a:r>
              <a:rPr lang="en-US" sz="1100" dirty="0">
                <a:solidFill>
                  <a:srgbClr val="C3D8EA"/>
                </a:solidFill>
                <a:latin typeface="Calibri" pitchFamily="34" charset="0"/>
                <a:ea typeface="Calibri" pitchFamily="34" charset="-122"/>
                <a:cs typeface="Calibri" pitchFamily="34" charset="-120"/>
              </a:rPr>
              <a:t>The ViewModel reads one immutable CaseUiState, so the inputs and the verdict describe the same moment.</a:t>
            </a:r>
            <a:endParaRPr lang="en-US" sz="1100" dirty="0"/>
          </a:p>
        </p:txBody>
      </p:sp>
      <p:sp>
        <p:nvSpPr>
          <p:cNvPr id="23" name="Shape 20"/>
          <p:cNvSpPr/>
          <p:nvPr/>
        </p:nvSpPr>
        <p:spPr>
          <a:xfrm>
            <a:off x="6255868" y="2834640"/>
            <a:ext cx="5295748" cy="1042416"/>
          </a:xfrm>
          <a:prstGeom prst="roundRect">
            <a:avLst>
              <a:gd name="adj" fmla="val 7895"/>
            </a:avLst>
          </a:prstGeom>
          <a:solidFill>
            <a:srgbClr val="102A44"/>
          </a:solidFill>
          <a:ln w="12700">
            <a:solidFill>
              <a:srgbClr val="102A44"/>
            </a:solidFill>
            <a:prstDash val="solid"/>
          </a:ln>
        </p:spPr>
      </p:sp>
      <p:sp>
        <p:nvSpPr>
          <p:cNvPr id="24" name="Shape 21"/>
          <p:cNvSpPr/>
          <p:nvPr/>
        </p:nvSpPr>
        <p:spPr>
          <a:xfrm>
            <a:off x="6475324" y="3035808"/>
            <a:ext cx="384048" cy="384048"/>
          </a:xfrm>
          <a:prstGeom prst="ellipse">
            <a:avLst/>
          </a:prstGeom>
          <a:solidFill>
            <a:srgbClr val="1464A8"/>
          </a:solidFill>
          <a:ln w="12700">
            <a:solidFill>
              <a:srgbClr val="1464A8"/>
            </a:solidFill>
            <a:prstDash val="solid"/>
          </a:ln>
        </p:spPr>
      </p:sp>
      <p:sp>
        <p:nvSpPr>
          <p:cNvPr id="25" name="Text 22"/>
          <p:cNvSpPr txBox="1"/>
          <p:nvPr/>
        </p:nvSpPr>
        <p:spPr>
          <a:xfrm>
            <a:off x="6475324"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6" name="Text 23"/>
          <p:cNvSpPr txBox="1"/>
          <p:nvPr/>
        </p:nvSpPr>
        <p:spPr>
          <a:xfrm>
            <a:off x="6987388" y="2962656"/>
            <a:ext cx="4335628"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Compute</a:t>
            </a:r>
            <a:endParaRPr lang="en-US" sz="1400" dirty="0"/>
          </a:p>
        </p:txBody>
      </p:sp>
      <p:sp>
        <p:nvSpPr>
          <p:cNvPr id="27" name="Text 24"/>
          <p:cNvSpPr txBox="1"/>
          <p:nvPr/>
        </p:nvSpPr>
        <p:spPr>
          <a:xfrm>
            <a:off x="6987388" y="3246120"/>
            <a:ext cx="4335628" cy="548640"/>
          </a:xfrm>
          <a:prstGeom prst="rect">
            <a:avLst/>
          </a:prstGeom>
          <a:noFill/>
          <a:ln/>
        </p:spPr>
        <p:txBody>
          <a:bodyPr wrap="square" lIns="0" tIns="0" rIns="0" bIns="0" rtlCol="0" anchor="ctr"/>
          <a:lstStyle/>
          <a:p>
            <a:pPr indent="0" marL="0">
              <a:lnSpc>
                <a:spcPts val="1500"/>
              </a:lnSpc>
              <a:buNone/>
            </a:pPr>
            <a:r>
              <a:rPr lang="en-US" sz="1100" dirty="0">
                <a:solidFill>
                  <a:srgbClr val="C3D8EA"/>
                </a:solidFill>
                <a:latin typeface="Calibri" pitchFamily="34" charset="0"/>
                <a:ea typeface="Calibri" pitchFamily="34" charset="-122"/>
                <a:cs typeface="Calibri" pitchFamily="34" charset="-120"/>
              </a:rPr>
              <a:t>viewModelScope.launch + Dispatchers.Default runs VancoEngine off the main thread — the UI stays responsive.</a:t>
            </a:r>
            <a:endParaRPr lang="en-US" sz="1100" dirty="0"/>
          </a:p>
        </p:txBody>
      </p:sp>
      <p:sp>
        <p:nvSpPr>
          <p:cNvPr id="28" name="Shape 25"/>
          <p:cNvSpPr/>
          <p:nvPr/>
        </p:nvSpPr>
        <p:spPr>
          <a:xfrm>
            <a:off x="640080" y="4005072"/>
            <a:ext cx="5295748" cy="1042416"/>
          </a:xfrm>
          <a:prstGeom prst="roundRect">
            <a:avLst>
              <a:gd name="adj" fmla="val 7895"/>
            </a:avLst>
          </a:prstGeom>
          <a:solidFill>
            <a:srgbClr val="13304C"/>
          </a:solidFill>
          <a:ln w="12700">
            <a:solidFill>
              <a:srgbClr val="13304C"/>
            </a:solidFill>
            <a:prstDash val="solid"/>
          </a:ln>
        </p:spPr>
      </p:sp>
      <p:sp>
        <p:nvSpPr>
          <p:cNvPr id="29" name="Shape 26"/>
          <p:cNvSpPr/>
          <p:nvPr/>
        </p:nvSpPr>
        <p:spPr>
          <a:xfrm>
            <a:off x="859536" y="4206240"/>
            <a:ext cx="384048" cy="384048"/>
          </a:xfrm>
          <a:prstGeom prst="ellipse">
            <a:avLst/>
          </a:prstGeom>
          <a:solidFill>
            <a:srgbClr val="1464A8"/>
          </a:solidFill>
          <a:ln w="12700">
            <a:solidFill>
              <a:srgbClr val="1464A8"/>
            </a:solidFill>
            <a:prstDash val="solid"/>
          </a:ln>
        </p:spPr>
      </p:sp>
      <p:sp>
        <p:nvSpPr>
          <p:cNvPr id="30" name="Text 27"/>
          <p:cNvSpPr txBox="1"/>
          <p:nvPr/>
        </p:nvSpPr>
        <p:spPr>
          <a:xfrm>
            <a:off x="859536" y="4206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31" name="Text 28"/>
          <p:cNvSpPr txBox="1"/>
          <p:nvPr/>
        </p:nvSpPr>
        <p:spPr>
          <a:xfrm>
            <a:off x="1371600" y="4133088"/>
            <a:ext cx="4335628"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Emit</a:t>
            </a:r>
            <a:endParaRPr lang="en-US" sz="1400" dirty="0"/>
          </a:p>
        </p:txBody>
      </p:sp>
      <p:sp>
        <p:nvSpPr>
          <p:cNvPr id="32" name="Text 29"/>
          <p:cNvSpPr txBox="1"/>
          <p:nvPr/>
        </p:nvSpPr>
        <p:spPr>
          <a:xfrm>
            <a:off x="1371600" y="4416552"/>
            <a:ext cx="4335628" cy="548640"/>
          </a:xfrm>
          <a:prstGeom prst="rect">
            <a:avLst/>
          </a:prstGeom>
          <a:noFill/>
          <a:ln/>
        </p:spPr>
        <p:txBody>
          <a:bodyPr wrap="square" lIns="0" tIns="0" rIns="0" bIns="0" rtlCol="0" anchor="ctr"/>
          <a:lstStyle/>
          <a:p>
            <a:pPr indent="0" marL="0">
              <a:lnSpc>
                <a:spcPts val="1500"/>
              </a:lnSpc>
              <a:buNone/>
            </a:pPr>
            <a:r>
              <a:rPr lang="en-US" sz="1100" dirty="0">
                <a:solidFill>
                  <a:srgbClr val="C3D8EA"/>
                </a:solidFill>
                <a:latin typeface="Calibri" pitchFamily="34" charset="0"/>
                <a:ea typeface="Calibri" pitchFamily="34" charset="-122"/>
                <a:cs typeface="Calibri" pitchFamily="34" charset="-120"/>
              </a:rPr>
              <a:t>_uiState.update { it.copy(result = …) } produces a new state; Compose recomposes the Results screen.</a:t>
            </a:r>
            <a:endParaRPr lang="en-US" sz="1100" dirty="0"/>
          </a:p>
        </p:txBody>
      </p:sp>
      <p:sp>
        <p:nvSpPr>
          <p:cNvPr id="33" name="Shape 30"/>
          <p:cNvSpPr/>
          <p:nvPr/>
        </p:nvSpPr>
        <p:spPr>
          <a:xfrm>
            <a:off x="6255868" y="4005072"/>
            <a:ext cx="5295748" cy="1042416"/>
          </a:xfrm>
          <a:prstGeom prst="roundRect">
            <a:avLst>
              <a:gd name="adj" fmla="val 7895"/>
            </a:avLst>
          </a:prstGeom>
          <a:solidFill>
            <a:srgbClr val="102A44"/>
          </a:solidFill>
          <a:ln w="12700">
            <a:solidFill>
              <a:srgbClr val="102A44"/>
            </a:solidFill>
            <a:prstDash val="solid"/>
          </a:ln>
        </p:spPr>
      </p:sp>
      <p:sp>
        <p:nvSpPr>
          <p:cNvPr id="34" name="Shape 31"/>
          <p:cNvSpPr/>
          <p:nvPr/>
        </p:nvSpPr>
        <p:spPr>
          <a:xfrm>
            <a:off x="6475324" y="4206240"/>
            <a:ext cx="384048" cy="384048"/>
          </a:xfrm>
          <a:prstGeom prst="ellipse">
            <a:avLst/>
          </a:prstGeom>
          <a:solidFill>
            <a:srgbClr val="1464A8"/>
          </a:solidFill>
          <a:ln w="12700">
            <a:solidFill>
              <a:srgbClr val="1464A8"/>
            </a:solidFill>
            <a:prstDash val="solid"/>
          </a:ln>
        </p:spPr>
      </p:sp>
      <p:sp>
        <p:nvSpPr>
          <p:cNvPr id="35" name="Text 32"/>
          <p:cNvSpPr txBox="1"/>
          <p:nvPr/>
        </p:nvSpPr>
        <p:spPr>
          <a:xfrm>
            <a:off x="6475324" y="4206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6" name="Text 33"/>
          <p:cNvSpPr txBox="1"/>
          <p:nvPr/>
        </p:nvSpPr>
        <p:spPr>
          <a:xfrm>
            <a:off x="6987388" y="4133088"/>
            <a:ext cx="4335628"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Persist</a:t>
            </a:r>
            <a:endParaRPr lang="en-US" sz="1400" dirty="0"/>
          </a:p>
        </p:txBody>
      </p:sp>
      <p:sp>
        <p:nvSpPr>
          <p:cNvPr id="37" name="Text 34"/>
          <p:cNvSpPr txBox="1"/>
          <p:nvPr/>
        </p:nvSpPr>
        <p:spPr>
          <a:xfrm>
            <a:off x="6987388" y="4416552"/>
            <a:ext cx="4335628" cy="548640"/>
          </a:xfrm>
          <a:prstGeom prst="rect">
            <a:avLst/>
          </a:prstGeom>
          <a:noFill/>
          <a:ln/>
        </p:spPr>
        <p:txBody>
          <a:bodyPr wrap="square" lIns="0" tIns="0" rIns="0" bIns="0" rtlCol="0" anchor="ctr"/>
          <a:lstStyle/>
          <a:p>
            <a:pPr indent="0" marL="0">
              <a:lnSpc>
                <a:spcPts val="1500"/>
              </a:lnSpc>
              <a:buNone/>
            </a:pPr>
            <a:r>
              <a:rPr lang="en-US" sz="1100" dirty="0">
                <a:solidFill>
                  <a:srgbClr val="C3D8EA"/>
                </a:solidFill>
                <a:latin typeface="Calibri" pitchFamily="34" charset="0"/>
                <a:ea typeface="Calibri" pitchFamily="34" charset="-122"/>
                <a:cs typeface="Calibri" pitchFamily="34" charset="-120"/>
              </a:rPr>
              <a:t>A second coroutine writes the case to Supabase, stamped with the Clerk user ID. Failure is logged, never surfaced.</a:t>
            </a:r>
            <a:endParaRPr lang="en-US" sz="1100" dirty="0"/>
          </a:p>
        </p:txBody>
      </p:sp>
      <p:sp>
        <p:nvSpPr>
          <p:cNvPr id="38" name="Shape 35"/>
          <p:cNvSpPr/>
          <p:nvPr/>
        </p:nvSpPr>
        <p:spPr>
          <a:xfrm>
            <a:off x="640080" y="5175504"/>
            <a:ext cx="5295748" cy="1042416"/>
          </a:xfrm>
          <a:prstGeom prst="roundRect">
            <a:avLst>
              <a:gd name="adj" fmla="val 7895"/>
            </a:avLst>
          </a:prstGeom>
          <a:solidFill>
            <a:srgbClr val="0F4A4A"/>
          </a:solidFill>
          <a:ln w="12700">
            <a:solidFill>
              <a:srgbClr val="0F4A4A"/>
            </a:solidFill>
            <a:prstDash val="solid"/>
          </a:ln>
        </p:spPr>
      </p:sp>
      <p:sp>
        <p:nvSpPr>
          <p:cNvPr id="39" name="Shape 36"/>
          <p:cNvSpPr/>
          <p:nvPr/>
        </p:nvSpPr>
        <p:spPr>
          <a:xfrm>
            <a:off x="859536" y="5376672"/>
            <a:ext cx="384048" cy="384048"/>
          </a:xfrm>
          <a:prstGeom prst="ellipse">
            <a:avLst/>
          </a:prstGeom>
          <a:solidFill>
            <a:srgbClr val="00A896"/>
          </a:solidFill>
          <a:ln w="12700">
            <a:solidFill>
              <a:srgbClr val="00A896"/>
            </a:solidFill>
            <a:prstDash val="solid"/>
          </a:ln>
        </p:spPr>
      </p:sp>
      <p:sp>
        <p:nvSpPr>
          <p:cNvPr id="40" name="Text 37"/>
          <p:cNvSpPr txBox="1"/>
          <p:nvPr/>
        </p:nvSpPr>
        <p:spPr>
          <a:xfrm>
            <a:off x="859536" y="53766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1" name="Text 38"/>
          <p:cNvSpPr txBox="1"/>
          <p:nvPr/>
        </p:nvSpPr>
        <p:spPr>
          <a:xfrm>
            <a:off x="1371600" y="5303520"/>
            <a:ext cx="4335628"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p>
        </p:txBody>
      </p:sp>
      <p:sp>
        <p:nvSpPr>
          <p:cNvPr id="42" name="Text 39"/>
          <p:cNvSpPr txBox="1"/>
          <p:nvPr/>
        </p:nvSpPr>
        <p:spPr>
          <a:xfrm>
            <a:off x="1371600" y="5586984"/>
            <a:ext cx="4335628" cy="548640"/>
          </a:xfrm>
          <a:prstGeom prst="rect">
            <a:avLst/>
          </a:prstGeom>
          <a:noFill/>
          <a:ln/>
        </p:spPr>
        <p:txBody>
          <a:bodyPr wrap="square" lIns="0" tIns="0" rIns="0" bIns="0" rtlCol="0" anchor="ctr"/>
          <a:lstStyle/>
          <a:p>
            <a:pPr indent="0" marL="0">
              <a:lnSpc>
                <a:spcPts val="1500"/>
              </a:lnSpc>
              <a:buNone/>
            </a:pPr>
            <a:r>
              <a:rPr lang="en-US" sz="1100" dirty="0">
                <a:solidFill>
                  <a:srgbClr val="C3D8EA"/>
                </a:solidFill>
                <a:latin typeface="Calibri" pitchFamily="34" charset="0"/>
                <a:ea typeface="Calibri" pitchFamily="34" charset="-122"/>
                <a:cs typeface="Calibri" pitchFamily="34" charset="-120"/>
              </a:rPr>
              <a:t>HistoryViewModel reads the 20 most recent rows back, and the case appears in History on the next visit.</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200" kern="0" dirty="0">
                <a:solidFill>
                  <a:srgbClr val="6FB3E8"/>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640080" y="603504"/>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this project demonstrates</a:t>
            </a:r>
            <a:endParaRPr lang="en-US" sz="3400" dirty="0"/>
          </a:p>
        </p:txBody>
      </p:sp>
      <p:sp>
        <p:nvSpPr>
          <p:cNvPr id="4" name="Text 2"/>
          <p:cNvSpPr txBox="1"/>
          <p:nvPr/>
        </p:nvSpPr>
        <p:spPr>
          <a:xfrm>
            <a:off x="640080" y="6382512"/>
            <a:ext cx="7315200" cy="256032"/>
          </a:xfrm>
          <a:prstGeom prst="rect">
            <a:avLst/>
          </a:prstGeom>
          <a:noFill/>
          <a:ln/>
        </p:spPr>
        <p:txBody>
          <a:bodyPr wrap="square" lIns="0" tIns="0" rIns="0" bIns="0" rtlCol="0" anchor="ctr"/>
          <a:lstStyle/>
          <a:p>
            <a:pPr algn="l" indent="0" marL="0">
              <a:buNone/>
            </a:pPr>
            <a:r>
              <a:rPr lang="en-US" sz="900" dirty="0">
                <a:solidFill>
                  <a:srgbClr val="6E8BA8"/>
                </a:solidFill>
                <a:latin typeface="Calibri" pitchFamily="34" charset="0"/>
                <a:ea typeface="Calibri" pitchFamily="34" charset="-122"/>
                <a:cs typeface="Calibri" pitchFamily="34" charset="-120"/>
              </a:rPr>
              <a:t>TDM Insight  ·  CDE2313  ·  Albukhary International University (AIU)</a:t>
            </a:r>
            <a:endParaRPr lang="en-US" sz="900" dirty="0"/>
          </a:p>
        </p:txBody>
      </p:sp>
      <p:sp>
        <p:nvSpPr>
          <p:cNvPr id="5" name="Text 3"/>
          <p:cNvSpPr txBox="1"/>
          <p:nvPr/>
        </p:nvSpPr>
        <p:spPr>
          <a:xfrm>
            <a:off x="10637215" y="6382512"/>
            <a:ext cx="914400" cy="256032"/>
          </a:xfrm>
          <a:prstGeom prst="rect">
            <a:avLst/>
          </a:prstGeom>
          <a:noFill/>
          <a:ln/>
        </p:spPr>
        <p:txBody>
          <a:bodyPr wrap="square" lIns="0" tIns="0" rIns="0" bIns="0" rtlCol="0" anchor="ctr"/>
          <a:lstStyle/>
          <a:p>
            <a:pPr algn="r" indent="0" marL="0">
              <a:buNone/>
            </a:pPr>
            <a:r>
              <a:rPr lang="en-US" sz="900" dirty="0">
                <a:solidFill>
                  <a:srgbClr val="6E8BA8"/>
                </a:solidFill>
                <a:latin typeface="Calibri" pitchFamily="34" charset="0"/>
                <a:ea typeface="Calibri" pitchFamily="34" charset="-122"/>
                <a:cs typeface="Calibri" pitchFamily="34" charset="-120"/>
              </a:rPr>
              <a:t>33</a:t>
            </a:r>
            <a:endParaRPr lang="en-US" sz="900" dirty="0"/>
          </a:p>
        </p:txBody>
      </p:sp>
      <p:sp>
        <p:nvSpPr>
          <p:cNvPr id="7" name="Shape 4"/>
          <p:cNvSpPr/>
          <p:nvPr/>
        </p:nvSpPr>
        <p:spPr>
          <a:xfrm>
            <a:off x="640080" y="1691640"/>
            <a:ext cx="5250028" cy="1325880"/>
          </a:xfrm>
          <a:prstGeom prst="roundRect">
            <a:avLst>
              <a:gd name="adj" fmla="val 6207"/>
            </a:avLst>
          </a:prstGeom>
          <a:solidFill>
            <a:srgbClr val="13304C"/>
          </a:solidFill>
          <a:ln w="12700">
            <a:solidFill>
              <a:srgbClr val="13304C"/>
            </a:solidFill>
            <a:prstDash val="solid"/>
          </a:ln>
        </p:spPr>
      </p:sp>
      <p:sp>
        <p:nvSpPr>
          <p:cNvPr id="8" name="Text 5"/>
          <p:cNvSpPr txBox="1"/>
          <p:nvPr/>
        </p:nvSpPr>
        <p:spPr>
          <a:xfrm>
            <a:off x="914400" y="1856232"/>
            <a:ext cx="4701388" cy="310896"/>
          </a:xfrm>
          <a:prstGeom prst="rect">
            <a:avLst/>
          </a:prstGeom>
          <a:noFill/>
          <a:ln/>
        </p:spPr>
        <p:txBody>
          <a:bodyPr wrap="square" lIns="0" tIns="0" rIns="0" bIns="0" rtlCol="0" anchor="ctr"/>
          <a:lstStyle/>
          <a:p>
            <a:pPr indent="0" marL="0">
              <a:buNone/>
            </a:pPr>
            <a:r>
              <a:rPr lang="en-US" sz="1900" b="1" dirty="0">
                <a:solidFill>
                  <a:srgbClr val="6FB3E8"/>
                </a:solidFill>
                <a:latin typeface="Cambria" pitchFamily="34" charset="0"/>
                <a:ea typeface="Cambria" pitchFamily="34" charset="-122"/>
                <a:cs typeface="Cambria" pitchFamily="34" charset="-120"/>
              </a:rPr>
              <a:t>Architecture</a:t>
            </a:r>
            <a:endParaRPr lang="en-US" sz="1900" dirty="0"/>
          </a:p>
        </p:txBody>
      </p:sp>
      <p:sp>
        <p:nvSpPr>
          <p:cNvPr id="9" name="Text 6"/>
          <p:cNvSpPr txBox="1"/>
          <p:nvPr/>
        </p:nvSpPr>
        <p:spPr>
          <a:xfrm>
            <a:off x="914400" y="2221992"/>
            <a:ext cx="4701388" cy="685800"/>
          </a:xfrm>
          <a:prstGeom prst="rect">
            <a:avLst/>
          </a:prstGeom>
          <a:noFill/>
          <a:ln/>
        </p:spPr>
        <p:txBody>
          <a:bodyPr wrap="square" lIns="0" tIns="0" rIns="0" bIns="0" rtlCol="0" anchor="ctr"/>
          <a:lstStyle/>
          <a:p>
            <a:pPr indent="0" marL="0">
              <a:lnSpc>
                <a:spcPts val="1700"/>
              </a:lnSpc>
              <a:buNone/>
            </a:pPr>
            <a:r>
              <a:rPr lang="en-US" sz="1200" dirty="0">
                <a:solidFill>
                  <a:srgbClr val="D2E2F0"/>
                </a:solidFill>
                <a:latin typeface="Calibri" pitchFamily="34" charset="0"/>
                <a:ea typeface="Calibri" pitchFamily="34" charset="-122"/>
                <a:cs typeface="Calibri" pitchFamily="34" charset="-120"/>
              </a:rPr>
              <a:t>A five-layer separation where the clinical logic has no dependency on Android, the UI or the network.</a:t>
            </a:r>
            <a:endParaRPr lang="en-US" sz="1200" dirty="0"/>
          </a:p>
        </p:txBody>
      </p:sp>
      <p:sp>
        <p:nvSpPr>
          <p:cNvPr id="10" name="Shape 7"/>
          <p:cNvSpPr/>
          <p:nvPr/>
        </p:nvSpPr>
        <p:spPr>
          <a:xfrm>
            <a:off x="6301588" y="1691640"/>
            <a:ext cx="5250028" cy="1325880"/>
          </a:xfrm>
          <a:prstGeom prst="roundRect">
            <a:avLst>
              <a:gd name="adj" fmla="val 6207"/>
            </a:avLst>
          </a:prstGeom>
          <a:solidFill>
            <a:srgbClr val="102A44"/>
          </a:solidFill>
          <a:ln w="12700">
            <a:solidFill>
              <a:srgbClr val="102A44"/>
            </a:solidFill>
            <a:prstDash val="solid"/>
          </a:ln>
        </p:spPr>
      </p:sp>
      <p:sp>
        <p:nvSpPr>
          <p:cNvPr id="11" name="Text 8"/>
          <p:cNvSpPr txBox="1"/>
          <p:nvPr/>
        </p:nvSpPr>
        <p:spPr>
          <a:xfrm>
            <a:off x="6575908" y="1856232"/>
            <a:ext cx="4701388" cy="310896"/>
          </a:xfrm>
          <a:prstGeom prst="rect">
            <a:avLst/>
          </a:prstGeom>
          <a:noFill/>
          <a:ln/>
        </p:spPr>
        <p:txBody>
          <a:bodyPr wrap="square" lIns="0" tIns="0" rIns="0" bIns="0" rtlCol="0" anchor="ctr"/>
          <a:lstStyle/>
          <a:p>
            <a:pPr indent="0" marL="0">
              <a:buNone/>
            </a:pPr>
            <a:r>
              <a:rPr lang="en-US" sz="1900" b="1" dirty="0">
                <a:solidFill>
                  <a:srgbClr val="6FB3E8"/>
                </a:solidFill>
                <a:latin typeface="Cambria" pitchFamily="34" charset="0"/>
                <a:ea typeface="Cambria" pitchFamily="34" charset="-122"/>
                <a:cs typeface="Cambria" pitchFamily="34" charset="-120"/>
              </a:rPr>
              <a:t>Modern Android</a:t>
            </a:r>
            <a:endParaRPr lang="en-US" sz="1900" dirty="0"/>
          </a:p>
        </p:txBody>
      </p:sp>
      <p:sp>
        <p:nvSpPr>
          <p:cNvPr id="12" name="Text 9"/>
          <p:cNvSpPr txBox="1"/>
          <p:nvPr/>
        </p:nvSpPr>
        <p:spPr>
          <a:xfrm>
            <a:off x="6575908" y="2221992"/>
            <a:ext cx="4701388" cy="685800"/>
          </a:xfrm>
          <a:prstGeom prst="rect">
            <a:avLst/>
          </a:prstGeom>
          <a:noFill/>
          <a:ln/>
        </p:spPr>
        <p:txBody>
          <a:bodyPr wrap="square" lIns="0" tIns="0" rIns="0" bIns="0" rtlCol="0" anchor="ctr"/>
          <a:lstStyle/>
          <a:p>
            <a:pPr indent="0" marL="0">
              <a:lnSpc>
                <a:spcPts val="1700"/>
              </a:lnSpc>
              <a:buNone/>
            </a:pPr>
            <a:r>
              <a:rPr lang="en-US" sz="1200" dirty="0">
                <a:solidFill>
                  <a:srgbClr val="D2E2F0"/>
                </a:solidFill>
                <a:latin typeface="Calibri" pitchFamily="34" charset="0"/>
                <a:ea typeface="Calibri" pitchFamily="34" charset="-122"/>
                <a:cs typeface="Calibri" pitchFamily="34" charset="-120"/>
              </a:rPr>
              <a:t>A single-activity, fully declarative Compose app with Material 3 theming and MVVM state management.</a:t>
            </a:r>
            <a:endParaRPr lang="en-US" sz="1200" dirty="0"/>
          </a:p>
        </p:txBody>
      </p:sp>
      <p:sp>
        <p:nvSpPr>
          <p:cNvPr id="13" name="Shape 10"/>
          <p:cNvSpPr/>
          <p:nvPr/>
        </p:nvSpPr>
        <p:spPr>
          <a:xfrm>
            <a:off x="640080" y="3200400"/>
            <a:ext cx="5250028" cy="1325880"/>
          </a:xfrm>
          <a:prstGeom prst="roundRect">
            <a:avLst>
              <a:gd name="adj" fmla="val 6207"/>
            </a:avLst>
          </a:prstGeom>
          <a:solidFill>
            <a:srgbClr val="102A44"/>
          </a:solidFill>
          <a:ln w="12700">
            <a:solidFill>
              <a:srgbClr val="102A44"/>
            </a:solidFill>
            <a:prstDash val="solid"/>
          </a:ln>
        </p:spPr>
      </p:sp>
      <p:sp>
        <p:nvSpPr>
          <p:cNvPr id="14" name="Text 11"/>
          <p:cNvSpPr txBox="1"/>
          <p:nvPr/>
        </p:nvSpPr>
        <p:spPr>
          <a:xfrm>
            <a:off x="914400" y="3364992"/>
            <a:ext cx="4701388" cy="310896"/>
          </a:xfrm>
          <a:prstGeom prst="rect">
            <a:avLst/>
          </a:prstGeom>
          <a:noFill/>
          <a:ln/>
        </p:spPr>
        <p:txBody>
          <a:bodyPr wrap="square" lIns="0" tIns="0" rIns="0" bIns="0" rtlCol="0" anchor="ctr"/>
          <a:lstStyle/>
          <a:p>
            <a:pPr indent="0" marL="0">
              <a:buNone/>
            </a:pPr>
            <a:r>
              <a:rPr lang="en-US" sz="1900" b="1" dirty="0">
                <a:solidFill>
                  <a:srgbClr val="6FB3E8"/>
                </a:solidFill>
                <a:latin typeface="Cambria" pitchFamily="34" charset="0"/>
                <a:ea typeface="Cambria" pitchFamily="34" charset="-122"/>
                <a:cs typeface="Cambria" pitchFamily="34" charset="-120"/>
              </a:rPr>
              <a:t>Kotlin depth</a:t>
            </a:r>
            <a:endParaRPr lang="en-US" sz="1900" dirty="0"/>
          </a:p>
        </p:txBody>
      </p:sp>
      <p:sp>
        <p:nvSpPr>
          <p:cNvPr id="15" name="Text 12"/>
          <p:cNvSpPr txBox="1"/>
          <p:nvPr/>
        </p:nvSpPr>
        <p:spPr>
          <a:xfrm>
            <a:off x="914400" y="3730752"/>
            <a:ext cx="4701388" cy="685800"/>
          </a:xfrm>
          <a:prstGeom prst="rect">
            <a:avLst/>
          </a:prstGeom>
          <a:noFill/>
          <a:ln/>
        </p:spPr>
        <p:txBody>
          <a:bodyPr wrap="square" lIns="0" tIns="0" rIns="0" bIns="0" rtlCol="0" anchor="ctr"/>
          <a:lstStyle/>
          <a:p>
            <a:pPr indent="0" marL="0">
              <a:lnSpc>
                <a:spcPts val="1700"/>
              </a:lnSpc>
              <a:buNone/>
            </a:pPr>
            <a:r>
              <a:rPr lang="en-US" sz="1200" dirty="0">
                <a:solidFill>
                  <a:srgbClr val="D2E2F0"/>
                </a:solidFill>
                <a:latin typeface="Calibri" pitchFamily="34" charset="0"/>
                <a:ea typeface="Calibri" pitchFamily="34" charset="-122"/>
                <a:cs typeface="Calibri" pitchFamily="34" charset="-120"/>
              </a:rPr>
              <a:t>Data classes, sealed classes, objects, null safety, coroutines and immutable state used for concrete reasons.</a:t>
            </a:r>
            <a:endParaRPr lang="en-US" sz="1200" dirty="0"/>
          </a:p>
        </p:txBody>
      </p:sp>
      <p:sp>
        <p:nvSpPr>
          <p:cNvPr id="16" name="Shape 13"/>
          <p:cNvSpPr/>
          <p:nvPr/>
        </p:nvSpPr>
        <p:spPr>
          <a:xfrm>
            <a:off x="6301588" y="3200400"/>
            <a:ext cx="5250028" cy="1325880"/>
          </a:xfrm>
          <a:prstGeom prst="roundRect">
            <a:avLst>
              <a:gd name="adj" fmla="val 6207"/>
            </a:avLst>
          </a:prstGeom>
          <a:solidFill>
            <a:srgbClr val="13304C"/>
          </a:solidFill>
          <a:ln w="12700">
            <a:solidFill>
              <a:srgbClr val="13304C"/>
            </a:solidFill>
            <a:prstDash val="solid"/>
          </a:ln>
        </p:spPr>
      </p:sp>
      <p:sp>
        <p:nvSpPr>
          <p:cNvPr id="17" name="Text 14"/>
          <p:cNvSpPr txBox="1"/>
          <p:nvPr/>
        </p:nvSpPr>
        <p:spPr>
          <a:xfrm>
            <a:off x="6575908" y="3364992"/>
            <a:ext cx="4701388" cy="310896"/>
          </a:xfrm>
          <a:prstGeom prst="rect">
            <a:avLst/>
          </a:prstGeom>
          <a:noFill/>
          <a:ln/>
        </p:spPr>
        <p:txBody>
          <a:bodyPr wrap="square" lIns="0" tIns="0" rIns="0" bIns="0" rtlCol="0" anchor="ctr"/>
          <a:lstStyle/>
          <a:p>
            <a:pPr indent="0" marL="0">
              <a:buNone/>
            </a:pPr>
            <a:r>
              <a:rPr lang="en-US" sz="1900" b="1" dirty="0">
                <a:solidFill>
                  <a:srgbClr val="6FB3E8"/>
                </a:solidFill>
                <a:latin typeface="Cambria" pitchFamily="34" charset="0"/>
                <a:ea typeface="Cambria" pitchFamily="34" charset="-122"/>
                <a:cs typeface="Cambria" pitchFamily="34" charset="-120"/>
              </a:rPr>
              <a:t>Real integration</a:t>
            </a:r>
            <a:endParaRPr lang="en-US" sz="1900" dirty="0"/>
          </a:p>
        </p:txBody>
      </p:sp>
      <p:sp>
        <p:nvSpPr>
          <p:cNvPr id="18" name="Text 15"/>
          <p:cNvSpPr txBox="1"/>
          <p:nvPr/>
        </p:nvSpPr>
        <p:spPr>
          <a:xfrm>
            <a:off x="6575908" y="3730752"/>
            <a:ext cx="4701388" cy="685800"/>
          </a:xfrm>
          <a:prstGeom prst="rect">
            <a:avLst/>
          </a:prstGeom>
          <a:noFill/>
          <a:ln/>
        </p:spPr>
        <p:txBody>
          <a:bodyPr wrap="square" lIns="0" tIns="0" rIns="0" bIns="0" rtlCol="0" anchor="ctr"/>
          <a:lstStyle/>
          <a:p>
            <a:pPr indent="0" marL="0">
              <a:lnSpc>
                <a:spcPts val="1700"/>
              </a:lnSpc>
              <a:buNone/>
            </a:pPr>
            <a:r>
              <a:rPr lang="en-US" sz="1200" dirty="0">
                <a:solidFill>
                  <a:srgbClr val="D2E2F0"/>
                </a:solidFill>
                <a:latin typeface="Calibri" pitchFamily="34" charset="0"/>
                <a:ea typeface="Calibri" pitchFamily="34" charset="-122"/>
                <a:cs typeface="Calibri" pitchFamily="34" charset="-120"/>
              </a:rPr>
              <a:t>A live PostgreSQL backend and a production identity provider, wired safely through build-time configuration.</a:t>
            </a:r>
            <a:endParaRPr lang="en-US" sz="1200" dirty="0"/>
          </a:p>
        </p:txBody>
      </p:sp>
      <p:sp>
        <p:nvSpPr>
          <p:cNvPr id="19" name="Shape 16"/>
          <p:cNvSpPr/>
          <p:nvPr/>
        </p:nvSpPr>
        <p:spPr>
          <a:xfrm>
            <a:off x="640080" y="4800600"/>
            <a:ext cx="10911535" cy="1234440"/>
          </a:xfrm>
          <a:prstGeom prst="roundRect">
            <a:avLst>
              <a:gd name="adj" fmla="val 6667"/>
            </a:avLst>
          </a:prstGeom>
          <a:solidFill>
            <a:srgbClr val="0F4A4A"/>
          </a:solidFill>
          <a:ln w="12700">
            <a:solidFill>
              <a:srgbClr val="0F4A4A"/>
            </a:solidFill>
            <a:prstDash val="solid"/>
          </a:ln>
        </p:spPr>
      </p:sp>
      <p:sp>
        <p:nvSpPr>
          <p:cNvPr id="20" name="Text 17"/>
          <p:cNvSpPr txBox="1"/>
          <p:nvPr/>
        </p:nvSpPr>
        <p:spPr>
          <a:xfrm>
            <a:off x="1005840" y="4956048"/>
            <a:ext cx="6400800" cy="38404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 — questions welcome</a:t>
            </a:r>
            <a:endParaRPr lang="en-US" sz="2400" dirty="0"/>
          </a:p>
        </p:txBody>
      </p:sp>
      <p:sp>
        <p:nvSpPr>
          <p:cNvPr id="21" name="Text 18"/>
          <p:cNvSpPr txBox="1"/>
          <p:nvPr/>
        </p:nvSpPr>
        <p:spPr>
          <a:xfrm>
            <a:off x="1005840" y="5394960"/>
            <a:ext cx="10180015" cy="292608"/>
          </a:xfrm>
          <a:prstGeom prst="rect">
            <a:avLst/>
          </a:prstGeom>
          <a:noFill/>
          <a:ln/>
        </p:spPr>
        <p:txBody>
          <a:bodyPr wrap="square" lIns="0" tIns="0" rIns="0" bIns="0" rtlCol="0" anchor="ctr"/>
          <a:lstStyle/>
          <a:p>
            <a:pPr indent="0" marL="0">
              <a:buNone/>
            </a:pPr>
            <a:r>
              <a:rPr lang="en-US" sz="1250" dirty="0">
                <a:solidFill>
                  <a:srgbClr val="BEE3DD"/>
                </a:solidFill>
                <a:latin typeface="Calibri" pitchFamily="34" charset="0"/>
                <a:ea typeface="Calibri" pitchFamily="34" charset="-122"/>
                <a:cs typeface="Calibri" pitchFamily="34" charset="-120"/>
              </a:rPr>
              <a:t>Mowlid Haibe  ·  Abdinaazir Mustafe  ·  Elham Ahmedngus     |     Supervisor: Ts. Mohd Zulkifli Mohd Zaki</a:t>
            </a:r>
            <a:endParaRPr lang="en-US" sz="1250" dirty="0"/>
          </a:p>
        </p:txBody>
      </p:sp>
      <p:sp>
        <p:nvSpPr>
          <p:cNvPr id="22" name="Text 19"/>
          <p:cNvSpPr txBox="1"/>
          <p:nvPr/>
        </p:nvSpPr>
        <p:spPr>
          <a:xfrm>
            <a:off x="1005840" y="5669280"/>
            <a:ext cx="10180015" cy="292608"/>
          </a:xfrm>
          <a:prstGeom prst="rect">
            <a:avLst/>
          </a:prstGeom>
          <a:noFill/>
          <a:ln/>
        </p:spPr>
        <p:txBody>
          <a:bodyPr wrap="square" lIns="0" tIns="0" rIns="0" bIns="0" rtlCol="0" anchor="ctr"/>
          <a:lstStyle/>
          <a:p>
            <a:pPr indent="0" marL="0">
              <a:buNone/>
            </a:pPr>
            <a:r>
              <a:rPr lang="en-US" sz="1150" dirty="0">
                <a:solidFill>
                  <a:srgbClr val="8FC9C1"/>
                </a:solidFill>
                <a:latin typeface="Calibri" pitchFamily="34" charset="0"/>
                <a:ea typeface="Calibri" pitchFamily="34" charset="-122"/>
                <a:cs typeface="Calibri" pitchFamily="34" charset="-120"/>
              </a:rPr>
              <a:t>Albukhary International University (AIU)  ·  Faculty of Computer Science &amp; Information Technology  ·  CDE2313</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Albukhary International University (AIU)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TDM Insight — Technical Presentation</dc:title>
  <dc:subject>PptxGenJS Presentation</dc:subject>
  <dc:creator>Mowlid Haibe</dc:creator>
  <cp:lastModifiedBy>Mowlid Haibe</cp:lastModifiedBy>
  <cp:revision>1</cp:revision>
  <dcterms:created xsi:type="dcterms:W3CDTF">2026-09-06T09:02:50Z</dcterms:created>
  <dcterms:modified xsi:type="dcterms:W3CDTF">2026-09-06T09:02:50Z</dcterms:modified>
</cp:coreProperties>
</file>